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'I built a tool that values a house in about a second, tells you how much to trust the number, and writes the reasoning in plain English. I will show you the tool at the end. First, what it is for and why the number is defensible.'
The three figures at the foot are the whole argument in advance: accuracy, what that means in money, and the size of the evidence.
Timing target: 14 minutes, leaving time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Lean on the insurance background: this is the underwriting problem — pricing an asset you cannot inspect, from the characteristics you can observe, and knowing how wrong you are likely to be.
Do not oversell. The claim is a screening tool, not a replacement for an appraiser.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you delete 49 rows?' — a price of 0 or a living area of 0 is impossible, not extreme. 1.1% of the data, nothing to impute. Everything else was kept, including the expensive tail.
If they ask about the JSON: NaN is not valid JSON, so the file had to be repaired before any parser would read it; 'rooms' listed bedrooms and bathrooms in inconsistent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log-transform the price?' — (1) the error that matters is proportional, not absolute; (2) squared error on raw prices lets a handful of expensive houses dominate the fit; (3) it makes the size-price relationship roughly linear.
On the back-transform: expm1 of a mean in log space predicts the median, not the mean. Duan's smearing estimator made both bias and median error worse, so the notebook reports the plain back-transform and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Zip codes with fewer than 30 sales are excluded from the extremes here: with all 77 the spread looks like 4.2x, but the ends are thin cells. 3.2x is the defensible number and it is the one used everywhere in this deck.
How zip is encoded, if asked: each zip is replaced by its smoothed mean price, credibility-weighted with Z = n/(n+20) — the same formula used in actuarial ratemaking against thin cells — computed out-of-fold so a row's own price never contributes to its own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k = 4?' — the elbow in inertia and the peak of the silhouette curve both pointed at 4, and 4 gave segments a person could name. Silhouette is 0.255, which is weak: these are regions of a continuum, not four species of house. Say that before anyone else does.
If they press on the 98.7%: agree it is suspicious, then explain why it is not leakage. The blind experiment (0.818 accuracy, 0.702 macro-F1) is in notebook 07.
Premium View Property is 8% of the market and — slide 15 — the segment the model handles worst.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if asked: a log-price regression on the structural features with city dummies, R² = 0.78. The city dummies are what makes this 'holding location constant' — without them every coefficient is really measuring where the house is.
Say the caveat out loud: this is association, not causation. 'A bathroom is worth $40,432' means homes with more bathrooms sell for more, all else equal. It does not guarantee that building one returns $40,432 — that needs renovation cost data, which this dataset does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shows analytical judgement rather than tool use. A confounder found, quantified, and corrected — and the correction halves a number a business would otherwise have budgeted against.
If asked how the like-for-like was done: within each zip code with at least 5 renovated and 5 unrenovated sales, compare median price per square foot. 16 zips qualified. The median of those 16 differences is +10%, and 6 of the 16 are negative — which is itself worth saying, because it means renovation is not reliably positive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sentence to say: 'On a portfolio of 200 properties, the difference between this model and a zip-code price-per-sqft valuation benchmark is about $3.7m of valuation error — and it takes a minute to run.'
Be careful with that framing under questioning: it is error, not profit. The value is in better decisions — which properties to visit, which to bid on, what range to quote — not in the arithmetic itself.
Cost: the app runs on a free tier. Time: about a second per 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where the examiners find out whether the modelling served a decision.
One concrete example: a team with 200 listings runs them all through the app in a minute, quotes a range rather than a number, and sends a valuer only to the 30 the model is least sure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MedAPE, not R², is the headline, and it was chosen before the models were run: a median percentage error is what a client experiences. R² on logged prices makes 0.827 and 0.863 sound close when the median error behind them differs by two full points — $10,000 on a $500,000 house.
Tuning: three 12-combination grid searches, 60 fits each, cross-validated inside the training set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the project from a leaderboard exercise, and the honesty is the point. Do not say 'slightly better'; say 'not distinguishable'.
Every number on this slide comes from notebook 09, section 8 — the same run that produced the comparison table on the previous slide, so the two slides cannot disagree. One more detail if asked: gradient boosting has the smaller error on only 47% of individual houses, which is one more sign of a tie, not a hidden loss.
Both comparisons are paired — the same 869 houses, both models — with a Wilcoxon signed-rank test and a 2,000-sample bootstrap on the difference in median error.
If an examiner opens model_comparison.csv and finds XGBoost ahead on R², you have already said it. That is the whole reason it is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IAAO = International Association of Assessing Officers; this is their Standard on Ratio Studies. Name the source out loud — it shows the criterion is a published valuation benchmark, not one I invented.
Be honest that COD 14.6 and PRD 1.030 sit near the edges of their bands, not comfortably inside. The next slide but one explains why PRD is strained: the top decile.
If pressed on the final choice: gradient boosting is in scikit-learn, so deployment needs no extra package; XGBoost would add one for a difference the test set cannot detect. That is an engineering reason, and I would rather give an engineering reason than pretend the data chose.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10-15% error good enough for a real business?' — quote both the median (10.5%) and the mean (14.6%); the mean is dragged by the tail and hiding that would be dishonest.
The answer: not for a mortgage valuation, where a lender needs an appraisal. Yes for screening, portfolio triage, and giving a seller a starting range in seconds.
Source for the Zillow figures: https://www.zillow.com/how-much-is-my-home-worth/ — Zillow's own published nationwide median error rates (1.83% on-market, 7.01% off-market), checked 24 September 2026. Zillow updates these figures, so quote the date you checked them. They describe the whole US market today, not King County in 2014: context for the number, not a like-for-like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this slide; do not wait to be asked. The fix in production is not a better booster: it is a separate model for the top decile, or a linear model in the tail where extrapolation is possible.
Also honest: deciles 2-4 are marginally better under Ridge than under the booster. The winner is not better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change came out of reviewing my own notebook: the range was a single global band even though the error is demonstrably segment-dependent. Saying 'I found this in my own work and fixed it' is worth more than any result on these slides.
If asked why not a per-house interval: with 869 test rows, a per-segment band is about as fine as the data supports. Quantile regression or conformal prediction would give a per-house interval and is the obvious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APP HERE. Ninety seconds: fill the form, press the button, point at the range and say which segment it is based on, point at the biggest driver, then open 'Test it on real sales' and show predictions against true sale prices.
If a five-house draw looks bad, that is the tab working. Say 'five houses is a sample of five; the test-set figure of 10.5% is the one to quote' and move on.
If the network is dead: the recording, then the local copy — neither needs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whether it hallucinates: it can, which is why the output is parsed for numbers and the whole answer rejected if any figure was not in the evidence — with a 2% tolerance so rounding is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these first makes you look strong, not weak. An examiner who has to extract a limitation from you has found a weakness; one who hears it volunteered has found a professional.
The right-hand column is the ask: if this were funded, coordinates and building grade are where the next pound goes, because location is already 46% of the model on a coarse proxy.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QR points at the live app. Leave this slide up during questions - anyone in the room can open the tool on their own phone while you answer.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210"/>
        </a:solidFill>
      </p:bgPr>
    </p:bg>
    <p:spTree>
      <p:nvGrpSpPr>
        <p:cNvPr id="1" name=""/>
        <p:cNvGrpSpPr/>
        <p:nvPr/>
      </p:nvGrpSpPr>
      <p:grpSpPr>
        <a:xfrm>
          <a:off x="0" y="0"/>
          <a:ext cx="0" cy="0"/>
          <a:chOff x="0" y="0"/>
          <a:chExt cx="0" cy="0"/>
        </a:xfrm>
      </p:grpSpPr>
      <p:sp>
        <p:nvSpPr>
          <p:cNvPr id="2" name="Shape 0"/>
          <p:cNvSpPr/>
          <p:nvPr/>
        </p:nvSpPr>
        <p:spPr>
          <a:xfrm>
            <a:off x="-54864" y="-54864"/>
            <a:ext cx="12298680" cy="6967728"/>
          </a:xfrm>
          <a:prstGeom prst="rect">
            <a:avLst/>
          </a:prstGeom>
          <a:solidFill>
            <a:srgbClr val="141210"/>
          </a:solidFill>
          <a:ln w="12700">
            <a:solidFill>
              <a:srgbClr val="141210"/>
            </a:solidFill>
            <a:prstDash val="solid"/>
          </a:ln>
        </p:spPr>
      </p:sp>
      <p:sp>
        <p:nvSpPr>
          <p:cNvPr id="3" name="Shape 1"/>
          <p:cNvSpPr/>
          <p:nvPr/>
        </p:nvSpPr>
        <p:spPr>
          <a:xfrm>
            <a:off x="0" y="0"/>
            <a:ext cx="146304" cy="6858000"/>
          </a:xfrm>
          <a:prstGeom prst="rect">
            <a:avLst/>
          </a:prstGeom>
          <a:solidFill>
            <a:srgbClr val="C07214"/>
          </a:solidFill>
          <a:ln w="12700">
            <a:solidFill>
              <a:srgbClr val="C07214"/>
            </a:solidFill>
            <a:prstDash val="solid"/>
          </a:ln>
        </p:spPr>
      </p:sp>
      <p:sp>
        <p:nvSpPr>
          <p:cNvPr id="4" name="Text 2"/>
          <p:cNvSpPr/>
          <p:nvPr/>
        </p:nvSpPr>
        <p:spPr>
          <a:xfrm>
            <a:off x="749808" y="1371600"/>
            <a:ext cx="9509760" cy="274320"/>
          </a:xfrm>
          <a:prstGeom prst="rect">
            <a:avLst/>
          </a:prstGeom>
          <a:noFill/>
          <a:ln/>
        </p:spPr>
        <p:txBody>
          <a:bodyPr wrap="square" lIns="0" tIns="0" rIns="0" bIns="0" rtlCol="0" anchor="ctr"/>
          <a:lstStyle/>
          <a:p>
            <a:pPr indent="0" marL="0">
              <a:buNone/>
            </a:pPr>
            <a:r>
              <a:rPr lang="en-US" sz="1150" b="1" spc="240" kern="0" dirty="0">
                <a:solidFill>
                  <a:srgbClr val="E8B361"/>
                </a:solidFill>
                <a:latin typeface="Calibri" pitchFamily="34" charset="0"/>
                <a:ea typeface="Calibri" pitchFamily="34" charset="-122"/>
                <a:cs typeface="Calibri" pitchFamily="34" charset="-120"/>
              </a:rPr>
              <a:t>GRADUATION PROJECT  ·  DATA SCIENCE</a:t>
            </a:r>
            <a:endParaRPr lang="en-US" sz="1150" dirty="0"/>
          </a:p>
        </p:txBody>
      </p:sp>
      <p:sp>
        <p:nvSpPr>
          <p:cNvPr id="5" name="Text 3"/>
          <p:cNvSpPr/>
          <p:nvPr/>
        </p:nvSpPr>
        <p:spPr>
          <a:xfrm>
            <a:off x="749808" y="1783080"/>
            <a:ext cx="9509760" cy="1920240"/>
          </a:xfrm>
          <a:prstGeom prst="rect">
            <a:avLst/>
          </a:prstGeom>
          <a:noFill/>
          <a:ln/>
        </p:spPr>
        <p:txBody>
          <a:bodyPr wrap="square" lIns="0" tIns="0" rIns="0" bIns="0" rtlCol="0" anchor="ctr"/>
          <a:lstStyle/>
          <a:p>
            <a:pPr indent="0" marL="0">
              <a:lnSpc>
                <a:spcPct val="95000"/>
              </a:lnSpc>
              <a:buNone/>
            </a:pPr>
            <a:r>
              <a:rPr lang="en-US" sz="5400" b="1" dirty="0">
                <a:solidFill>
                  <a:srgbClr val="FFFFFF"/>
                </a:solidFill>
                <a:latin typeface="Cambria" pitchFamily="34" charset="0"/>
                <a:ea typeface="Cambria" pitchFamily="34" charset="-122"/>
                <a:cs typeface="Cambria" pitchFamily="34" charset="-120"/>
              </a:rPr>
              <a:t>The Real Estate</a:t>
            </a:r>
            <a:endParaRPr lang="en-US" sz="5400" dirty="0"/>
          </a:p>
          <a:p>
            <a:pPr indent="0" marL="0">
              <a:lnSpc>
                <a:spcPct val="95000"/>
              </a:lnSpc>
              <a:buNone/>
            </a:pPr>
            <a:r>
              <a:rPr lang="en-US" sz="5400" b="1" dirty="0">
                <a:solidFill>
                  <a:srgbClr val="FFFFFF"/>
                </a:solidFill>
                <a:latin typeface="Cambria" pitchFamily="34" charset="0"/>
                <a:ea typeface="Cambria" pitchFamily="34" charset="-122"/>
                <a:cs typeface="Cambria" pitchFamily="34" charset="-120"/>
              </a:rPr>
              <a:t>Machine</a:t>
            </a:r>
            <a:endParaRPr lang="en-US" sz="5400" dirty="0"/>
          </a:p>
        </p:txBody>
      </p:sp>
      <p:sp>
        <p:nvSpPr>
          <p:cNvPr id="6" name="Text 4"/>
          <p:cNvSpPr/>
          <p:nvPr/>
        </p:nvSpPr>
        <p:spPr>
          <a:xfrm>
            <a:off x="749808" y="3794760"/>
            <a:ext cx="9692640" cy="457200"/>
          </a:xfrm>
          <a:prstGeom prst="rect">
            <a:avLst/>
          </a:prstGeom>
          <a:noFill/>
          <a:ln/>
        </p:spPr>
        <p:txBody>
          <a:bodyPr wrap="square" lIns="0" tIns="0" rIns="0" bIns="0" rtlCol="0" anchor="ctr"/>
          <a:lstStyle/>
          <a:p>
            <a:pPr indent="0" marL="0">
              <a:buNone/>
            </a:pPr>
            <a:r>
              <a:rPr lang="en-US" sz="1800" dirty="0">
                <a:solidFill>
                  <a:srgbClr val="D9D2C6"/>
                </a:solidFill>
                <a:latin typeface="Calibri" pitchFamily="34" charset="0"/>
                <a:ea typeface="Calibri" pitchFamily="34" charset="-122"/>
                <a:cs typeface="Calibri" pitchFamily="34" charset="-120"/>
              </a:rPr>
              <a:t>Values a house in a second, to within 10.5% — and says how much to trust the number</a:t>
            </a:r>
            <a:endParaRPr lang="en-US" sz="1800" dirty="0"/>
          </a:p>
        </p:txBody>
      </p:sp>
      <p:sp>
        <p:nvSpPr>
          <p:cNvPr id="7" name="Text 5"/>
          <p:cNvSpPr/>
          <p:nvPr/>
        </p:nvSpPr>
        <p:spPr>
          <a:xfrm>
            <a:off x="749808" y="4828032"/>
            <a:ext cx="3200400" cy="566928"/>
          </a:xfrm>
          <a:prstGeom prst="rect">
            <a:avLst/>
          </a:prstGeom>
          <a:noFill/>
          <a:ln/>
        </p:spPr>
        <p:txBody>
          <a:bodyPr wrap="square" lIns="0" tIns="0" rIns="0" bIns="0" rtlCol="0" anchor="ctr"/>
          <a:lstStyle/>
          <a:p>
            <a:pPr indent="0" marL="0">
              <a:buNone/>
            </a:pPr>
            <a:r>
              <a:rPr lang="en-US" sz="3000" b="1" dirty="0">
                <a:solidFill>
                  <a:srgbClr val="E8B361"/>
                </a:solidFill>
                <a:latin typeface="Cambria" pitchFamily="34" charset="0"/>
                <a:ea typeface="Cambria" pitchFamily="34" charset="-122"/>
                <a:cs typeface="Cambria" pitchFamily="34" charset="-120"/>
              </a:rPr>
              <a:t>10.5%</a:t>
            </a:r>
            <a:endParaRPr lang="en-US" sz="3000" dirty="0"/>
          </a:p>
        </p:txBody>
      </p:sp>
      <p:sp>
        <p:nvSpPr>
          <p:cNvPr id="8" name="Text 6"/>
          <p:cNvSpPr/>
          <p:nvPr/>
        </p:nvSpPr>
        <p:spPr>
          <a:xfrm>
            <a:off x="749808" y="5413248"/>
            <a:ext cx="3200400" cy="566928"/>
          </a:xfrm>
          <a:prstGeom prst="rect">
            <a:avLst/>
          </a:prstGeom>
          <a:noFill/>
          <a:ln/>
        </p:spPr>
        <p:txBody>
          <a:bodyPr wrap="square" lIns="0" tIns="0" rIns="0" bIns="0" rtlCol="0" anchor="t"/>
          <a:lstStyle/>
          <a:p>
            <a:pPr indent="0" marL="0">
              <a:buNone/>
            </a:pPr>
            <a:r>
              <a:rPr lang="en-US" sz="1200" dirty="0">
                <a:solidFill>
                  <a:srgbClr val="D9D2C6"/>
                </a:solidFill>
                <a:latin typeface="Calibri" pitchFamily="34" charset="0"/>
                <a:ea typeface="Calibri" pitchFamily="34" charset="-122"/>
                <a:cs typeface="Calibri" pitchFamily="34" charset="-120"/>
              </a:rPr>
              <a:t>typical error on houses</a:t>
            </a:r>
            <a:endParaRPr lang="en-US" sz="1200" dirty="0"/>
          </a:p>
          <a:p>
            <a:pPr indent="0" marL="0">
              <a:buNone/>
            </a:pPr>
            <a:r>
              <a:rPr lang="en-US" sz="1200" dirty="0">
                <a:solidFill>
                  <a:srgbClr val="D9D2C6"/>
                </a:solidFill>
                <a:latin typeface="Calibri" pitchFamily="34" charset="0"/>
                <a:ea typeface="Calibri" pitchFamily="34" charset="-122"/>
                <a:cs typeface="Calibri" pitchFamily="34" charset="-120"/>
              </a:rPr>
              <a:t>it had never seen</a:t>
            </a:r>
            <a:endParaRPr lang="en-US" sz="1200" dirty="0"/>
          </a:p>
        </p:txBody>
      </p:sp>
      <p:sp>
        <p:nvSpPr>
          <p:cNvPr id="9" name="Text 7"/>
          <p:cNvSpPr/>
          <p:nvPr/>
        </p:nvSpPr>
        <p:spPr>
          <a:xfrm>
            <a:off x="4334256" y="4828032"/>
            <a:ext cx="3200400" cy="566928"/>
          </a:xfrm>
          <a:prstGeom prst="rect">
            <a:avLst/>
          </a:prstGeom>
          <a:noFill/>
          <a:ln/>
        </p:spPr>
        <p:txBody>
          <a:bodyPr wrap="square" lIns="0" tIns="0" rIns="0" bIns="0" rtlCol="0" anchor="ctr"/>
          <a:lstStyle/>
          <a:p>
            <a:pPr indent="0" marL="0">
              <a:buNone/>
            </a:pPr>
            <a:r>
              <a:rPr lang="en-US" sz="3000" b="1" dirty="0">
                <a:solidFill>
                  <a:srgbClr val="E8B361"/>
                </a:solidFill>
                <a:latin typeface="Cambria" pitchFamily="34" charset="0"/>
                <a:ea typeface="Cambria" pitchFamily="34" charset="-122"/>
                <a:cs typeface="Cambria" pitchFamily="34" charset="-120"/>
              </a:rPr>
              <a:t>$49,585</a:t>
            </a:r>
            <a:endParaRPr lang="en-US" sz="3000" dirty="0"/>
          </a:p>
        </p:txBody>
      </p:sp>
      <p:sp>
        <p:nvSpPr>
          <p:cNvPr id="10" name="Text 8"/>
          <p:cNvSpPr/>
          <p:nvPr/>
        </p:nvSpPr>
        <p:spPr>
          <a:xfrm>
            <a:off x="4334256" y="5413248"/>
            <a:ext cx="3200400" cy="566928"/>
          </a:xfrm>
          <a:prstGeom prst="rect">
            <a:avLst/>
          </a:prstGeom>
          <a:noFill/>
          <a:ln/>
        </p:spPr>
        <p:txBody>
          <a:bodyPr wrap="square" lIns="0" tIns="0" rIns="0" bIns="0" rtlCol="0" anchor="t"/>
          <a:lstStyle/>
          <a:p>
            <a:pPr indent="0" marL="0">
              <a:buNone/>
            </a:pPr>
            <a:r>
              <a:rPr lang="en-US" sz="1200" dirty="0">
                <a:solidFill>
                  <a:srgbClr val="D9D2C6"/>
                </a:solidFill>
                <a:latin typeface="Calibri" pitchFamily="34" charset="0"/>
                <a:ea typeface="Calibri" pitchFamily="34" charset="-122"/>
                <a:cs typeface="Calibri" pitchFamily="34" charset="-120"/>
              </a:rPr>
              <a:t>half of valuations land</a:t>
            </a:r>
            <a:endParaRPr lang="en-US" sz="1200" dirty="0"/>
          </a:p>
          <a:p>
            <a:pPr indent="0" marL="0">
              <a:buNone/>
            </a:pPr>
            <a:r>
              <a:rPr lang="en-US" sz="1200" dirty="0">
                <a:solidFill>
                  <a:srgbClr val="D9D2C6"/>
                </a:solidFill>
                <a:latin typeface="Calibri" pitchFamily="34" charset="0"/>
                <a:ea typeface="Calibri" pitchFamily="34" charset="-122"/>
                <a:cs typeface="Calibri" pitchFamily="34" charset="-120"/>
              </a:rPr>
              <a:t>within this of the sale price</a:t>
            </a:r>
            <a:endParaRPr lang="en-US" sz="1200" dirty="0"/>
          </a:p>
        </p:txBody>
      </p:sp>
      <p:sp>
        <p:nvSpPr>
          <p:cNvPr id="11" name="Text 9"/>
          <p:cNvSpPr/>
          <p:nvPr/>
        </p:nvSpPr>
        <p:spPr>
          <a:xfrm>
            <a:off x="7918704" y="4828032"/>
            <a:ext cx="3200400" cy="566928"/>
          </a:xfrm>
          <a:prstGeom prst="rect">
            <a:avLst/>
          </a:prstGeom>
          <a:noFill/>
          <a:ln/>
        </p:spPr>
        <p:txBody>
          <a:bodyPr wrap="square" lIns="0" tIns="0" rIns="0" bIns="0" rtlCol="0" anchor="ctr"/>
          <a:lstStyle/>
          <a:p>
            <a:pPr indent="0" marL="0">
              <a:buNone/>
            </a:pPr>
            <a:r>
              <a:rPr lang="en-US" sz="3000" b="1" dirty="0">
                <a:solidFill>
                  <a:srgbClr val="E8B361"/>
                </a:solidFill>
                <a:latin typeface="Cambria" pitchFamily="34" charset="0"/>
                <a:ea typeface="Cambria" pitchFamily="34" charset="-122"/>
                <a:cs typeface="Cambria" pitchFamily="34" charset="-120"/>
              </a:rPr>
              <a:t>4,345</a:t>
            </a:r>
            <a:endParaRPr lang="en-US" sz="3000" dirty="0"/>
          </a:p>
        </p:txBody>
      </p:sp>
      <p:sp>
        <p:nvSpPr>
          <p:cNvPr id="12" name="Text 10"/>
          <p:cNvSpPr/>
          <p:nvPr/>
        </p:nvSpPr>
        <p:spPr>
          <a:xfrm>
            <a:off x="7918704" y="5413248"/>
            <a:ext cx="3200400" cy="566928"/>
          </a:xfrm>
          <a:prstGeom prst="rect">
            <a:avLst/>
          </a:prstGeom>
          <a:noFill/>
          <a:ln/>
        </p:spPr>
        <p:txBody>
          <a:bodyPr wrap="square" lIns="0" tIns="0" rIns="0" bIns="0" rtlCol="0" anchor="t"/>
          <a:lstStyle/>
          <a:p>
            <a:pPr indent="0" marL="0">
              <a:buNone/>
            </a:pPr>
            <a:r>
              <a:rPr lang="en-US" sz="1200" dirty="0">
                <a:solidFill>
                  <a:srgbClr val="D9D2C6"/>
                </a:solidFill>
                <a:latin typeface="Calibri" pitchFamily="34" charset="0"/>
                <a:ea typeface="Calibri" pitchFamily="34" charset="-122"/>
                <a:cs typeface="Calibri" pitchFamily="34" charset="-120"/>
              </a:rPr>
              <a:t>verified sales, cleaned</a:t>
            </a:r>
            <a:endParaRPr lang="en-US" sz="1200" dirty="0"/>
          </a:p>
          <a:p>
            <a:pPr indent="0" marL="0">
              <a:buNone/>
            </a:pPr>
            <a:r>
              <a:rPr lang="en-US" sz="1200" dirty="0">
                <a:solidFill>
                  <a:srgbClr val="D9D2C6"/>
                </a:solidFill>
                <a:latin typeface="Calibri" pitchFamily="34" charset="0"/>
                <a:ea typeface="Calibri" pitchFamily="34" charset="-122"/>
                <a:cs typeface="Calibri" pitchFamily="34" charset="-120"/>
              </a:rPr>
              <a:t>and parsed from raw JSON</a:t>
            </a:r>
            <a:endParaRPr lang="en-US" sz="1200" dirty="0"/>
          </a:p>
        </p:txBody>
      </p:sp>
      <p:sp>
        <p:nvSpPr>
          <p:cNvPr id="13" name="Text 11"/>
          <p:cNvSpPr/>
          <p:nvPr/>
        </p:nvSpPr>
        <p:spPr>
          <a:xfrm>
            <a:off x="749808" y="6236208"/>
            <a:ext cx="10058400" cy="320040"/>
          </a:xfrm>
          <a:prstGeom prst="rect">
            <a:avLst/>
          </a:prstGeom>
          <a:noFill/>
          <a:ln/>
        </p:spPr>
        <p:txBody>
          <a:bodyPr wrap="square" lIns="0" tIns="0" rIns="0" bIns="0" rtlCol="0" anchor="ctr"/>
          <a:lstStyle/>
          <a:p>
            <a:pPr indent="0" marL="0">
              <a:buNone/>
            </a:pPr>
            <a:r>
              <a:rPr lang="en-US" sz="1300" dirty="0">
                <a:solidFill>
                  <a:srgbClr val="9C948A"/>
                </a:solidFill>
                <a:latin typeface="Calibri" pitchFamily="34" charset="0"/>
                <a:ea typeface="Calibri" pitchFamily="34" charset="-122"/>
                <a:cs typeface="Calibri" pitchFamily="34" charset="-120"/>
              </a:rPr>
              <a:t>Esraa Maamoun   ·   App: EstateIQ — AI-Assisted Real Estate Valuation &amp; Decision Support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566928" y="420624"/>
            <a:ext cx="8229600" cy="237744"/>
          </a:xfrm>
          <a:prstGeom prst="rect">
            <a:avLst/>
          </a:prstGeom>
          <a:noFill/>
          <a:ln/>
        </p:spPr>
        <p:txBody>
          <a:bodyPr wrap="square" lIns="0" tIns="0" rIns="0" bIns="0" rtlCol="0" anchor="ctr"/>
          <a:lstStyle/>
          <a:p>
            <a:pPr indent="0" marL="0">
              <a:buNone/>
            </a:pPr>
            <a:r>
              <a:rPr lang="en-US" sz="1100" b="1" spc="220" kern="0" dirty="0">
                <a:solidFill>
                  <a:srgbClr val="C07214"/>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A valuation is a decision, and a wrong one costs money</a:t>
            </a:r>
            <a:endParaRPr lang="en-US" sz="3000" dirty="0"/>
          </a:p>
        </p:txBody>
      </p:sp>
      <p:sp>
        <p:nvSpPr>
          <p:cNvPr id="4" name="Shape 2"/>
          <p:cNvSpPr/>
          <p:nvPr/>
        </p:nvSpPr>
        <p:spPr>
          <a:xfrm>
            <a:off x="566928" y="1600200"/>
            <a:ext cx="11055096" cy="1051560"/>
          </a:xfrm>
          <a:prstGeom prst="roundRect">
            <a:avLst>
              <a:gd name="adj" fmla="val 5217"/>
            </a:avLst>
          </a:prstGeom>
          <a:solidFill>
            <a:srgbClr val="F2EFE9"/>
          </a:solidFill>
          <a:ln w="12700">
            <a:solidFill>
              <a:srgbClr val="F2EFE9"/>
            </a:solidFill>
            <a:prstDash val="solid"/>
          </a:ln>
        </p:spPr>
      </p:sp>
      <p:sp>
        <p:nvSpPr>
          <p:cNvPr id="5" name="Shape 3"/>
          <p:cNvSpPr/>
          <p:nvPr/>
        </p:nvSpPr>
        <p:spPr>
          <a:xfrm>
            <a:off x="877824" y="1929384"/>
            <a:ext cx="402336" cy="402336"/>
          </a:xfrm>
          <a:prstGeom prst="ellipse">
            <a:avLst/>
          </a:prstGeom>
          <a:solidFill>
            <a:srgbClr val="0094A0"/>
          </a:solidFill>
          <a:ln/>
        </p:spPr>
      </p:sp>
      <p:sp>
        <p:nvSpPr>
          <p:cNvPr id="6" name="Text 4"/>
          <p:cNvSpPr/>
          <p:nvPr/>
        </p:nvSpPr>
        <p:spPr>
          <a:xfrm>
            <a:off x="877824" y="19293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527048" y="1783080"/>
            <a:ext cx="2926080" cy="384048"/>
          </a:xfrm>
          <a:prstGeom prst="rect">
            <a:avLst/>
          </a:prstGeom>
          <a:noFill/>
          <a:ln/>
        </p:spPr>
        <p:txBody>
          <a:bodyPr wrap="square" lIns="0" tIns="0" rIns="0" bIns="0" rtlCol="0" anchor="ctr"/>
          <a:lstStyle/>
          <a:p>
            <a:pPr indent="0" marL="0">
              <a:buNone/>
            </a:pPr>
            <a:r>
              <a:rPr lang="en-US" sz="1600" b="1" dirty="0">
                <a:solidFill>
                  <a:srgbClr val="191714"/>
                </a:solidFill>
                <a:latin typeface="Calibri" pitchFamily="34" charset="0"/>
                <a:ea typeface="Calibri" pitchFamily="34" charset="-122"/>
                <a:cs typeface="Calibri" pitchFamily="34" charset="-120"/>
              </a:rPr>
              <a:t>Sellers</a:t>
            </a:r>
            <a:endParaRPr lang="en-US" sz="1600" dirty="0"/>
          </a:p>
        </p:txBody>
      </p:sp>
      <p:sp>
        <p:nvSpPr>
          <p:cNvPr id="8" name="Text 6"/>
          <p:cNvSpPr/>
          <p:nvPr/>
        </p:nvSpPr>
        <p:spPr>
          <a:xfrm>
            <a:off x="1527048" y="2167128"/>
            <a:ext cx="9509760" cy="384048"/>
          </a:xfrm>
          <a:prstGeom prst="rect">
            <a:avLst/>
          </a:prstGeom>
          <a:noFill/>
          <a:ln/>
        </p:spPr>
        <p:txBody>
          <a:bodyPr wrap="square" lIns="0" tIns="0" rIns="0" bIns="0" rtlCol="0" anchor="ctr"/>
          <a:lstStyle/>
          <a:p>
            <a:pPr indent="0" marL="0">
              <a:buNone/>
            </a:pPr>
            <a:r>
              <a:rPr lang="en-US" sz="1400" dirty="0">
                <a:solidFill>
                  <a:srgbClr val="6B6358"/>
                </a:solidFill>
                <a:latin typeface="Calibri" pitchFamily="34" charset="0"/>
                <a:ea typeface="Calibri" pitchFamily="34" charset="-122"/>
                <a:cs typeface="Calibri" pitchFamily="34" charset="-120"/>
              </a:rPr>
              <a:t>Price too high and the listing goes stale; too low and the money is simply gone.</a:t>
            </a:r>
            <a:endParaRPr lang="en-US" sz="1400" dirty="0"/>
          </a:p>
        </p:txBody>
      </p:sp>
      <p:sp>
        <p:nvSpPr>
          <p:cNvPr id="9" name="Shape 7"/>
          <p:cNvSpPr/>
          <p:nvPr/>
        </p:nvSpPr>
        <p:spPr>
          <a:xfrm>
            <a:off x="566928" y="2880360"/>
            <a:ext cx="11055096" cy="1051560"/>
          </a:xfrm>
          <a:prstGeom prst="roundRect">
            <a:avLst>
              <a:gd name="adj" fmla="val 5217"/>
            </a:avLst>
          </a:prstGeom>
          <a:solidFill>
            <a:srgbClr val="F2EFE9"/>
          </a:solidFill>
          <a:ln w="12700">
            <a:solidFill>
              <a:srgbClr val="F2EFE9"/>
            </a:solidFill>
            <a:prstDash val="solid"/>
          </a:ln>
        </p:spPr>
      </p:sp>
      <p:sp>
        <p:nvSpPr>
          <p:cNvPr id="10" name="Shape 8"/>
          <p:cNvSpPr/>
          <p:nvPr/>
        </p:nvSpPr>
        <p:spPr>
          <a:xfrm>
            <a:off x="877824" y="3209544"/>
            <a:ext cx="402336" cy="402336"/>
          </a:xfrm>
          <a:prstGeom prst="ellipse">
            <a:avLst/>
          </a:prstGeom>
          <a:solidFill>
            <a:srgbClr val="0094A0"/>
          </a:solidFill>
          <a:ln/>
        </p:spPr>
      </p:sp>
      <p:sp>
        <p:nvSpPr>
          <p:cNvPr id="11" name="Text 9"/>
          <p:cNvSpPr/>
          <p:nvPr/>
        </p:nvSpPr>
        <p:spPr>
          <a:xfrm>
            <a:off x="877824" y="320954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527048" y="3063240"/>
            <a:ext cx="2926080" cy="384048"/>
          </a:xfrm>
          <a:prstGeom prst="rect">
            <a:avLst/>
          </a:prstGeom>
          <a:noFill/>
          <a:ln/>
        </p:spPr>
        <p:txBody>
          <a:bodyPr wrap="square" lIns="0" tIns="0" rIns="0" bIns="0" rtlCol="0" anchor="ctr"/>
          <a:lstStyle/>
          <a:p>
            <a:pPr indent="0" marL="0">
              <a:buNone/>
            </a:pPr>
            <a:r>
              <a:rPr lang="en-US" sz="1600" b="1" dirty="0">
                <a:solidFill>
                  <a:srgbClr val="191714"/>
                </a:solidFill>
                <a:latin typeface="Calibri" pitchFamily="34" charset="0"/>
                <a:ea typeface="Calibri" pitchFamily="34" charset="-122"/>
                <a:cs typeface="Calibri" pitchFamily="34" charset="-120"/>
              </a:rPr>
              <a:t>Buyers</a:t>
            </a:r>
            <a:endParaRPr lang="en-US" sz="1600" dirty="0"/>
          </a:p>
        </p:txBody>
      </p:sp>
      <p:sp>
        <p:nvSpPr>
          <p:cNvPr id="13" name="Text 11"/>
          <p:cNvSpPr/>
          <p:nvPr/>
        </p:nvSpPr>
        <p:spPr>
          <a:xfrm>
            <a:off x="1527048" y="3447288"/>
            <a:ext cx="9509760" cy="384048"/>
          </a:xfrm>
          <a:prstGeom prst="rect">
            <a:avLst/>
          </a:prstGeom>
          <a:noFill/>
          <a:ln/>
        </p:spPr>
        <p:txBody>
          <a:bodyPr wrap="square" lIns="0" tIns="0" rIns="0" bIns="0" rtlCol="0" anchor="ctr"/>
          <a:lstStyle/>
          <a:p>
            <a:pPr indent="0" marL="0">
              <a:buNone/>
            </a:pPr>
            <a:r>
              <a:rPr lang="en-US" sz="1400" dirty="0">
                <a:solidFill>
                  <a:srgbClr val="6B6358"/>
                </a:solidFill>
                <a:latin typeface="Calibri" pitchFamily="34" charset="0"/>
                <a:ea typeface="Calibri" pitchFamily="34" charset="-122"/>
                <a:cs typeface="Calibri" pitchFamily="34" charset="-120"/>
              </a:rPr>
              <a:t>No way to tell an asking price from a fair price without paying for an appraisal.</a:t>
            </a:r>
            <a:endParaRPr lang="en-US" sz="1400" dirty="0"/>
          </a:p>
        </p:txBody>
      </p:sp>
      <p:sp>
        <p:nvSpPr>
          <p:cNvPr id="14" name="Shape 12"/>
          <p:cNvSpPr/>
          <p:nvPr/>
        </p:nvSpPr>
        <p:spPr>
          <a:xfrm>
            <a:off x="566928" y="4160520"/>
            <a:ext cx="11055096" cy="1051560"/>
          </a:xfrm>
          <a:prstGeom prst="roundRect">
            <a:avLst>
              <a:gd name="adj" fmla="val 5217"/>
            </a:avLst>
          </a:prstGeom>
          <a:solidFill>
            <a:srgbClr val="F2EFE9"/>
          </a:solidFill>
          <a:ln w="12700">
            <a:solidFill>
              <a:srgbClr val="F2EFE9"/>
            </a:solidFill>
            <a:prstDash val="solid"/>
          </a:ln>
        </p:spPr>
      </p:sp>
      <p:sp>
        <p:nvSpPr>
          <p:cNvPr id="15" name="Shape 13"/>
          <p:cNvSpPr/>
          <p:nvPr/>
        </p:nvSpPr>
        <p:spPr>
          <a:xfrm>
            <a:off x="877824" y="4489704"/>
            <a:ext cx="402336" cy="402336"/>
          </a:xfrm>
          <a:prstGeom prst="ellipse">
            <a:avLst/>
          </a:prstGeom>
          <a:solidFill>
            <a:srgbClr val="C07214"/>
          </a:solidFill>
          <a:ln/>
        </p:spPr>
      </p:sp>
      <p:sp>
        <p:nvSpPr>
          <p:cNvPr id="16" name="Text 14"/>
          <p:cNvSpPr/>
          <p:nvPr/>
        </p:nvSpPr>
        <p:spPr>
          <a:xfrm>
            <a:off x="877824" y="44897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527048" y="4343400"/>
            <a:ext cx="2926080" cy="384048"/>
          </a:xfrm>
          <a:prstGeom prst="rect">
            <a:avLst/>
          </a:prstGeom>
          <a:noFill/>
          <a:ln/>
        </p:spPr>
        <p:txBody>
          <a:bodyPr wrap="square" lIns="0" tIns="0" rIns="0" bIns="0" rtlCol="0" anchor="ctr"/>
          <a:lstStyle/>
          <a:p>
            <a:pPr indent="0" marL="0">
              <a:buNone/>
            </a:pPr>
            <a:r>
              <a:rPr lang="en-US" sz="1600" b="1" dirty="0">
                <a:solidFill>
                  <a:srgbClr val="191714"/>
                </a:solidFill>
                <a:latin typeface="Calibri" pitchFamily="34" charset="0"/>
                <a:ea typeface="Calibri" pitchFamily="34" charset="-122"/>
                <a:cs typeface="Calibri" pitchFamily="34" charset="-120"/>
              </a:rPr>
              <a:t>Brokers and lenders</a:t>
            </a:r>
            <a:endParaRPr lang="en-US" sz="1600" dirty="0"/>
          </a:p>
        </p:txBody>
      </p:sp>
      <p:sp>
        <p:nvSpPr>
          <p:cNvPr id="18" name="Text 16"/>
          <p:cNvSpPr/>
          <p:nvPr/>
        </p:nvSpPr>
        <p:spPr>
          <a:xfrm>
            <a:off x="1527048" y="4727448"/>
            <a:ext cx="9509760" cy="384048"/>
          </a:xfrm>
          <a:prstGeom prst="rect">
            <a:avLst/>
          </a:prstGeom>
          <a:noFill/>
          <a:ln/>
        </p:spPr>
        <p:txBody>
          <a:bodyPr wrap="square" lIns="0" tIns="0" rIns="0" bIns="0" rtlCol="0" anchor="ctr"/>
          <a:lstStyle/>
          <a:p>
            <a:pPr indent="0" marL="0">
              <a:buNone/>
            </a:pPr>
            <a:r>
              <a:rPr lang="en-US" sz="1400" dirty="0">
                <a:solidFill>
                  <a:srgbClr val="6B6358"/>
                </a:solidFill>
                <a:latin typeface="Calibri" pitchFamily="34" charset="0"/>
                <a:ea typeface="Calibri" pitchFamily="34" charset="-122"/>
                <a:cs typeface="Calibri" pitchFamily="34" charset="-120"/>
              </a:rPr>
              <a:t>Need a defensible number in minutes, on hundreds of properties, not one at a time.</a:t>
            </a:r>
            <a:endParaRPr lang="en-US" sz="1400" dirty="0"/>
          </a:p>
        </p:txBody>
      </p:sp>
      <p:sp>
        <p:nvSpPr>
          <p:cNvPr id="19" name="Text 17"/>
          <p:cNvSpPr/>
          <p:nvPr/>
        </p:nvSpPr>
        <p:spPr>
          <a:xfrm>
            <a:off x="566928" y="5623560"/>
            <a:ext cx="11055096" cy="457200"/>
          </a:xfrm>
          <a:prstGeom prst="rect">
            <a:avLst/>
          </a:prstGeom>
          <a:noFill/>
          <a:ln/>
        </p:spPr>
        <p:txBody>
          <a:bodyPr wrap="square" lIns="0" tIns="0" rIns="0" bIns="0" rtlCol="0" anchor="ctr"/>
          <a:lstStyle/>
          <a:p>
            <a:pPr indent="0" marL="0">
              <a:buNone/>
            </a:pPr>
            <a:r>
              <a:rPr lang="en-US" sz="1500" i="1" dirty="0">
                <a:solidFill>
                  <a:srgbClr val="191714"/>
                </a:solidFill>
                <a:latin typeface="Calibri" pitchFamily="34" charset="0"/>
                <a:ea typeface="Calibri" pitchFamily="34" charset="-122"/>
                <a:cs typeface="Calibri" pitchFamily="34" charset="-120"/>
              </a:rPr>
              <a:t>The gap this fills: a number, an honest range around it, and a reason — in about a second, at a cost of effectively zero.</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566928" y="420624"/>
            <a:ext cx="8229600" cy="237744"/>
          </a:xfrm>
          <a:prstGeom prst="rect">
            <a:avLst/>
          </a:prstGeom>
          <a:noFill/>
          <a:ln/>
        </p:spPr>
        <p:txBody>
          <a:bodyPr wrap="square" lIns="0" tIns="0" rIns="0" bIns="0" rtlCol="0" anchor="ctr"/>
          <a:lstStyle/>
          <a:p>
            <a:pPr indent="0" marL="0">
              <a:buNone/>
            </a:pPr>
            <a:r>
              <a:rPr lang="en-US" sz="1100" b="1" spc="220" kern="0" dirty="0">
                <a:solidFill>
                  <a:srgbClr val="C07214"/>
                </a:solidFill>
                <a:latin typeface="Calibri" pitchFamily="34" charset="0"/>
                <a:ea typeface="Calibri" pitchFamily="34" charset="-122"/>
                <a:cs typeface="Calibri" pitchFamily="34" charset="-120"/>
              </a:rPr>
              <a:t>DATA</a:t>
            </a:r>
            <a:endParaRPr lang="en-US" sz="1100" dirty="0"/>
          </a:p>
        </p:txBody>
      </p:sp>
      <p:sp>
        <p:nvSpPr>
          <p:cNvPr id="3" name="Text 1"/>
          <p:cNvSpPr/>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4,345 sales, ten weeks, and four decisions I can defend</a:t>
            </a:r>
            <a:endParaRPr lang="en-US" sz="3000" dirty="0"/>
          </a:p>
        </p:txBody>
      </p:sp>
      <p:sp>
        <p:nvSpPr>
          <p:cNvPr id="4" name="Text 2"/>
          <p:cNvSpPr/>
          <p:nvPr/>
        </p:nvSpPr>
        <p:spPr>
          <a:xfrm>
            <a:off x="566928" y="1417320"/>
            <a:ext cx="2468880" cy="658368"/>
          </a:xfrm>
          <a:prstGeom prst="rect">
            <a:avLst/>
          </a:prstGeom>
          <a:noFill/>
          <a:ln/>
        </p:spPr>
        <p:txBody>
          <a:bodyPr wrap="square" lIns="0" tIns="0" rIns="0" bIns="0" rtlCol="0" anchor="ctr"/>
          <a:lstStyle/>
          <a:p>
            <a:pPr indent="0" marL="0">
              <a:buNone/>
            </a:pPr>
            <a:r>
              <a:rPr lang="en-US" sz="3800" b="1" dirty="0">
                <a:solidFill>
                  <a:srgbClr val="191714"/>
                </a:solidFill>
                <a:latin typeface="Cambria" pitchFamily="34" charset="0"/>
                <a:ea typeface="Cambria" pitchFamily="34" charset="-122"/>
                <a:cs typeface="Cambria" pitchFamily="34" charset="-120"/>
              </a:rPr>
              <a:t>4,345</a:t>
            </a:r>
            <a:endParaRPr lang="en-US" sz="3800" dirty="0"/>
          </a:p>
        </p:txBody>
      </p:sp>
      <p:sp>
        <p:nvSpPr>
          <p:cNvPr id="5" name="Text 3"/>
          <p:cNvSpPr/>
          <p:nvPr/>
        </p:nvSpPr>
        <p:spPr>
          <a:xfrm>
            <a:off x="566928" y="2075688"/>
            <a:ext cx="2468880" cy="603504"/>
          </a:xfrm>
          <a:prstGeom prst="rect">
            <a:avLst/>
          </a:prstGeom>
          <a:noFill/>
          <a:ln/>
        </p:spPr>
        <p:txBody>
          <a:bodyPr wrap="square" lIns="0" tIns="0" rIns="0" bIns="0" rtlCol="0" anchor="t"/>
          <a:lstStyle/>
          <a:p>
            <a:pPr indent="0" marL="0">
              <a:buNone/>
            </a:pPr>
            <a:r>
              <a:rPr lang="en-US" sz="1250" dirty="0">
                <a:solidFill>
                  <a:srgbClr val="6B6358"/>
                </a:solidFill>
                <a:latin typeface="Calibri" pitchFamily="34" charset="0"/>
                <a:ea typeface="Calibri" pitchFamily="34" charset="-122"/>
                <a:cs typeface="Calibri" pitchFamily="34" charset="-120"/>
              </a:rPr>
              <a:t>sales, after cleaning</a:t>
            </a:r>
            <a:endParaRPr lang="en-US" sz="1250" dirty="0"/>
          </a:p>
        </p:txBody>
      </p:sp>
      <p:sp>
        <p:nvSpPr>
          <p:cNvPr id="6" name="Text 4"/>
          <p:cNvSpPr/>
          <p:nvPr/>
        </p:nvSpPr>
        <p:spPr>
          <a:xfrm>
            <a:off x="3429000" y="1417320"/>
            <a:ext cx="2468880" cy="658368"/>
          </a:xfrm>
          <a:prstGeom prst="rect">
            <a:avLst/>
          </a:prstGeom>
          <a:noFill/>
          <a:ln/>
        </p:spPr>
        <p:txBody>
          <a:bodyPr wrap="square" lIns="0" tIns="0" rIns="0" bIns="0" rtlCol="0" anchor="ctr"/>
          <a:lstStyle/>
          <a:p>
            <a:pPr indent="0" marL="0">
              <a:buNone/>
            </a:pPr>
            <a:r>
              <a:rPr lang="en-US" sz="3800" b="1" dirty="0">
                <a:solidFill>
                  <a:srgbClr val="191714"/>
                </a:solidFill>
                <a:latin typeface="Cambria" pitchFamily="34" charset="0"/>
                <a:ea typeface="Cambria" pitchFamily="34" charset="-122"/>
                <a:cs typeface="Cambria" pitchFamily="34" charset="-120"/>
              </a:rPr>
              <a:t>77</a:t>
            </a:r>
            <a:endParaRPr lang="en-US" sz="3800" dirty="0"/>
          </a:p>
        </p:txBody>
      </p:sp>
      <p:sp>
        <p:nvSpPr>
          <p:cNvPr id="7" name="Text 5"/>
          <p:cNvSpPr/>
          <p:nvPr/>
        </p:nvSpPr>
        <p:spPr>
          <a:xfrm>
            <a:off x="3429000" y="2075688"/>
            <a:ext cx="2468880" cy="603504"/>
          </a:xfrm>
          <a:prstGeom prst="rect">
            <a:avLst/>
          </a:prstGeom>
          <a:noFill/>
          <a:ln/>
        </p:spPr>
        <p:txBody>
          <a:bodyPr wrap="square" lIns="0" tIns="0" rIns="0" bIns="0" rtlCol="0" anchor="t"/>
          <a:lstStyle/>
          <a:p>
            <a:pPr indent="0" marL="0">
              <a:buNone/>
            </a:pPr>
            <a:r>
              <a:rPr lang="en-US" sz="1250" dirty="0">
                <a:solidFill>
                  <a:srgbClr val="6B6358"/>
                </a:solidFill>
                <a:latin typeface="Calibri" pitchFamily="34" charset="0"/>
                <a:ea typeface="Calibri" pitchFamily="34" charset="-122"/>
                <a:cs typeface="Calibri" pitchFamily="34" charset="-120"/>
              </a:rPr>
              <a:t>zip codes, 44 cities</a:t>
            </a:r>
            <a:endParaRPr lang="en-US" sz="1250" dirty="0"/>
          </a:p>
        </p:txBody>
      </p:sp>
      <p:sp>
        <p:nvSpPr>
          <p:cNvPr id="8" name="Text 6"/>
          <p:cNvSpPr/>
          <p:nvPr/>
        </p:nvSpPr>
        <p:spPr>
          <a:xfrm>
            <a:off x="6291072" y="1417320"/>
            <a:ext cx="2468880" cy="658368"/>
          </a:xfrm>
          <a:prstGeom prst="rect">
            <a:avLst/>
          </a:prstGeom>
          <a:noFill/>
          <a:ln/>
        </p:spPr>
        <p:txBody>
          <a:bodyPr wrap="square" lIns="0" tIns="0" rIns="0" bIns="0" rtlCol="0" anchor="ctr"/>
          <a:lstStyle/>
          <a:p>
            <a:pPr indent="0" marL="0">
              <a:buNone/>
            </a:pPr>
            <a:r>
              <a:rPr lang="en-US" sz="3800" b="1" dirty="0">
                <a:solidFill>
                  <a:srgbClr val="191714"/>
                </a:solidFill>
                <a:latin typeface="Cambria" pitchFamily="34" charset="0"/>
                <a:ea typeface="Cambria" pitchFamily="34" charset="-122"/>
                <a:cs typeface="Cambria" pitchFamily="34" charset="-120"/>
              </a:rPr>
              <a:t>10 weeks</a:t>
            </a:r>
            <a:endParaRPr lang="en-US" sz="3800" dirty="0"/>
          </a:p>
        </p:txBody>
      </p:sp>
      <p:sp>
        <p:nvSpPr>
          <p:cNvPr id="9" name="Text 7"/>
          <p:cNvSpPr/>
          <p:nvPr/>
        </p:nvSpPr>
        <p:spPr>
          <a:xfrm>
            <a:off x="6291072" y="2075688"/>
            <a:ext cx="2468880" cy="603504"/>
          </a:xfrm>
          <a:prstGeom prst="rect">
            <a:avLst/>
          </a:prstGeom>
          <a:noFill/>
          <a:ln/>
        </p:spPr>
        <p:txBody>
          <a:bodyPr wrap="square" lIns="0" tIns="0" rIns="0" bIns="0" rtlCol="0" anchor="t"/>
          <a:lstStyle/>
          <a:p>
            <a:pPr indent="0" marL="0">
              <a:buNone/>
            </a:pPr>
            <a:r>
              <a:rPr lang="en-US" sz="1250" dirty="0">
                <a:solidFill>
                  <a:srgbClr val="6B6358"/>
                </a:solidFill>
                <a:latin typeface="Calibri" pitchFamily="34" charset="0"/>
                <a:ea typeface="Calibri" pitchFamily="34" charset="-122"/>
                <a:cs typeface="Calibri" pitchFamily="34" charset="-120"/>
              </a:rPr>
              <a:t>2 May – 10 July 2014</a:t>
            </a:r>
            <a:endParaRPr lang="en-US" sz="1250" dirty="0"/>
          </a:p>
        </p:txBody>
      </p:sp>
      <p:sp>
        <p:nvSpPr>
          <p:cNvPr id="10" name="Text 8"/>
          <p:cNvSpPr/>
          <p:nvPr/>
        </p:nvSpPr>
        <p:spPr>
          <a:xfrm>
            <a:off x="9153144" y="1417320"/>
            <a:ext cx="2468880" cy="658368"/>
          </a:xfrm>
          <a:prstGeom prst="rect">
            <a:avLst/>
          </a:prstGeom>
          <a:noFill/>
          <a:ln/>
        </p:spPr>
        <p:txBody>
          <a:bodyPr wrap="square" lIns="0" tIns="0" rIns="0" bIns="0" rtlCol="0" anchor="ctr"/>
          <a:lstStyle/>
          <a:p>
            <a:pPr indent="0" marL="0">
              <a:buNone/>
            </a:pPr>
            <a:r>
              <a:rPr lang="en-US" sz="3800" b="1" dirty="0">
                <a:solidFill>
                  <a:srgbClr val="191714"/>
                </a:solidFill>
                <a:latin typeface="Cambria" pitchFamily="34" charset="0"/>
                <a:ea typeface="Cambria" pitchFamily="34" charset="-122"/>
                <a:cs typeface="Cambria" pitchFamily="34" charset="-120"/>
              </a:rPr>
              <a:t>21</a:t>
            </a:r>
            <a:endParaRPr lang="en-US" sz="3800" dirty="0"/>
          </a:p>
        </p:txBody>
      </p:sp>
      <p:sp>
        <p:nvSpPr>
          <p:cNvPr id="11" name="Text 9"/>
          <p:cNvSpPr/>
          <p:nvPr/>
        </p:nvSpPr>
        <p:spPr>
          <a:xfrm>
            <a:off x="9153144" y="2075688"/>
            <a:ext cx="2468880" cy="603504"/>
          </a:xfrm>
          <a:prstGeom prst="rect">
            <a:avLst/>
          </a:prstGeom>
          <a:noFill/>
          <a:ln/>
        </p:spPr>
        <p:txBody>
          <a:bodyPr wrap="square" lIns="0" tIns="0" rIns="0" bIns="0" rtlCol="0" anchor="t"/>
          <a:lstStyle/>
          <a:p>
            <a:pPr indent="0" marL="0">
              <a:buNone/>
            </a:pPr>
            <a:r>
              <a:rPr lang="en-US" sz="1250" dirty="0">
                <a:solidFill>
                  <a:srgbClr val="6B6358"/>
                </a:solidFill>
                <a:latin typeface="Calibri" pitchFamily="34" charset="0"/>
                <a:ea typeface="Calibri" pitchFamily="34" charset="-122"/>
                <a:cs typeface="Calibri" pitchFamily="34" charset="-120"/>
              </a:rPr>
              <a:t>columns, parsed out of JSON</a:t>
            </a:r>
            <a:endParaRPr lang="en-US" sz="1250" dirty="0"/>
          </a:p>
        </p:txBody>
      </p:sp>
      <p:sp>
        <p:nvSpPr>
          <p:cNvPr id="12" name="Shape 10"/>
          <p:cNvSpPr/>
          <p:nvPr/>
        </p:nvSpPr>
        <p:spPr>
          <a:xfrm>
            <a:off x="566928" y="2999232"/>
            <a:ext cx="5367528" cy="1371600"/>
          </a:xfrm>
          <a:prstGeom prst="roundRect">
            <a:avLst>
              <a:gd name="adj" fmla="val 4000"/>
            </a:avLst>
          </a:prstGeom>
          <a:solidFill>
            <a:srgbClr val="F2EFE9"/>
          </a:solidFill>
          <a:ln w="12700">
            <a:solidFill>
              <a:srgbClr val="F2EFE9"/>
            </a:solidFill>
            <a:prstDash val="solid"/>
          </a:ln>
        </p:spPr>
      </p:sp>
      <p:sp>
        <p:nvSpPr>
          <p:cNvPr id="13" name="Text 11"/>
          <p:cNvSpPr/>
          <p:nvPr/>
        </p:nvSpPr>
        <p:spPr>
          <a:xfrm>
            <a:off x="841248" y="3163824"/>
            <a:ext cx="4818888" cy="329184"/>
          </a:xfrm>
          <a:prstGeom prst="rect">
            <a:avLst/>
          </a:prstGeom>
          <a:noFill/>
          <a:ln/>
        </p:spPr>
        <p:txBody>
          <a:bodyPr wrap="square" lIns="0" tIns="0" rIns="0" bIns="0" rtlCol="0" anchor="ctr"/>
          <a:lstStyle/>
          <a:p>
            <a:pPr indent="0" marL="0">
              <a:buNone/>
            </a:pPr>
            <a:r>
              <a:rPr lang="en-US" sz="1500" b="1" dirty="0">
                <a:solidFill>
                  <a:srgbClr val="191714"/>
                </a:solidFill>
                <a:latin typeface="Calibri" pitchFamily="34" charset="0"/>
                <a:ea typeface="Calibri" pitchFamily="34" charset="-122"/>
                <a:cs typeface="Calibri" pitchFamily="34" charset="-120"/>
              </a:rPr>
              <a:t>Deleted 49 rows</a:t>
            </a:r>
            <a:endParaRPr lang="en-US" sz="1500" dirty="0"/>
          </a:p>
        </p:txBody>
      </p:sp>
      <p:sp>
        <p:nvSpPr>
          <p:cNvPr id="14" name="Text 12"/>
          <p:cNvSpPr/>
          <p:nvPr/>
        </p:nvSpPr>
        <p:spPr>
          <a:xfrm>
            <a:off x="841248" y="3493008"/>
            <a:ext cx="4818888" cy="822960"/>
          </a:xfrm>
          <a:prstGeom prst="rect">
            <a:avLst/>
          </a:prstGeom>
          <a:noFill/>
          <a:ln/>
        </p:spPr>
        <p:txBody>
          <a:bodyPr wrap="square" lIns="0" tIns="0" rIns="0" bIns="0" rtlCol="0" anchor="t"/>
          <a:lstStyle/>
          <a:p>
            <a:pPr indent="0" marL="0">
              <a:buNone/>
            </a:pPr>
            <a:r>
              <a:rPr lang="en-US" sz="1300" dirty="0">
                <a:solidFill>
                  <a:srgbClr val="6B6358"/>
                </a:solidFill>
                <a:latin typeface="Calibri" pitchFamily="34" charset="0"/>
                <a:ea typeface="Calibri" pitchFamily="34" charset="-122"/>
                <a:cs typeface="Calibri" pitchFamily="34" charset="-120"/>
              </a:rPr>
              <a:t>Price or living area of zero — missing data wearing a number. 1.1% of the file; imputing a price would invent the target.</a:t>
            </a:r>
            <a:endParaRPr lang="en-US" sz="1300" dirty="0"/>
          </a:p>
        </p:txBody>
      </p:sp>
      <p:sp>
        <p:nvSpPr>
          <p:cNvPr id="15" name="Shape 13"/>
          <p:cNvSpPr/>
          <p:nvPr/>
        </p:nvSpPr>
        <p:spPr>
          <a:xfrm>
            <a:off x="6254496" y="2999232"/>
            <a:ext cx="5367528" cy="1371600"/>
          </a:xfrm>
          <a:prstGeom prst="roundRect">
            <a:avLst>
              <a:gd name="adj" fmla="val 4000"/>
            </a:avLst>
          </a:prstGeom>
          <a:solidFill>
            <a:srgbClr val="F2EFE9"/>
          </a:solidFill>
          <a:ln w="12700">
            <a:solidFill>
              <a:srgbClr val="F2EFE9"/>
            </a:solidFill>
            <a:prstDash val="solid"/>
          </a:ln>
        </p:spPr>
      </p:sp>
      <p:sp>
        <p:nvSpPr>
          <p:cNvPr id="16" name="Text 14"/>
          <p:cNvSpPr/>
          <p:nvPr/>
        </p:nvSpPr>
        <p:spPr>
          <a:xfrm>
            <a:off x="6528816" y="3163824"/>
            <a:ext cx="4818888" cy="329184"/>
          </a:xfrm>
          <a:prstGeom prst="rect">
            <a:avLst/>
          </a:prstGeom>
          <a:noFill/>
          <a:ln/>
        </p:spPr>
        <p:txBody>
          <a:bodyPr wrap="square" lIns="0" tIns="0" rIns="0" bIns="0" rtlCol="0" anchor="ctr"/>
          <a:lstStyle/>
          <a:p>
            <a:pPr indent="0" marL="0">
              <a:buNone/>
            </a:pPr>
            <a:r>
              <a:rPr lang="en-US" sz="1500" b="1" dirty="0">
                <a:solidFill>
                  <a:srgbClr val="191714"/>
                </a:solidFill>
                <a:latin typeface="Calibri" pitchFamily="34" charset="0"/>
                <a:ea typeface="Calibri" pitchFamily="34" charset="-122"/>
                <a:cs typeface="Calibri" pitchFamily="34" charset="-120"/>
              </a:rPr>
              <a:t>Kept every outlier</a:t>
            </a:r>
            <a:endParaRPr lang="en-US" sz="1500" dirty="0"/>
          </a:p>
        </p:txBody>
      </p:sp>
      <p:sp>
        <p:nvSpPr>
          <p:cNvPr id="17" name="Text 15"/>
          <p:cNvSpPr/>
          <p:nvPr/>
        </p:nvSpPr>
        <p:spPr>
          <a:xfrm>
            <a:off x="6528816" y="3493008"/>
            <a:ext cx="4818888" cy="822960"/>
          </a:xfrm>
          <a:prstGeom prst="rect">
            <a:avLst/>
          </a:prstGeom>
          <a:noFill/>
          <a:ln/>
        </p:spPr>
        <p:txBody>
          <a:bodyPr wrap="square" lIns="0" tIns="0" rIns="0" bIns="0" rtlCol="0" anchor="t"/>
          <a:lstStyle/>
          <a:p>
            <a:pPr indent="0" marL="0">
              <a:buNone/>
            </a:pPr>
            <a:r>
              <a:rPr lang="en-US" sz="1300" dirty="0">
                <a:solidFill>
                  <a:srgbClr val="6B6358"/>
                </a:solidFill>
                <a:latin typeface="Calibri" pitchFamily="34" charset="0"/>
                <a:ea typeface="Calibri" pitchFamily="34" charset="-122"/>
                <a:cs typeface="Calibri" pitchFamily="34" charset="-120"/>
              </a:rPr>
              <a:t>The $26m sale is real. Dropping hard houses buys a flattering error rate and nothing else.</a:t>
            </a:r>
            <a:endParaRPr lang="en-US" sz="1300" dirty="0"/>
          </a:p>
        </p:txBody>
      </p:sp>
      <p:sp>
        <p:nvSpPr>
          <p:cNvPr id="18" name="Shape 16"/>
          <p:cNvSpPr/>
          <p:nvPr/>
        </p:nvSpPr>
        <p:spPr>
          <a:xfrm>
            <a:off x="566928" y="4626864"/>
            <a:ext cx="5367528" cy="1371600"/>
          </a:xfrm>
          <a:prstGeom prst="roundRect">
            <a:avLst>
              <a:gd name="adj" fmla="val 4000"/>
            </a:avLst>
          </a:prstGeom>
          <a:solidFill>
            <a:srgbClr val="F2EFE9"/>
          </a:solidFill>
          <a:ln w="12700">
            <a:solidFill>
              <a:srgbClr val="F2EFE9"/>
            </a:solidFill>
            <a:prstDash val="solid"/>
          </a:ln>
        </p:spPr>
      </p:sp>
      <p:sp>
        <p:nvSpPr>
          <p:cNvPr id="19" name="Text 17"/>
          <p:cNvSpPr/>
          <p:nvPr/>
        </p:nvSpPr>
        <p:spPr>
          <a:xfrm>
            <a:off x="841248" y="4791456"/>
            <a:ext cx="4818888" cy="329184"/>
          </a:xfrm>
          <a:prstGeom prst="rect">
            <a:avLst/>
          </a:prstGeom>
          <a:noFill/>
          <a:ln/>
        </p:spPr>
        <p:txBody>
          <a:bodyPr wrap="square" lIns="0" tIns="0" rIns="0" bIns="0" rtlCol="0" anchor="ctr"/>
          <a:lstStyle/>
          <a:p>
            <a:pPr indent="0" marL="0">
              <a:buNone/>
            </a:pPr>
            <a:r>
              <a:rPr lang="en-US" sz="1500" b="1" dirty="0">
                <a:solidFill>
                  <a:srgbClr val="191714"/>
                </a:solidFill>
                <a:latin typeface="Calibri" pitchFamily="34" charset="0"/>
                <a:ea typeface="Calibri" pitchFamily="34" charset="-122"/>
                <a:cs typeface="Calibri" pitchFamily="34" charset="-120"/>
              </a:rPr>
              <a:t>Split address into city and zip</a:t>
            </a:r>
            <a:endParaRPr lang="en-US" sz="1500" dirty="0"/>
          </a:p>
        </p:txBody>
      </p:sp>
      <p:sp>
        <p:nvSpPr>
          <p:cNvPr id="20" name="Text 18"/>
          <p:cNvSpPr/>
          <p:nvPr/>
        </p:nvSpPr>
        <p:spPr>
          <a:xfrm>
            <a:off x="841248" y="5120640"/>
            <a:ext cx="4818888" cy="822960"/>
          </a:xfrm>
          <a:prstGeom prst="rect">
            <a:avLst/>
          </a:prstGeom>
          <a:noFill/>
          <a:ln/>
        </p:spPr>
        <p:txBody>
          <a:bodyPr wrap="square" lIns="0" tIns="0" rIns="0" bIns="0" rtlCol="0" anchor="t"/>
          <a:lstStyle/>
          <a:p>
            <a:pPr indent="0" marL="0">
              <a:buNone/>
            </a:pPr>
            <a:r>
              <a:rPr lang="en-US" sz="1300" dirty="0">
                <a:solidFill>
                  <a:srgbClr val="6B6358"/>
                </a:solidFill>
                <a:latin typeface="Calibri" pitchFamily="34" charset="0"/>
                <a:ea typeface="Calibri" pitchFamily="34" charset="-122"/>
                <a:cs typeface="Calibri" pitchFamily="34" charset="-120"/>
              </a:rPr>
              <a:t>Location is the strongest signal in the data, and it arrived as one comma-separated string.</a:t>
            </a:r>
            <a:endParaRPr lang="en-US" sz="1300" dirty="0"/>
          </a:p>
        </p:txBody>
      </p:sp>
      <p:sp>
        <p:nvSpPr>
          <p:cNvPr id="21" name="Shape 19"/>
          <p:cNvSpPr/>
          <p:nvPr/>
        </p:nvSpPr>
        <p:spPr>
          <a:xfrm>
            <a:off x="6254496" y="4626864"/>
            <a:ext cx="5367528" cy="1371600"/>
          </a:xfrm>
          <a:prstGeom prst="roundRect">
            <a:avLst>
              <a:gd name="adj" fmla="val 4000"/>
            </a:avLst>
          </a:prstGeom>
          <a:solidFill>
            <a:srgbClr val="F2EFE9"/>
          </a:solidFill>
          <a:ln w="12700">
            <a:solidFill>
              <a:srgbClr val="F2EFE9"/>
            </a:solidFill>
            <a:prstDash val="solid"/>
          </a:ln>
        </p:spPr>
      </p:sp>
      <p:sp>
        <p:nvSpPr>
          <p:cNvPr id="22" name="Text 20"/>
          <p:cNvSpPr/>
          <p:nvPr/>
        </p:nvSpPr>
        <p:spPr>
          <a:xfrm>
            <a:off x="6528816" y="4791456"/>
            <a:ext cx="4818888" cy="329184"/>
          </a:xfrm>
          <a:prstGeom prst="rect">
            <a:avLst/>
          </a:prstGeom>
          <a:noFill/>
          <a:ln/>
        </p:spPr>
        <p:txBody>
          <a:bodyPr wrap="square" lIns="0" tIns="0" rIns="0" bIns="0" rtlCol="0" anchor="ctr"/>
          <a:lstStyle/>
          <a:p>
            <a:pPr indent="0" marL="0">
              <a:buNone/>
            </a:pPr>
            <a:r>
              <a:rPr lang="en-US" sz="1500" b="1" dirty="0">
                <a:solidFill>
                  <a:srgbClr val="B23A20"/>
                </a:solidFill>
                <a:latin typeface="Calibri" pitchFamily="34" charset="0"/>
                <a:ea typeface="Calibri" pitchFamily="34" charset="-122"/>
                <a:cs typeface="Calibri" pitchFamily="34" charset="-120"/>
              </a:rPr>
              <a:t>Never touched price_per_sqft</a:t>
            </a:r>
            <a:endParaRPr lang="en-US" sz="1500" dirty="0"/>
          </a:p>
        </p:txBody>
      </p:sp>
      <p:sp>
        <p:nvSpPr>
          <p:cNvPr id="23" name="Text 21"/>
          <p:cNvSpPr/>
          <p:nvPr/>
        </p:nvSpPr>
        <p:spPr>
          <a:xfrm>
            <a:off x="6528816" y="5120640"/>
            <a:ext cx="4818888" cy="822960"/>
          </a:xfrm>
          <a:prstGeom prst="rect">
            <a:avLst/>
          </a:prstGeom>
          <a:noFill/>
          <a:ln/>
        </p:spPr>
        <p:txBody>
          <a:bodyPr wrap="square" lIns="0" tIns="0" rIns="0" bIns="0" rtlCol="0" anchor="t"/>
          <a:lstStyle/>
          <a:p>
            <a:pPr indent="0" marL="0">
              <a:buNone/>
            </a:pPr>
            <a:r>
              <a:rPr lang="en-US" sz="1300" dirty="0">
                <a:solidFill>
                  <a:srgbClr val="6B6358"/>
                </a:solidFill>
                <a:latin typeface="Calibri" pitchFamily="34" charset="0"/>
                <a:ea typeface="Calibri" pitchFamily="34" charset="-122"/>
                <a:cs typeface="Calibri" pitchFamily="34" charset="-120"/>
              </a:rPr>
              <a:t>Price divided by size contains the answer. With it, R² is 0.99 and the model can only value houses already sold.</a:t>
            </a:r>
            <a:endParaRPr lang="en-US" sz="1300" dirty="0"/>
          </a:p>
        </p:txBody>
      </p:sp>
      <p:sp>
        <p:nvSpPr>
          <p:cNvPr id="24" name="Text 22"/>
          <p:cNvSpPr/>
          <p:nvPr/>
        </p:nvSpPr>
        <p:spPr>
          <a:xfrm>
            <a:off x="566928" y="6053328"/>
            <a:ext cx="11055096" cy="411480"/>
          </a:xfrm>
          <a:prstGeom prst="rect">
            <a:avLst/>
          </a:prstGeom>
          <a:noFill/>
          <a:ln/>
        </p:spPr>
        <p:txBody>
          <a:bodyPr wrap="square" lIns="0" tIns="0" rIns="0" bIns="0" rtlCol="0" anchor="ctr"/>
          <a:lstStyle/>
          <a:p>
            <a:pPr indent="0" marL="0">
              <a:buNone/>
            </a:pPr>
            <a:r>
              <a:rPr lang="en-US" sz="1300" i="1" dirty="0">
                <a:solidFill>
                  <a:srgbClr val="6B6358"/>
                </a:solidFill>
                <a:latin typeface="Calibri" pitchFamily="34" charset="0"/>
                <a:ea typeface="Calibri" pitchFamily="34" charset="-122"/>
                <a:cs typeface="Calibri" pitchFamily="34" charset="-120"/>
              </a:rPr>
              <a:t>The source file was JSON with NaN literals, free-text room descriptions and mixed date formats — parsed, not loaded.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566928" y="420624"/>
            <a:ext cx="8229600" cy="237744"/>
          </a:xfrm>
          <a:prstGeom prst="rect">
            <a:avLst/>
          </a:prstGeom>
          <a:noFill/>
          <a:ln/>
        </p:spPr>
        <p:txBody>
          <a:bodyPr wrap="square" lIns="0" tIns="0" rIns="0" bIns="0" rtlCol="0" anchor="ctr"/>
          <a:lstStyle/>
          <a:p>
            <a:pPr indent="0" marL="0">
              <a:buNone/>
            </a:pPr>
            <a:r>
              <a:rPr lang="en-US" sz="1100" b="1" spc="220" kern="0" dirty="0">
                <a:solidFill>
                  <a:srgbClr val="C07214"/>
                </a:solidFill>
                <a:latin typeface="Calibri" pitchFamily="34" charset="0"/>
                <a:ea typeface="Calibri" pitchFamily="34" charset="-122"/>
                <a:cs typeface="Calibri" pitchFamily="34" charset="-120"/>
              </a:rPr>
              <a:t>INSIGHT 1 OF 3</a:t>
            </a:r>
            <a:endParaRPr lang="en-US" sz="1100" dirty="0"/>
          </a:p>
        </p:txBody>
      </p:sp>
      <p:sp>
        <p:nvSpPr>
          <p:cNvPr id="3" name="Text 1"/>
          <p:cNvSpPr/>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Prices are multiplicative, so the model learns logs</a:t>
            </a:r>
            <a:endParaRPr lang="en-US" sz="3000" dirty="0"/>
          </a:p>
        </p:txBody>
      </p:sp>
      <p:pic>
        <p:nvPicPr>
          <p:cNvPr id="4" name="Image 0" descr="/root/proj/reports/slides/fig_price_skew.png">    </p:cNvPr>
          <p:cNvPicPr>
            <a:picLocks noChangeAspect="1"/>
          </p:cNvPicPr>
          <p:nvPr/>
        </p:nvPicPr>
        <p:blipFill>
          <a:blip r:embed="rId1"/>
          <a:stretch>
            <a:fillRect/>
          </a:stretch>
        </p:blipFill>
        <p:spPr>
          <a:xfrm>
            <a:off x="566928" y="1463040"/>
            <a:ext cx="11064240" cy="3621024"/>
          </a:xfrm>
          <a:prstGeom prst="rect">
            <a:avLst/>
          </a:prstGeom>
        </p:spPr>
      </p:pic>
      <p:sp>
        <p:nvSpPr>
          <p:cNvPr id="5" name="Text 2"/>
          <p:cNvSpPr/>
          <p:nvPr/>
        </p:nvSpPr>
        <p:spPr>
          <a:xfrm>
            <a:off x="566928" y="5303520"/>
            <a:ext cx="11055096" cy="411480"/>
          </a:xfrm>
          <a:prstGeom prst="rect">
            <a:avLst/>
          </a:prstGeom>
          <a:noFill/>
          <a:ln/>
        </p:spPr>
        <p:txBody>
          <a:bodyPr wrap="square" lIns="0" tIns="0" rIns="0" bIns="0" rtlCol="0" anchor="ctr"/>
          <a:lstStyle/>
          <a:p>
            <a:pPr indent="0" marL="0">
              <a:buNone/>
            </a:pPr>
            <a:r>
              <a:rPr lang="en-US" sz="1300" i="1" dirty="0">
                <a:solidFill>
                  <a:srgbClr val="6B6358"/>
                </a:solidFill>
                <a:latin typeface="Calibri" pitchFamily="34" charset="0"/>
                <a:ea typeface="Calibri" pitchFamily="34" charset="-122"/>
                <a:cs typeface="Calibri" pitchFamily="34" charset="-120"/>
              </a:rPr>
              <a:t>Skew falls from 4.02 to 0.34. An error of 10% then costs the same on a $200k house and a $2m one — which is why every headline number in this deck is a percentage, and why the money slide converts it back.</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566928" y="420624"/>
            <a:ext cx="8229600" cy="237744"/>
          </a:xfrm>
          <a:prstGeom prst="rect">
            <a:avLst/>
          </a:prstGeom>
          <a:noFill/>
          <a:ln/>
        </p:spPr>
        <p:txBody>
          <a:bodyPr wrap="square" lIns="0" tIns="0" rIns="0" bIns="0" rtlCol="0" anchor="ctr"/>
          <a:lstStyle/>
          <a:p>
            <a:pPr indent="0" marL="0">
              <a:buNone/>
            </a:pPr>
            <a:r>
              <a:rPr lang="en-US" sz="1100" b="1" spc="220" kern="0" dirty="0">
                <a:solidFill>
                  <a:srgbClr val="C07214"/>
                </a:solidFill>
                <a:latin typeface="Calibri" pitchFamily="34" charset="0"/>
                <a:ea typeface="Calibri" pitchFamily="34" charset="-122"/>
                <a:cs typeface="Calibri" pitchFamily="34" charset="-120"/>
              </a:rPr>
              <a:t>INSIGHT 2 OF 3</a:t>
            </a:r>
            <a:endParaRPr lang="en-US" sz="1100" dirty="0"/>
          </a:p>
        </p:txBody>
      </p:sp>
      <p:sp>
        <p:nvSpPr>
          <p:cNvPr id="3" name="Text 1"/>
          <p:cNvSpPr/>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Location is not a factor. It is the market.</a:t>
            </a:r>
            <a:endParaRPr lang="en-US" sz="3000" dirty="0"/>
          </a:p>
        </p:txBody>
      </p:sp>
      <p:pic>
        <p:nvPicPr>
          <p:cNvPr id="4" name="Image 0" descr="/root/proj/reports/slides/fig_zip_spread.png">    </p:cNvPr>
          <p:cNvPicPr>
            <a:picLocks noChangeAspect="1"/>
          </p:cNvPicPr>
          <p:nvPr/>
        </p:nvPicPr>
        <p:blipFill>
          <a:blip r:embed="rId1"/>
          <a:stretch>
            <a:fillRect/>
          </a:stretch>
        </p:blipFill>
        <p:spPr>
          <a:xfrm>
            <a:off x="566928" y="1417320"/>
            <a:ext cx="11064240" cy="3419856"/>
          </a:xfrm>
          <a:prstGeom prst="rect">
            <a:avLst/>
          </a:prstGeom>
        </p:spPr>
      </p:pic>
      <p:sp>
        <p:nvSpPr>
          <p:cNvPr id="5" name="Shape 2"/>
          <p:cNvSpPr/>
          <p:nvPr/>
        </p:nvSpPr>
        <p:spPr>
          <a:xfrm>
            <a:off x="566928" y="5029200"/>
            <a:ext cx="11055096" cy="1234440"/>
          </a:xfrm>
          <a:prstGeom prst="roundRect">
            <a:avLst>
              <a:gd name="adj" fmla="val 4444"/>
            </a:avLst>
          </a:prstGeom>
          <a:solidFill>
            <a:srgbClr val="F2EFE9"/>
          </a:solidFill>
          <a:ln w="12700">
            <a:solidFill>
              <a:srgbClr val="F2EFE9"/>
            </a:solidFill>
            <a:prstDash val="solid"/>
          </a:ln>
        </p:spPr>
      </p:sp>
      <p:sp>
        <p:nvSpPr>
          <p:cNvPr id="6" name="Text 3"/>
          <p:cNvSpPr/>
          <p:nvPr/>
        </p:nvSpPr>
        <p:spPr>
          <a:xfrm>
            <a:off x="932688" y="5193792"/>
            <a:ext cx="10515600" cy="365760"/>
          </a:xfrm>
          <a:prstGeom prst="rect">
            <a:avLst/>
          </a:prstGeom>
          <a:noFill/>
          <a:ln/>
        </p:spPr>
        <p:txBody>
          <a:bodyPr wrap="square" lIns="0" tIns="0" rIns="0" bIns="0" rtlCol="0" anchor="ctr"/>
          <a:lstStyle/>
          <a:p>
            <a:pPr indent="0" marL="0">
              <a:buNone/>
            </a:pPr>
            <a:r>
              <a:rPr lang="en-US" sz="1650" b="1" dirty="0">
                <a:solidFill>
                  <a:srgbClr val="191714"/>
                </a:solidFill>
                <a:latin typeface="Calibri" pitchFamily="34" charset="0"/>
                <a:ea typeface="Calibri" pitchFamily="34" charset="-122"/>
                <a:cs typeface="Calibri" pitchFamily="34" charset="-120"/>
              </a:rPr>
              <a:t>The same 2,000 sqft house: $284,507 in Auburn, $916,421 in Seattle.</a:t>
            </a:r>
            <a:endParaRPr lang="en-US" sz="1650" dirty="0"/>
          </a:p>
        </p:txBody>
      </p:sp>
      <p:sp>
        <p:nvSpPr>
          <p:cNvPr id="7" name="Text 4"/>
          <p:cNvSpPr/>
          <p:nvPr/>
        </p:nvSpPr>
        <p:spPr>
          <a:xfrm>
            <a:off x="932688" y="5559552"/>
            <a:ext cx="10515600" cy="640080"/>
          </a:xfrm>
          <a:prstGeom prst="rect">
            <a:avLst/>
          </a:prstGeom>
          <a:noFill/>
          <a:ln/>
        </p:spPr>
        <p:txBody>
          <a:bodyPr wrap="square" lIns="0" tIns="0" rIns="0" bIns="0" rtlCol="0" anchor="ctr"/>
          <a:lstStyle/>
          <a:p>
            <a:pPr indent="0" marL="0">
              <a:buNone/>
            </a:pPr>
            <a:r>
              <a:rPr lang="en-US" sz="1350" dirty="0">
                <a:solidFill>
                  <a:srgbClr val="6B6358"/>
                </a:solidFill>
                <a:latin typeface="Calibri" pitchFamily="34" charset="0"/>
                <a:ea typeface="Calibri" pitchFamily="34" charset="-122"/>
                <a:cs typeface="Calibri" pitchFamily="34" charset="-120"/>
              </a:rPr>
              <a:t>$142 versus $458 per square foot, across the 58 zip codes with 30 or more sales. The encoded zip code alone carries 46% of the model's importance — more than every structural feature combined. Screen the buy list by zip code before anyone visits a property.</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566928" y="420624"/>
            <a:ext cx="8229600" cy="237744"/>
          </a:xfrm>
          <a:prstGeom prst="rect">
            <a:avLst/>
          </a:prstGeom>
          <a:noFill/>
          <a:ln/>
        </p:spPr>
        <p:txBody>
          <a:bodyPr wrap="square" lIns="0" tIns="0" rIns="0" bIns="0" rtlCol="0" anchor="ctr"/>
          <a:lstStyle/>
          <a:p>
            <a:pPr indent="0" marL="0">
              <a:buNone/>
            </a:pPr>
            <a:r>
              <a:rPr lang="en-US" sz="1100" b="1" spc="220" kern="0" dirty="0">
                <a:solidFill>
                  <a:srgbClr val="C07214"/>
                </a:solidFill>
                <a:latin typeface="Calibri" pitchFamily="34" charset="0"/>
                <a:ea typeface="Calibri" pitchFamily="34" charset="-122"/>
                <a:cs typeface="Calibri" pitchFamily="34" charset="-120"/>
              </a:rPr>
              <a:t>INSIGHT 3 OF 3</a:t>
            </a:r>
            <a:endParaRPr lang="en-US" sz="1100" dirty="0"/>
          </a:p>
        </p:txBody>
      </p:sp>
      <p:sp>
        <p:nvSpPr>
          <p:cNvPr id="3" name="Text 1"/>
          <p:cNvSpPr/>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The market is four markets</a:t>
            </a:r>
            <a:endParaRPr lang="en-US" sz="3000" dirty="0"/>
          </a:p>
        </p:txBody>
      </p:sp>
      <p:pic>
        <p:nvPicPr>
          <p:cNvPr id="4" name="Image 0" descr="/root/proj/reports/slides/fig_segments.png">    </p:cNvPr>
          <p:cNvPicPr>
            <a:picLocks noChangeAspect="1"/>
          </p:cNvPicPr>
          <p:nvPr/>
        </p:nvPicPr>
        <p:blipFill>
          <a:blip r:embed="rId1"/>
          <a:stretch>
            <a:fillRect/>
          </a:stretch>
        </p:blipFill>
        <p:spPr>
          <a:xfrm>
            <a:off x="566928" y="1371600"/>
            <a:ext cx="11064240" cy="3621024"/>
          </a:xfrm>
          <a:prstGeom prst="rect">
            <a:avLst/>
          </a:prstGeom>
        </p:spPr>
      </p:pic>
      <p:sp>
        <p:nvSpPr>
          <p:cNvPr id="5" name="Shape 2"/>
          <p:cNvSpPr/>
          <p:nvPr/>
        </p:nvSpPr>
        <p:spPr>
          <a:xfrm>
            <a:off x="566928" y="5074920"/>
            <a:ext cx="11055096" cy="1325880"/>
          </a:xfrm>
          <a:prstGeom prst="roundRect">
            <a:avLst>
              <a:gd name="adj" fmla="val 4138"/>
            </a:avLst>
          </a:prstGeom>
          <a:solidFill>
            <a:srgbClr val="F2EFE9"/>
          </a:solidFill>
          <a:ln w="12700">
            <a:solidFill>
              <a:srgbClr val="F2EFE9"/>
            </a:solidFill>
            <a:prstDash val="solid"/>
          </a:ln>
        </p:spPr>
      </p:sp>
      <p:sp>
        <p:nvSpPr>
          <p:cNvPr id="6" name="Text 3"/>
          <p:cNvSpPr/>
          <p:nvPr/>
        </p:nvSpPr>
        <p:spPr>
          <a:xfrm>
            <a:off x="932688" y="5230368"/>
            <a:ext cx="10515600" cy="365760"/>
          </a:xfrm>
          <a:prstGeom prst="rect">
            <a:avLst/>
          </a:prstGeom>
          <a:noFill/>
          <a:ln/>
        </p:spPr>
        <p:txBody>
          <a:bodyPr wrap="square" lIns="0" tIns="0" rIns="0" bIns="0" rtlCol="0" anchor="ctr"/>
          <a:lstStyle/>
          <a:p>
            <a:pPr indent="0" marL="0">
              <a:buNone/>
            </a:pPr>
            <a:r>
              <a:rPr lang="en-US" sz="1550" b="1" dirty="0">
                <a:solidFill>
                  <a:srgbClr val="191714"/>
                </a:solidFill>
                <a:latin typeface="Calibri" pitchFamily="34" charset="0"/>
                <a:ea typeface="Calibri" pitchFamily="34" charset="-122"/>
                <a:cs typeface="Calibri" pitchFamily="34" charset="-120"/>
              </a:rPr>
              <a:t>And the segment is predictable: 98.7% accuracy against a 37.5% floor — but that is a weaker result than it looks.</a:t>
            </a:r>
            <a:endParaRPr lang="en-US" sz="1550" dirty="0"/>
          </a:p>
        </p:txBody>
      </p:sp>
      <p:sp>
        <p:nvSpPr>
          <p:cNvPr id="7" name="Text 4"/>
          <p:cNvSpPr/>
          <p:nvPr/>
        </p:nvSpPr>
        <p:spPr>
          <a:xfrm>
            <a:off x="932688" y="5596128"/>
            <a:ext cx="10515600" cy="731520"/>
          </a:xfrm>
          <a:prstGeom prst="rect">
            <a:avLst/>
          </a:prstGeom>
          <a:noFill/>
          <a:ln/>
        </p:spPr>
        <p:txBody>
          <a:bodyPr wrap="square" lIns="0" tIns="0" rIns="0" bIns="0" rtlCol="0" anchor="ctr"/>
          <a:lstStyle/>
          <a:p>
            <a:pPr indent="0" marL="0">
              <a:buNone/>
            </a:pPr>
            <a:r>
              <a:rPr lang="en-US" sz="1250" dirty="0">
                <a:solidFill>
                  <a:srgbClr val="6B6358"/>
                </a:solidFill>
                <a:latin typeface="Calibri" pitchFamily="34" charset="0"/>
                <a:ea typeface="Calibri" pitchFamily="34" charset="-122"/>
                <a:cs typeface="Calibri" pitchFamily="34" charset="-120"/>
              </a:rPr>
              <a:t>The labels came from k-means, so the classifier is re-learning a boundary an algorithm drew — 98.7% measures how learnable that boundary is, not how well I understand houses. The honest test is a forest given only features k-means never saw: it still recovers the segment about 82% of the time, so the segments carry real information. (Logistic regression beats the random forest here because k-means boundaries are linear hyperplanes.)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566928" y="420624"/>
            <a:ext cx="8229600" cy="237744"/>
          </a:xfrm>
          <a:prstGeom prst="rect">
            <a:avLst/>
          </a:prstGeom>
          <a:noFill/>
          <a:ln/>
        </p:spPr>
        <p:txBody>
          <a:bodyPr wrap="square" lIns="0" tIns="0" rIns="0" bIns="0" rtlCol="0" anchor="ctr"/>
          <a:lstStyle/>
          <a:p>
            <a:pPr indent="0" marL="0">
              <a:buNone/>
            </a:pPr>
            <a:r>
              <a:rPr lang="en-US" sz="1100" b="1" spc="220" kern="0" dirty="0">
                <a:solidFill>
                  <a:srgbClr val="C07214"/>
                </a:solidFill>
                <a:latin typeface="Calibri" pitchFamily="34" charset="0"/>
                <a:ea typeface="Calibri" pitchFamily="34" charset="-122"/>
                <a:cs typeface="Calibri" pitchFamily="34" charset="-120"/>
              </a:rPr>
              <a:t>BUSINESS INSIGHT</a:t>
            </a:r>
            <a:endParaRPr lang="en-US" sz="1100" dirty="0"/>
          </a:p>
        </p:txBody>
      </p:sp>
      <p:sp>
        <p:nvSpPr>
          <p:cNvPr id="3" name="Text 1"/>
          <p:cNvSpPr/>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What the market actually pays for</a:t>
            </a:r>
            <a:endParaRPr lang="en-US" sz="3000" dirty="0"/>
          </a:p>
        </p:txBody>
      </p:sp>
      <p:pic>
        <p:nvPicPr>
          <p:cNvPr id="4" name="Image 0" descr="/root/proj/reports/slides/fig_value_levers.png">    </p:cNvPr>
          <p:cNvPicPr>
            <a:picLocks noChangeAspect="1"/>
          </p:cNvPicPr>
          <p:nvPr/>
        </p:nvPicPr>
        <p:blipFill>
          <a:blip r:embed="rId1"/>
          <a:stretch>
            <a:fillRect/>
          </a:stretch>
        </p:blipFill>
        <p:spPr>
          <a:xfrm>
            <a:off x="566928" y="1371600"/>
            <a:ext cx="11064240" cy="4023360"/>
          </a:xfrm>
          <a:prstGeom prst="rect">
            <a:avLst/>
          </a:prstGeom>
        </p:spPr>
      </p:pic>
      <p:sp>
        <p:nvSpPr>
          <p:cNvPr id="5" name="Shape 2"/>
          <p:cNvSpPr/>
          <p:nvPr/>
        </p:nvSpPr>
        <p:spPr>
          <a:xfrm>
            <a:off x="566928" y="5504688"/>
            <a:ext cx="11055096" cy="914400"/>
          </a:xfrm>
          <a:prstGeom prst="roundRect">
            <a:avLst>
              <a:gd name="adj" fmla="val 6000"/>
            </a:avLst>
          </a:prstGeom>
          <a:solidFill>
            <a:srgbClr val="F2EFE9"/>
          </a:solidFill>
          <a:ln w="12700">
            <a:solidFill>
              <a:srgbClr val="F2EFE9"/>
            </a:solidFill>
            <a:prstDash val="solid"/>
          </a:ln>
        </p:spPr>
      </p:sp>
      <p:sp>
        <p:nvSpPr>
          <p:cNvPr id="6" name="Text 3"/>
          <p:cNvSpPr/>
          <p:nvPr/>
        </p:nvSpPr>
        <p:spPr>
          <a:xfrm>
            <a:off x="932688" y="5650992"/>
            <a:ext cx="10515600" cy="329184"/>
          </a:xfrm>
          <a:prstGeom prst="rect">
            <a:avLst/>
          </a:prstGeom>
          <a:noFill/>
          <a:ln/>
        </p:spPr>
        <p:txBody>
          <a:bodyPr wrap="square" lIns="0" tIns="0" rIns="0" bIns="0" rtlCol="0" anchor="ctr"/>
          <a:lstStyle/>
          <a:p>
            <a:pPr indent="0" marL="0">
              <a:buNone/>
            </a:pPr>
            <a:r>
              <a:rPr lang="en-US" sz="1600" b="1" dirty="0">
                <a:solidFill>
                  <a:srgbClr val="191714"/>
                </a:solidFill>
                <a:latin typeface="Calibri" pitchFamily="34" charset="0"/>
                <a:ea typeface="Calibri" pitchFamily="34" charset="-122"/>
                <a:cs typeface="Calibri" pitchFamily="34" charset="-120"/>
              </a:rPr>
              <a:t>Buy the view and the condition. Add a bathroom, never a bedroom.</a:t>
            </a:r>
            <a:endParaRPr lang="en-US" sz="1600" dirty="0"/>
          </a:p>
        </p:txBody>
      </p:sp>
      <p:sp>
        <p:nvSpPr>
          <p:cNvPr id="7" name="Text 4"/>
          <p:cNvSpPr/>
          <p:nvPr/>
        </p:nvSpPr>
        <p:spPr>
          <a:xfrm>
            <a:off x="932688" y="5980176"/>
            <a:ext cx="10515600" cy="384048"/>
          </a:xfrm>
          <a:prstGeom prst="rect">
            <a:avLst/>
          </a:prstGeom>
          <a:noFill/>
          <a:ln/>
        </p:spPr>
        <p:txBody>
          <a:bodyPr wrap="square" lIns="0" tIns="0" rIns="0" bIns="0" rtlCol="0" anchor="ctr"/>
          <a:lstStyle/>
          <a:p>
            <a:pPr indent="0" marL="0">
              <a:buNone/>
            </a:pPr>
            <a:r>
              <a:rPr lang="en-US" sz="1300" dirty="0">
                <a:solidFill>
                  <a:srgbClr val="6B6358"/>
                </a:solidFill>
                <a:latin typeface="Calibri" pitchFamily="34" charset="0"/>
                <a:ea typeface="Calibri" pitchFamily="34" charset="-122"/>
                <a:cs typeface="Calibri" pitchFamily="34" charset="-120"/>
              </a:rPr>
              <a:t>Subdividing a fixed floor area into one more bedroom takes $11,576 off the price: buyers pay for fewer, larger rooms. Finishing a basement is worse than doing nothing — $5,971 per 100 sqft, because it is space that could have been above ground.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566928" y="420624"/>
            <a:ext cx="8229600" cy="237744"/>
          </a:xfrm>
          <a:prstGeom prst="rect">
            <a:avLst/>
          </a:prstGeom>
          <a:noFill/>
          <a:ln/>
        </p:spPr>
        <p:txBody>
          <a:bodyPr wrap="square" lIns="0" tIns="0" rIns="0" bIns="0" rtlCol="0" anchor="ctr"/>
          <a:lstStyle/>
          <a:p>
            <a:pPr indent="0" marL="0">
              <a:buNone/>
            </a:pPr>
            <a:r>
              <a:rPr lang="en-US" sz="1100" b="1" spc="220" kern="0" dirty="0">
                <a:solidFill>
                  <a:srgbClr val="C07214"/>
                </a:solidFill>
                <a:latin typeface="Calibri" pitchFamily="34" charset="0"/>
                <a:ea typeface="Calibri" pitchFamily="34" charset="-122"/>
                <a:cs typeface="Calibri" pitchFamily="34" charset="-120"/>
              </a:rPr>
              <a:t>BUSINESS INSIGHT</a:t>
            </a:r>
            <a:endParaRPr lang="en-US" sz="1100" dirty="0"/>
          </a:p>
        </p:txBody>
      </p:sp>
      <p:sp>
        <p:nvSpPr>
          <p:cNvPr id="3" name="Text 1"/>
          <p:cNvSpPr/>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The most expensive mistake in the raw numbers</a:t>
            </a:r>
            <a:endParaRPr lang="en-US" sz="3000" dirty="0"/>
          </a:p>
        </p:txBody>
      </p:sp>
      <p:sp>
        <p:nvSpPr>
          <p:cNvPr id="4" name="Shape 2"/>
          <p:cNvSpPr/>
          <p:nvPr/>
        </p:nvSpPr>
        <p:spPr>
          <a:xfrm>
            <a:off x="566928" y="1463040"/>
            <a:ext cx="5349240" cy="2103120"/>
          </a:xfrm>
          <a:prstGeom prst="roundRect">
            <a:avLst>
              <a:gd name="adj" fmla="val 2609"/>
            </a:avLst>
          </a:prstGeom>
          <a:solidFill>
            <a:srgbClr val="F6EEEB"/>
          </a:solidFill>
          <a:ln w="12700">
            <a:solidFill>
              <a:srgbClr val="F6EEEB"/>
            </a:solidFill>
            <a:prstDash val="solid"/>
          </a:ln>
        </p:spPr>
      </p:sp>
      <p:sp>
        <p:nvSpPr>
          <p:cNvPr id="5" name="Text 3"/>
          <p:cNvSpPr/>
          <p:nvPr/>
        </p:nvSpPr>
        <p:spPr>
          <a:xfrm>
            <a:off x="886968" y="1627632"/>
            <a:ext cx="4663440" cy="292608"/>
          </a:xfrm>
          <a:prstGeom prst="rect">
            <a:avLst/>
          </a:prstGeom>
          <a:noFill/>
          <a:ln/>
        </p:spPr>
        <p:txBody>
          <a:bodyPr wrap="square" lIns="0" tIns="0" rIns="0" bIns="0" rtlCol="0" anchor="ctr"/>
          <a:lstStyle/>
          <a:p>
            <a:pPr indent="0" marL="0">
              <a:buNone/>
            </a:pPr>
            <a:r>
              <a:rPr lang="en-US" sz="1350" b="1" dirty="0">
                <a:solidFill>
                  <a:srgbClr val="6B6358"/>
                </a:solidFill>
                <a:latin typeface="Calibri" pitchFamily="34" charset="0"/>
                <a:ea typeface="Calibri" pitchFamily="34" charset="-122"/>
                <a:cs typeface="Calibri" pitchFamily="34" charset="-120"/>
              </a:rPr>
              <a:t>What the raw comparison says</a:t>
            </a:r>
            <a:endParaRPr lang="en-US" sz="1350" dirty="0"/>
          </a:p>
        </p:txBody>
      </p:sp>
      <p:sp>
        <p:nvSpPr>
          <p:cNvPr id="6" name="Text 4"/>
          <p:cNvSpPr/>
          <p:nvPr/>
        </p:nvSpPr>
        <p:spPr>
          <a:xfrm>
            <a:off x="886968" y="1920240"/>
            <a:ext cx="4663440" cy="777240"/>
          </a:xfrm>
          <a:prstGeom prst="rect">
            <a:avLst/>
          </a:prstGeom>
          <a:noFill/>
          <a:ln/>
        </p:spPr>
        <p:txBody>
          <a:bodyPr wrap="square" lIns="0" tIns="0" rIns="0" bIns="0" rtlCol="0" anchor="ctr"/>
          <a:lstStyle/>
          <a:p>
            <a:pPr indent="0" marL="0">
              <a:buNone/>
            </a:pPr>
            <a:r>
              <a:rPr lang="en-US" sz="4600" b="1" dirty="0">
                <a:solidFill>
                  <a:srgbClr val="B23A20"/>
                </a:solidFill>
                <a:latin typeface="Cambria" pitchFamily="34" charset="0"/>
                <a:ea typeface="Cambria" pitchFamily="34" charset="-122"/>
                <a:cs typeface="Cambria" pitchFamily="34" charset="-120"/>
              </a:rPr>
              <a:t>+23%</a:t>
            </a:r>
            <a:endParaRPr lang="en-US" sz="4600" dirty="0"/>
          </a:p>
        </p:txBody>
      </p:sp>
      <p:sp>
        <p:nvSpPr>
          <p:cNvPr id="7" name="Text 5"/>
          <p:cNvSpPr/>
          <p:nvPr/>
        </p:nvSpPr>
        <p:spPr>
          <a:xfrm>
            <a:off x="886968" y="2724912"/>
            <a:ext cx="4663440" cy="548640"/>
          </a:xfrm>
          <a:prstGeom prst="rect">
            <a:avLst/>
          </a:prstGeom>
          <a:noFill/>
          <a:ln/>
        </p:spPr>
        <p:txBody>
          <a:bodyPr wrap="square" lIns="0" tIns="0" rIns="0" bIns="0" rtlCol="0" anchor="ctr"/>
          <a:lstStyle/>
          <a:p>
            <a:pPr indent="0" marL="0">
              <a:buNone/>
            </a:pPr>
            <a:r>
              <a:rPr lang="en-US" sz="1300" dirty="0">
                <a:solidFill>
                  <a:srgbClr val="6B6358"/>
                </a:solidFill>
                <a:latin typeface="Calibri" pitchFamily="34" charset="0"/>
                <a:ea typeface="Calibri" pitchFamily="34" charset="-122"/>
                <a:cs typeface="Calibri" pitchFamily="34" charset="-120"/>
              </a:rPr>
              <a:t>renovated homes sell for this much more per square foot</a:t>
            </a:r>
            <a:endParaRPr lang="en-US" sz="1300" dirty="0"/>
          </a:p>
        </p:txBody>
      </p:sp>
      <p:sp>
        <p:nvSpPr>
          <p:cNvPr id="8" name="Shape 6"/>
          <p:cNvSpPr/>
          <p:nvPr/>
        </p:nvSpPr>
        <p:spPr>
          <a:xfrm>
            <a:off x="6281928" y="1463040"/>
            <a:ext cx="5349240" cy="2103120"/>
          </a:xfrm>
          <a:prstGeom prst="roundRect">
            <a:avLst>
              <a:gd name="adj" fmla="val 2609"/>
            </a:avLst>
          </a:prstGeom>
          <a:solidFill>
            <a:srgbClr val="FAF0E2"/>
          </a:solidFill>
          <a:ln w="12700">
            <a:solidFill>
              <a:srgbClr val="FAF0E2"/>
            </a:solidFill>
            <a:prstDash val="solid"/>
          </a:ln>
        </p:spPr>
      </p:sp>
      <p:sp>
        <p:nvSpPr>
          <p:cNvPr id="9" name="Text 7"/>
          <p:cNvSpPr/>
          <p:nvPr/>
        </p:nvSpPr>
        <p:spPr>
          <a:xfrm>
            <a:off x="6601968" y="1627632"/>
            <a:ext cx="4663440" cy="292608"/>
          </a:xfrm>
          <a:prstGeom prst="rect">
            <a:avLst/>
          </a:prstGeom>
          <a:noFill/>
          <a:ln/>
        </p:spPr>
        <p:txBody>
          <a:bodyPr wrap="square" lIns="0" tIns="0" rIns="0" bIns="0" rtlCol="0" anchor="ctr"/>
          <a:lstStyle/>
          <a:p>
            <a:pPr indent="0" marL="0">
              <a:buNone/>
            </a:pPr>
            <a:r>
              <a:rPr lang="en-US" sz="1350" b="1" dirty="0">
                <a:solidFill>
                  <a:srgbClr val="6B6358"/>
                </a:solidFill>
                <a:latin typeface="Calibri" pitchFamily="34" charset="0"/>
                <a:ea typeface="Calibri" pitchFamily="34" charset="-122"/>
                <a:cs typeface="Calibri" pitchFamily="34" charset="-120"/>
              </a:rPr>
              <a:t>What a like-for-like comparison says</a:t>
            </a:r>
            <a:endParaRPr lang="en-US" sz="1350" dirty="0"/>
          </a:p>
        </p:txBody>
      </p:sp>
      <p:sp>
        <p:nvSpPr>
          <p:cNvPr id="10" name="Text 8"/>
          <p:cNvSpPr/>
          <p:nvPr/>
        </p:nvSpPr>
        <p:spPr>
          <a:xfrm>
            <a:off x="6601968" y="1920240"/>
            <a:ext cx="4663440" cy="777240"/>
          </a:xfrm>
          <a:prstGeom prst="rect">
            <a:avLst/>
          </a:prstGeom>
          <a:noFill/>
          <a:ln/>
        </p:spPr>
        <p:txBody>
          <a:bodyPr wrap="square" lIns="0" tIns="0" rIns="0" bIns="0" rtlCol="0" anchor="ctr"/>
          <a:lstStyle/>
          <a:p>
            <a:pPr indent="0" marL="0">
              <a:buNone/>
            </a:pPr>
            <a:r>
              <a:rPr lang="en-US" sz="4600" b="1" dirty="0">
                <a:solidFill>
                  <a:srgbClr val="C07214"/>
                </a:solidFill>
                <a:latin typeface="Cambria" pitchFamily="34" charset="0"/>
                <a:ea typeface="Cambria" pitchFamily="34" charset="-122"/>
                <a:cs typeface="Cambria" pitchFamily="34" charset="-120"/>
              </a:rPr>
              <a:t>+10%</a:t>
            </a:r>
            <a:endParaRPr lang="en-US" sz="4600" dirty="0"/>
          </a:p>
        </p:txBody>
      </p:sp>
      <p:sp>
        <p:nvSpPr>
          <p:cNvPr id="11" name="Text 9"/>
          <p:cNvSpPr/>
          <p:nvPr/>
        </p:nvSpPr>
        <p:spPr>
          <a:xfrm>
            <a:off x="6601968" y="2724912"/>
            <a:ext cx="4663440" cy="548640"/>
          </a:xfrm>
          <a:prstGeom prst="rect">
            <a:avLst/>
          </a:prstGeom>
          <a:noFill/>
          <a:ln/>
        </p:spPr>
        <p:txBody>
          <a:bodyPr wrap="square" lIns="0" tIns="0" rIns="0" bIns="0" rtlCol="0" anchor="ctr"/>
          <a:lstStyle/>
          <a:p>
            <a:pPr indent="0" marL="0">
              <a:buNone/>
            </a:pPr>
            <a:r>
              <a:rPr lang="en-US" sz="1300" dirty="0">
                <a:solidFill>
                  <a:srgbClr val="6B6358"/>
                </a:solidFill>
                <a:latin typeface="Calibri" pitchFamily="34" charset="0"/>
                <a:ea typeface="Calibri" pitchFamily="34" charset="-122"/>
                <a:cs typeface="Calibri" pitchFamily="34" charset="-120"/>
              </a:rPr>
              <a:t>median across the 16 zip codes with enough of both — and negative in 6 of them</a:t>
            </a:r>
            <a:endParaRPr lang="en-US" sz="1300" dirty="0"/>
          </a:p>
        </p:txBody>
      </p:sp>
      <p:sp>
        <p:nvSpPr>
          <p:cNvPr id="12" name="Text 10"/>
          <p:cNvSpPr/>
          <p:nvPr/>
        </p:nvSpPr>
        <p:spPr>
          <a:xfrm>
            <a:off x="566928" y="3749040"/>
            <a:ext cx="11055096" cy="365760"/>
          </a:xfrm>
          <a:prstGeom prst="rect">
            <a:avLst/>
          </a:prstGeom>
          <a:noFill/>
          <a:ln/>
        </p:spPr>
        <p:txBody>
          <a:bodyPr wrap="square" lIns="0" tIns="0" rIns="0" bIns="0" rtlCol="0" anchor="ctr"/>
          <a:lstStyle/>
          <a:p>
            <a:pPr indent="0" marL="0">
              <a:buNone/>
            </a:pPr>
            <a:r>
              <a:rPr lang="en-US" sz="1700" b="1" dirty="0">
                <a:solidFill>
                  <a:srgbClr val="191714"/>
                </a:solidFill>
                <a:latin typeface="Calibri" pitchFamily="34" charset="0"/>
                <a:ea typeface="Calibri" pitchFamily="34" charset="-122"/>
                <a:cs typeface="Calibri" pitchFamily="34" charset="-120"/>
              </a:rPr>
              <a:t>Why the gap: renovated homes are older, and old homes cluster in expensive neighbourhoods</a:t>
            </a:r>
            <a:endParaRPr lang="en-US" sz="1700" dirty="0"/>
          </a:p>
        </p:txBody>
      </p:sp>
      <p:sp>
        <p:nvSpPr>
          <p:cNvPr id="13" name="Text 11"/>
          <p:cNvSpPr/>
          <p:nvPr/>
        </p:nvSpPr>
        <p:spPr>
          <a:xfrm>
            <a:off x="566928" y="4160520"/>
            <a:ext cx="11055096" cy="548640"/>
          </a:xfrm>
          <a:prstGeom prst="rect">
            <a:avLst/>
          </a:prstGeom>
          <a:noFill/>
          <a:ln/>
        </p:spPr>
        <p:txBody>
          <a:bodyPr wrap="square" lIns="0" tIns="0" rIns="0" bIns="0" rtlCol="0" anchor="ctr"/>
          <a:lstStyle/>
          <a:p>
            <a:pPr indent="0" marL="0">
              <a:buNone/>
            </a:pPr>
            <a:r>
              <a:rPr lang="en-US" sz="1400" dirty="0">
                <a:solidFill>
                  <a:srgbClr val="6B6358"/>
                </a:solidFill>
                <a:latin typeface="Calibri" pitchFamily="34" charset="0"/>
                <a:ea typeface="Calibri" pitchFamily="34" charset="-122"/>
                <a:cs typeface="Calibri" pitchFamily="34" charset="-120"/>
              </a:rPr>
              <a:t>The median renovated home in this data is 74 years old; the median unrenovated one is 37. So the raw 23% is mostly measuring location, not renovation. Comparing inside a single zip code removes that, and the premium halves.</a:t>
            </a:r>
            <a:endParaRPr lang="en-US" sz="1400" dirty="0"/>
          </a:p>
        </p:txBody>
      </p:sp>
      <p:sp>
        <p:nvSpPr>
          <p:cNvPr id="14" name="Shape 12"/>
          <p:cNvSpPr/>
          <p:nvPr/>
        </p:nvSpPr>
        <p:spPr>
          <a:xfrm>
            <a:off x="566928" y="4892040"/>
            <a:ext cx="11055096" cy="1280160"/>
          </a:xfrm>
          <a:prstGeom prst="roundRect">
            <a:avLst>
              <a:gd name="adj" fmla="val 4286"/>
            </a:avLst>
          </a:prstGeom>
          <a:solidFill>
            <a:srgbClr val="F2EFE9"/>
          </a:solidFill>
          <a:ln w="12700">
            <a:solidFill>
              <a:srgbClr val="F2EFE9"/>
            </a:solidFill>
            <a:prstDash val="solid"/>
          </a:ln>
        </p:spPr>
      </p:sp>
      <p:sp>
        <p:nvSpPr>
          <p:cNvPr id="15" name="Text 13"/>
          <p:cNvSpPr/>
          <p:nvPr/>
        </p:nvSpPr>
        <p:spPr>
          <a:xfrm>
            <a:off x="932688" y="5074920"/>
            <a:ext cx="10515600" cy="329184"/>
          </a:xfrm>
          <a:prstGeom prst="rect">
            <a:avLst/>
          </a:prstGeom>
          <a:noFill/>
          <a:ln/>
        </p:spPr>
        <p:txBody>
          <a:bodyPr wrap="square" lIns="0" tIns="0" rIns="0" bIns="0" rtlCol="0" anchor="ctr"/>
          <a:lstStyle/>
          <a:p>
            <a:pPr indent="0" marL="0">
              <a:buNone/>
            </a:pPr>
            <a:r>
              <a:rPr lang="en-US" sz="1600" b="1" dirty="0">
                <a:solidFill>
                  <a:srgbClr val="191714"/>
                </a:solidFill>
                <a:latin typeface="Calibri" pitchFamily="34" charset="0"/>
                <a:ea typeface="Calibri" pitchFamily="34" charset="-122"/>
                <a:cs typeface="Calibri" pitchFamily="34" charset="-120"/>
              </a:rPr>
              <a:t>What it means for a budget: on a median $471,000 home, a 10% uplift is about $47,663.</a:t>
            </a:r>
            <a:endParaRPr lang="en-US" sz="1600" dirty="0"/>
          </a:p>
        </p:txBody>
      </p:sp>
      <p:sp>
        <p:nvSpPr>
          <p:cNvPr id="16" name="Text 14"/>
          <p:cNvSpPr/>
          <p:nvPr/>
        </p:nvSpPr>
        <p:spPr>
          <a:xfrm>
            <a:off x="932688" y="5413248"/>
            <a:ext cx="10515600" cy="548640"/>
          </a:xfrm>
          <a:prstGeom prst="rect">
            <a:avLst/>
          </a:prstGeom>
          <a:noFill/>
          <a:ln/>
        </p:spPr>
        <p:txBody>
          <a:bodyPr wrap="square" lIns="0" tIns="0" rIns="0" bIns="0" rtlCol="0" anchor="ctr"/>
          <a:lstStyle/>
          <a:p>
            <a:pPr indent="0" marL="0">
              <a:buNone/>
            </a:pPr>
            <a:r>
              <a:rPr lang="en-US" sz="1300" dirty="0">
                <a:solidFill>
                  <a:srgbClr val="6B6358"/>
                </a:solidFill>
                <a:latin typeface="Calibri" pitchFamily="34" charset="0"/>
                <a:ea typeface="Calibri" pitchFamily="34" charset="-122"/>
                <a:cs typeface="Calibri" pitchFamily="34" charset="-120"/>
              </a:rPr>
              <a:t>That is the break-even, not the profit. A refurbishment only pays if it costs less than that — and this dataset contains no renovation costs, so I cannot confirm that it does. Get contractor quotes before approving any scheme, and budget against 10%, not the 23% the raw numbers advertise.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566928" y="420624"/>
            <a:ext cx="8229600" cy="237744"/>
          </a:xfrm>
          <a:prstGeom prst="rect">
            <a:avLst/>
          </a:prstGeom>
          <a:noFill/>
          <a:ln/>
        </p:spPr>
        <p:txBody>
          <a:bodyPr wrap="square" lIns="0" tIns="0" rIns="0" bIns="0" rtlCol="0" anchor="ctr"/>
          <a:lstStyle/>
          <a:p>
            <a:pPr indent="0" marL="0">
              <a:buNone/>
            </a:pPr>
            <a:r>
              <a:rPr lang="en-US" sz="1100" b="1" spc="220" kern="0" dirty="0">
                <a:solidFill>
                  <a:srgbClr val="C07214"/>
                </a:solidFill>
                <a:latin typeface="Calibri" pitchFamily="34" charset="0"/>
                <a:ea typeface="Calibri" pitchFamily="34" charset="-122"/>
                <a:cs typeface="Calibri" pitchFamily="34" charset="-120"/>
              </a:rPr>
              <a:t>THE BUSINESS CASE</a:t>
            </a:r>
            <a:endParaRPr lang="en-US" sz="1100" dirty="0"/>
          </a:p>
        </p:txBody>
      </p:sp>
      <p:sp>
        <p:nvSpPr>
          <p:cNvPr id="3" name="Text 1"/>
          <p:cNvSpPr/>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What the model is worth, in money</a:t>
            </a:r>
            <a:endParaRPr lang="en-US" sz="3000" dirty="0"/>
          </a:p>
        </p:txBody>
      </p:sp>
      <p:pic>
        <p:nvPicPr>
          <p:cNvPr id="4" name="Image 0" descr="/root/proj/reports/slides/fig_money.png">    </p:cNvPr>
          <p:cNvPicPr>
            <a:picLocks noChangeAspect="1"/>
          </p:cNvPicPr>
          <p:nvPr/>
        </p:nvPicPr>
        <p:blipFill>
          <a:blip r:embed="rId1"/>
          <a:stretch>
            <a:fillRect/>
          </a:stretch>
        </p:blipFill>
        <p:spPr>
          <a:xfrm>
            <a:off x="566928" y="1389888"/>
            <a:ext cx="11064240" cy="3520440"/>
          </a:xfrm>
          <a:prstGeom prst="rect">
            <a:avLst/>
          </a:prstGeom>
        </p:spPr>
      </p:pic>
      <p:sp>
        <p:nvSpPr>
          <p:cNvPr id="5" name="Shape 2"/>
          <p:cNvSpPr/>
          <p:nvPr/>
        </p:nvSpPr>
        <p:spPr>
          <a:xfrm>
            <a:off x="566928" y="5029200"/>
            <a:ext cx="3502152" cy="1417320"/>
          </a:xfrm>
          <a:prstGeom prst="roundRect">
            <a:avLst>
              <a:gd name="adj" fmla="val 3871"/>
            </a:avLst>
          </a:prstGeom>
          <a:solidFill>
            <a:srgbClr val="F2EFE9"/>
          </a:solidFill>
          <a:ln w="12700">
            <a:solidFill>
              <a:srgbClr val="F2EFE9"/>
            </a:solidFill>
            <a:prstDash val="solid"/>
          </a:ln>
        </p:spPr>
      </p:sp>
      <p:sp>
        <p:nvSpPr>
          <p:cNvPr id="6" name="Text 3"/>
          <p:cNvSpPr/>
          <p:nvPr/>
        </p:nvSpPr>
        <p:spPr>
          <a:xfrm>
            <a:off x="822960" y="5175504"/>
            <a:ext cx="2990088" cy="566928"/>
          </a:xfrm>
          <a:prstGeom prst="rect">
            <a:avLst/>
          </a:prstGeom>
          <a:noFill/>
          <a:ln/>
        </p:spPr>
        <p:txBody>
          <a:bodyPr wrap="square" lIns="0" tIns="0" rIns="0" bIns="0" rtlCol="0" anchor="ctr"/>
          <a:lstStyle/>
          <a:p>
            <a:pPr indent="0" marL="0">
              <a:buNone/>
            </a:pPr>
            <a:r>
              <a:rPr lang="en-US" sz="3000" b="1" dirty="0">
                <a:solidFill>
                  <a:srgbClr val="C07214"/>
                </a:solidFill>
                <a:latin typeface="Cambria" pitchFamily="34" charset="0"/>
                <a:ea typeface="Cambria" pitchFamily="34" charset="-122"/>
                <a:cs typeface="Cambria" pitchFamily="34" charset="-120"/>
              </a:rPr>
              <a:t>$49,585</a:t>
            </a:r>
            <a:endParaRPr lang="en-US" sz="3000" dirty="0"/>
          </a:p>
        </p:txBody>
      </p:sp>
      <p:sp>
        <p:nvSpPr>
          <p:cNvPr id="7" name="Text 4"/>
          <p:cNvSpPr/>
          <p:nvPr/>
        </p:nvSpPr>
        <p:spPr>
          <a:xfrm>
            <a:off x="822960" y="5760720"/>
            <a:ext cx="2990088" cy="566928"/>
          </a:xfrm>
          <a:prstGeom prst="rect">
            <a:avLst/>
          </a:prstGeom>
          <a:noFill/>
          <a:ln/>
        </p:spPr>
        <p:txBody>
          <a:bodyPr wrap="square" lIns="0" tIns="0" rIns="0" bIns="0" rtlCol="0" anchor="t"/>
          <a:lstStyle/>
          <a:p>
            <a:pPr indent="0" marL="0">
              <a:buNone/>
            </a:pPr>
            <a:r>
              <a:rPr lang="en-US" sz="1250" dirty="0">
                <a:solidFill>
                  <a:srgbClr val="6B6358"/>
                </a:solidFill>
                <a:latin typeface="Calibri" pitchFamily="34" charset="0"/>
                <a:ea typeface="Calibri" pitchFamily="34" charset="-122"/>
                <a:cs typeface="Calibri" pitchFamily="34" charset="-120"/>
              </a:rPr>
              <a:t>Half of all valuations land within this of the sale price</a:t>
            </a:r>
            <a:endParaRPr lang="en-US" sz="1250" dirty="0"/>
          </a:p>
        </p:txBody>
      </p:sp>
      <p:sp>
        <p:nvSpPr>
          <p:cNvPr id="8" name="Shape 5"/>
          <p:cNvSpPr/>
          <p:nvPr/>
        </p:nvSpPr>
        <p:spPr>
          <a:xfrm>
            <a:off x="4343400" y="5029200"/>
            <a:ext cx="3502152" cy="1417320"/>
          </a:xfrm>
          <a:prstGeom prst="roundRect">
            <a:avLst>
              <a:gd name="adj" fmla="val 3871"/>
            </a:avLst>
          </a:prstGeom>
          <a:solidFill>
            <a:srgbClr val="F2EFE9"/>
          </a:solidFill>
          <a:ln w="12700">
            <a:solidFill>
              <a:srgbClr val="F2EFE9"/>
            </a:solidFill>
            <a:prstDash val="solid"/>
          </a:ln>
        </p:spPr>
      </p:sp>
      <p:sp>
        <p:nvSpPr>
          <p:cNvPr id="9" name="Text 6"/>
          <p:cNvSpPr/>
          <p:nvPr/>
        </p:nvSpPr>
        <p:spPr>
          <a:xfrm>
            <a:off x="4599432" y="5175504"/>
            <a:ext cx="2990088" cy="56692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$18,683</a:t>
            </a:r>
            <a:endParaRPr lang="en-US" sz="3000" dirty="0"/>
          </a:p>
        </p:txBody>
      </p:sp>
      <p:sp>
        <p:nvSpPr>
          <p:cNvPr id="10" name="Text 7"/>
          <p:cNvSpPr/>
          <p:nvPr/>
        </p:nvSpPr>
        <p:spPr>
          <a:xfrm>
            <a:off x="4599432" y="5760720"/>
            <a:ext cx="2990088" cy="566928"/>
          </a:xfrm>
          <a:prstGeom prst="rect">
            <a:avLst/>
          </a:prstGeom>
          <a:noFill/>
          <a:ln/>
        </p:spPr>
        <p:txBody>
          <a:bodyPr wrap="square" lIns="0" tIns="0" rIns="0" bIns="0" rtlCol="0" anchor="t"/>
          <a:lstStyle/>
          <a:p>
            <a:pPr indent="0" marL="0">
              <a:buNone/>
            </a:pPr>
            <a:r>
              <a:rPr lang="en-US" sz="1250" dirty="0">
                <a:solidFill>
                  <a:srgbClr val="6B6358"/>
                </a:solidFill>
                <a:latin typeface="Calibri" pitchFamily="34" charset="0"/>
                <a:ea typeface="Calibri" pitchFamily="34" charset="-122"/>
                <a:cs typeface="Calibri" pitchFamily="34" charset="-120"/>
              </a:rPr>
              <a:t>Less error per house than a zip price-per-sqft valuation benchmark</a:t>
            </a:r>
            <a:endParaRPr lang="en-US" sz="1250" dirty="0"/>
          </a:p>
        </p:txBody>
      </p:sp>
      <p:sp>
        <p:nvSpPr>
          <p:cNvPr id="11" name="Shape 8"/>
          <p:cNvSpPr/>
          <p:nvPr/>
        </p:nvSpPr>
        <p:spPr>
          <a:xfrm>
            <a:off x="8119872" y="5029200"/>
            <a:ext cx="3502152" cy="1417320"/>
          </a:xfrm>
          <a:prstGeom prst="roundRect">
            <a:avLst>
              <a:gd name="adj" fmla="val 3871"/>
            </a:avLst>
          </a:prstGeom>
          <a:solidFill>
            <a:srgbClr val="F2EFE9"/>
          </a:solidFill>
          <a:ln w="12700">
            <a:solidFill>
              <a:srgbClr val="F2EFE9"/>
            </a:solidFill>
            <a:prstDash val="solid"/>
          </a:ln>
        </p:spPr>
      </p:sp>
      <p:sp>
        <p:nvSpPr>
          <p:cNvPr id="12" name="Text 9"/>
          <p:cNvSpPr/>
          <p:nvPr/>
        </p:nvSpPr>
        <p:spPr>
          <a:xfrm>
            <a:off x="8375904" y="5175504"/>
            <a:ext cx="2990088" cy="56692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$73,098</a:t>
            </a:r>
            <a:endParaRPr lang="en-US" sz="3000" dirty="0"/>
          </a:p>
        </p:txBody>
      </p:sp>
      <p:sp>
        <p:nvSpPr>
          <p:cNvPr id="13" name="Text 10"/>
          <p:cNvSpPr/>
          <p:nvPr/>
        </p:nvSpPr>
        <p:spPr>
          <a:xfrm>
            <a:off x="8375904" y="5760720"/>
            <a:ext cx="2990088" cy="566928"/>
          </a:xfrm>
          <a:prstGeom prst="rect">
            <a:avLst/>
          </a:prstGeom>
          <a:noFill/>
          <a:ln/>
        </p:spPr>
        <p:txBody>
          <a:bodyPr wrap="square" lIns="0" tIns="0" rIns="0" bIns="0" rtlCol="0" anchor="t"/>
          <a:lstStyle/>
          <a:p>
            <a:pPr indent="0" marL="0">
              <a:buNone/>
            </a:pPr>
            <a:r>
              <a:rPr lang="en-US" sz="1250" dirty="0">
                <a:solidFill>
                  <a:srgbClr val="6B6358"/>
                </a:solidFill>
                <a:latin typeface="Calibri" pitchFamily="34" charset="0"/>
                <a:ea typeface="Calibri" pitchFamily="34" charset="-122"/>
                <a:cs typeface="Calibri" pitchFamily="34" charset="-120"/>
              </a:rPr>
              <a:t>Less error per house than a plain zip-median lookup</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566928" y="420624"/>
            <a:ext cx="8229600" cy="237744"/>
          </a:xfrm>
          <a:prstGeom prst="rect">
            <a:avLst/>
          </a:prstGeom>
          <a:noFill/>
          <a:ln/>
        </p:spPr>
        <p:txBody>
          <a:bodyPr wrap="square" lIns="0" tIns="0" rIns="0" bIns="0" rtlCol="0" anchor="ctr"/>
          <a:lstStyle/>
          <a:p>
            <a:pPr indent="0" marL="0">
              <a:buNone/>
            </a:pPr>
            <a:r>
              <a:rPr lang="en-US" sz="1100" b="1" spc="220" kern="0" dirty="0">
                <a:solidFill>
                  <a:srgbClr val="C07214"/>
                </a:solidFill>
                <a:latin typeface="Calibri" pitchFamily="34" charset="0"/>
                <a:ea typeface="Calibri" pitchFamily="34" charset="-122"/>
                <a:cs typeface="Calibri" pitchFamily="34" charset="-120"/>
              </a:rPr>
              <a:t>RECOMMENDATIONS</a:t>
            </a:r>
            <a:endParaRPr lang="en-US" sz="1100" dirty="0"/>
          </a:p>
        </p:txBody>
      </p:sp>
      <p:sp>
        <p:nvSpPr>
          <p:cNvPr id="3" name="Text 1"/>
          <p:cNvSpPr/>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What a valuation workflow should do on Monday</a:t>
            </a:r>
            <a:endParaRPr lang="en-US" sz="3000" dirty="0"/>
          </a:p>
        </p:txBody>
      </p:sp>
      <p:sp>
        <p:nvSpPr>
          <p:cNvPr id="4" name="Shape 2"/>
          <p:cNvSpPr/>
          <p:nvPr/>
        </p:nvSpPr>
        <p:spPr>
          <a:xfrm>
            <a:off x="566928" y="1463040"/>
            <a:ext cx="11055096" cy="1005840"/>
          </a:xfrm>
          <a:prstGeom prst="roundRect">
            <a:avLst>
              <a:gd name="adj" fmla="val 5455"/>
            </a:avLst>
          </a:prstGeom>
          <a:solidFill>
            <a:srgbClr val="F2EFE9"/>
          </a:solidFill>
          <a:ln w="12700">
            <a:solidFill>
              <a:srgbClr val="F2EFE9"/>
            </a:solidFill>
            <a:prstDash val="solid"/>
          </a:ln>
        </p:spPr>
      </p:sp>
      <p:sp>
        <p:nvSpPr>
          <p:cNvPr id="5" name="Shape 3"/>
          <p:cNvSpPr/>
          <p:nvPr/>
        </p:nvSpPr>
        <p:spPr>
          <a:xfrm>
            <a:off x="877824" y="1773936"/>
            <a:ext cx="402336" cy="402336"/>
          </a:xfrm>
          <a:prstGeom prst="ellipse">
            <a:avLst/>
          </a:prstGeom>
          <a:solidFill>
            <a:srgbClr val="0094A0"/>
          </a:solidFill>
          <a:ln/>
        </p:spPr>
      </p:sp>
      <p:sp>
        <p:nvSpPr>
          <p:cNvPr id="6" name="Text 4"/>
          <p:cNvSpPr/>
          <p:nvPr/>
        </p:nvSpPr>
        <p:spPr>
          <a:xfrm>
            <a:off x="877824" y="177393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527048" y="1591056"/>
            <a:ext cx="9692640" cy="329184"/>
          </a:xfrm>
          <a:prstGeom prst="rect">
            <a:avLst/>
          </a:prstGeom>
          <a:noFill/>
          <a:ln/>
        </p:spPr>
        <p:txBody>
          <a:bodyPr wrap="square" lIns="0" tIns="0" rIns="0" bIns="0" rtlCol="0" anchor="ctr"/>
          <a:lstStyle/>
          <a:p>
            <a:pPr indent="0" marL="0">
              <a:buNone/>
            </a:pPr>
            <a:r>
              <a:rPr lang="en-US" sz="1550" b="1" dirty="0">
                <a:solidFill>
                  <a:srgbClr val="191714"/>
                </a:solidFill>
                <a:latin typeface="Calibri" pitchFamily="34" charset="0"/>
                <a:ea typeface="Calibri" pitchFamily="34" charset="-122"/>
                <a:cs typeface="Calibri" pitchFamily="34" charset="-120"/>
              </a:rPr>
              <a:t>Screen by zip code first, property second</a:t>
            </a:r>
            <a:endParaRPr lang="en-US" sz="1550" dirty="0"/>
          </a:p>
        </p:txBody>
      </p:sp>
      <p:sp>
        <p:nvSpPr>
          <p:cNvPr id="8" name="Text 6"/>
          <p:cNvSpPr/>
          <p:nvPr/>
        </p:nvSpPr>
        <p:spPr>
          <a:xfrm>
            <a:off x="1527048" y="1920240"/>
            <a:ext cx="9875520" cy="502920"/>
          </a:xfrm>
          <a:prstGeom prst="rect">
            <a:avLst/>
          </a:prstGeom>
          <a:noFill/>
          <a:ln/>
        </p:spPr>
        <p:txBody>
          <a:bodyPr wrap="square" lIns="0" tIns="0" rIns="0" bIns="0" rtlCol="0" anchor="t"/>
          <a:lstStyle/>
          <a:p>
            <a:pPr indent="0" marL="0">
              <a:buNone/>
            </a:pPr>
            <a:r>
              <a:rPr lang="en-US" sz="1250" dirty="0">
                <a:solidFill>
                  <a:srgbClr val="6B6358"/>
                </a:solidFill>
                <a:latin typeface="Calibri" pitchFamily="34" charset="0"/>
                <a:ea typeface="Calibri" pitchFamily="34" charset="-122"/>
                <a:cs typeface="Calibri" pitchFamily="34" charset="-120"/>
              </a:rPr>
              <a:t>Location moves price 3.2x; every structural feature combined moves it less. Set the buy list at zip level before anyone visits a house.</a:t>
            </a:r>
            <a:endParaRPr lang="en-US" sz="1250" dirty="0"/>
          </a:p>
        </p:txBody>
      </p:sp>
      <p:sp>
        <p:nvSpPr>
          <p:cNvPr id="9" name="Shape 7"/>
          <p:cNvSpPr/>
          <p:nvPr/>
        </p:nvSpPr>
        <p:spPr>
          <a:xfrm>
            <a:off x="566928" y="2596896"/>
            <a:ext cx="11055096" cy="1005840"/>
          </a:xfrm>
          <a:prstGeom prst="roundRect">
            <a:avLst>
              <a:gd name="adj" fmla="val 5455"/>
            </a:avLst>
          </a:prstGeom>
          <a:solidFill>
            <a:srgbClr val="F2EFE9"/>
          </a:solidFill>
          <a:ln w="12700">
            <a:solidFill>
              <a:srgbClr val="F2EFE9"/>
            </a:solidFill>
            <a:prstDash val="solid"/>
          </a:ln>
        </p:spPr>
      </p:sp>
      <p:sp>
        <p:nvSpPr>
          <p:cNvPr id="10" name="Shape 8"/>
          <p:cNvSpPr/>
          <p:nvPr/>
        </p:nvSpPr>
        <p:spPr>
          <a:xfrm>
            <a:off x="877824" y="2907792"/>
            <a:ext cx="402336" cy="402336"/>
          </a:xfrm>
          <a:prstGeom prst="ellipse">
            <a:avLst/>
          </a:prstGeom>
          <a:solidFill>
            <a:srgbClr val="0094A0"/>
          </a:solidFill>
          <a:ln/>
        </p:spPr>
      </p:sp>
      <p:sp>
        <p:nvSpPr>
          <p:cNvPr id="11" name="Text 9"/>
          <p:cNvSpPr/>
          <p:nvPr/>
        </p:nvSpPr>
        <p:spPr>
          <a:xfrm>
            <a:off x="877824" y="29077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527048" y="2724912"/>
            <a:ext cx="9692640" cy="329184"/>
          </a:xfrm>
          <a:prstGeom prst="rect">
            <a:avLst/>
          </a:prstGeom>
          <a:noFill/>
          <a:ln/>
        </p:spPr>
        <p:txBody>
          <a:bodyPr wrap="square" lIns="0" tIns="0" rIns="0" bIns="0" rtlCol="0" anchor="ctr"/>
          <a:lstStyle/>
          <a:p>
            <a:pPr indent="0" marL="0">
              <a:buNone/>
            </a:pPr>
            <a:r>
              <a:rPr lang="en-US" sz="1550" b="1" dirty="0">
                <a:solidFill>
                  <a:srgbClr val="191714"/>
                </a:solidFill>
                <a:latin typeface="Calibri" pitchFamily="34" charset="0"/>
                <a:ea typeface="Calibri" pitchFamily="34" charset="-122"/>
                <a:cs typeface="Calibri" pitchFamily="34" charset="-120"/>
              </a:rPr>
              <a:t>Spend on bathrooms and above-grade space</a:t>
            </a:r>
            <a:endParaRPr lang="en-US" sz="1550" dirty="0"/>
          </a:p>
        </p:txBody>
      </p:sp>
      <p:sp>
        <p:nvSpPr>
          <p:cNvPr id="13" name="Text 11"/>
          <p:cNvSpPr/>
          <p:nvPr/>
        </p:nvSpPr>
        <p:spPr>
          <a:xfrm>
            <a:off x="1527048" y="3054096"/>
            <a:ext cx="9875520" cy="502920"/>
          </a:xfrm>
          <a:prstGeom prst="rect">
            <a:avLst/>
          </a:prstGeom>
          <a:noFill/>
          <a:ln/>
        </p:spPr>
        <p:txBody>
          <a:bodyPr wrap="square" lIns="0" tIns="0" rIns="0" bIns="0" rtlCol="0" anchor="t"/>
          <a:lstStyle/>
          <a:p>
            <a:pPr indent="0" marL="0">
              <a:buNone/>
            </a:pPr>
            <a:r>
              <a:rPr lang="en-US" sz="1250" dirty="0">
                <a:solidFill>
                  <a:srgbClr val="6B6358"/>
                </a:solidFill>
                <a:latin typeface="Calibri" pitchFamily="34" charset="0"/>
                <a:ea typeface="Calibri" pitchFamily="34" charset="-122"/>
                <a:cs typeface="Calibri" pitchFamily="34" charset="-120"/>
              </a:rPr>
              <a:t>+$40,432 for a bathroom and +$32,460 per condition point — against a loss of $11,576 for subdividing a bedroom and $5,971 per 100 sqft of basement.</a:t>
            </a:r>
            <a:endParaRPr lang="en-US" sz="1250" dirty="0"/>
          </a:p>
        </p:txBody>
      </p:sp>
      <p:sp>
        <p:nvSpPr>
          <p:cNvPr id="14" name="Shape 12"/>
          <p:cNvSpPr/>
          <p:nvPr/>
        </p:nvSpPr>
        <p:spPr>
          <a:xfrm>
            <a:off x="566928" y="3730752"/>
            <a:ext cx="11055096" cy="1005840"/>
          </a:xfrm>
          <a:prstGeom prst="roundRect">
            <a:avLst>
              <a:gd name="adj" fmla="val 5455"/>
            </a:avLst>
          </a:prstGeom>
          <a:solidFill>
            <a:srgbClr val="F2EFE9"/>
          </a:solidFill>
          <a:ln w="12700">
            <a:solidFill>
              <a:srgbClr val="F2EFE9"/>
            </a:solidFill>
            <a:prstDash val="solid"/>
          </a:ln>
        </p:spPr>
      </p:sp>
      <p:sp>
        <p:nvSpPr>
          <p:cNvPr id="15" name="Shape 13"/>
          <p:cNvSpPr/>
          <p:nvPr/>
        </p:nvSpPr>
        <p:spPr>
          <a:xfrm>
            <a:off x="877824" y="4041648"/>
            <a:ext cx="402336" cy="402336"/>
          </a:xfrm>
          <a:prstGeom prst="ellipse">
            <a:avLst/>
          </a:prstGeom>
          <a:solidFill>
            <a:srgbClr val="C07214"/>
          </a:solidFill>
          <a:ln/>
        </p:spPr>
      </p:sp>
      <p:sp>
        <p:nvSpPr>
          <p:cNvPr id="16" name="Text 14"/>
          <p:cNvSpPr/>
          <p:nvPr/>
        </p:nvSpPr>
        <p:spPr>
          <a:xfrm>
            <a:off x="877824" y="40416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527048" y="3858768"/>
            <a:ext cx="9692640" cy="329184"/>
          </a:xfrm>
          <a:prstGeom prst="rect">
            <a:avLst/>
          </a:prstGeom>
          <a:noFill/>
          <a:ln/>
        </p:spPr>
        <p:txBody>
          <a:bodyPr wrap="square" lIns="0" tIns="0" rIns="0" bIns="0" rtlCol="0" anchor="ctr"/>
          <a:lstStyle/>
          <a:p>
            <a:pPr indent="0" marL="0">
              <a:buNone/>
            </a:pPr>
            <a:r>
              <a:rPr lang="en-US" sz="1550" b="1" dirty="0">
                <a:solidFill>
                  <a:srgbClr val="191714"/>
                </a:solidFill>
                <a:latin typeface="Calibri" pitchFamily="34" charset="0"/>
                <a:ea typeface="Calibri" pitchFamily="34" charset="-122"/>
                <a:cs typeface="Calibri" pitchFamily="34" charset="-120"/>
              </a:rPr>
              <a:t>Budget renovations against 10%, not 23%</a:t>
            </a:r>
            <a:endParaRPr lang="en-US" sz="1550" dirty="0"/>
          </a:p>
        </p:txBody>
      </p:sp>
      <p:sp>
        <p:nvSpPr>
          <p:cNvPr id="18" name="Text 16"/>
          <p:cNvSpPr/>
          <p:nvPr/>
        </p:nvSpPr>
        <p:spPr>
          <a:xfrm>
            <a:off x="1527048" y="4187952"/>
            <a:ext cx="9875520" cy="502920"/>
          </a:xfrm>
          <a:prstGeom prst="rect">
            <a:avLst/>
          </a:prstGeom>
          <a:noFill/>
          <a:ln/>
        </p:spPr>
        <p:txBody>
          <a:bodyPr wrap="square" lIns="0" tIns="0" rIns="0" bIns="0" rtlCol="0" anchor="t"/>
          <a:lstStyle/>
          <a:p>
            <a:pPr indent="0" marL="0">
              <a:buNone/>
            </a:pPr>
            <a:r>
              <a:rPr lang="en-US" sz="1250" dirty="0">
                <a:solidFill>
                  <a:srgbClr val="6B6358"/>
                </a:solidFill>
                <a:latin typeface="Calibri" pitchFamily="34" charset="0"/>
                <a:ea typeface="Calibri" pitchFamily="34" charset="-122"/>
                <a:cs typeface="Calibri" pitchFamily="34" charset="-120"/>
              </a:rPr>
              <a:t>Break-even is about $47,663 on a median home. Require a contractor quote below it before approving the scheme.</a:t>
            </a:r>
            <a:endParaRPr lang="en-US" sz="1250" dirty="0"/>
          </a:p>
        </p:txBody>
      </p:sp>
      <p:sp>
        <p:nvSpPr>
          <p:cNvPr id="19" name="Shape 17"/>
          <p:cNvSpPr/>
          <p:nvPr/>
        </p:nvSpPr>
        <p:spPr>
          <a:xfrm>
            <a:off x="566928" y="4864608"/>
            <a:ext cx="11055096" cy="1005840"/>
          </a:xfrm>
          <a:prstGeom prst="roundRect">
            <a:avLst>
              <a:gd name="adj" fmla="val 5455"/>
            </a:avLst>
          </a:prstGeom>
          <a:solidFill>
            <a:srgbClr val="F2EFE9"/>
          </a:solidFill>
          <a:ln w="12700">
            <a:solidFill>
              <a:srgbClr val="F2EFE9"/>
            </a:solidFill>
            <a:prstDash val="solid"/>
          </a:ln>
        </p:spPr>
      </p:sp>
      <p:sp>
        <p:nvSpPr>
          <p:cNvPr id="20" name="Shape 18"/>
          <p:cNvSpPr/>
          <p:nvPr/>
        </p:nvSpPr>
        <p:spPr>
          <a:xfrm>
            <a:off x="877824" y="5175504"/>
            <a:ext cx="402336" cy="402336"/>
          </a:xfrm>
          <a:prstGeom prst="ellipse">
            <a:avLst/>
          </a:prstGeom>
          <a:solidFill>
            <a:srgbClr val="C07214"/>
          </a:solidFill>
          <a:ln/>
        </p:spPr>
      </p:sp>
      <p:sp>
        <p:nvSpPr>
          <p:cNvPr id="21" name="Text 19"/>
          <p:cNvSpPr/>
          <p:nvPr/>
        </p:nvSpPr>
        <p:spPr>
          <a:xfrm>
            <a:off x="877824" y="51755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527048" y="4992624"/>
            <a:ext cx="9692640" cy="329184"/>
          </a:xfrm>
          <a:prstGeom prst="rect">
            <a:avLst/>
          </a:prstGeom>
          <a:noFill/>
          <a:ln/>
        </p:spPr>
        <p:txBody>
          <a:bodyPr wrap="square" lIns="0" tIns="0" rIns="0" bIns="0" rtlCol="0" anchor="ctr"/>
          <a:lstStyle/>
          <a:p>
            <a:pPr indent="0" marL="0">
              <a:buNone/>
            </a:pPr>
            <a:r>
              <a:rPr lang="en-US" sz="1550" b="1" dirty="0">
                <a:solidFill>
                  <a:srgbClr val="191714"/>
                </a:solidFill>
                <a:latin typeface="Calibri" pitchFamily="34" charset="0"/>
                <a:ea typeface="Calibri" pitchFamily="34" charset="-122"/>
                <a:cs typeface="Calibri" pitchFamily="34" charset="-120"/>
              </a:rPr>
              <a:t>Screen at scale, appraise selectively</a:t>
            </a:r>
            <a:endParaRPr lang="en-US" sz="1550" dirty="0"/>
          </a:p>
        </p:txBody>
      </p:sp>
      <p:sp>
        <p:nvSpPr>
          <p:cNvPr id="23" name="Text 21"/>
          <p:cNvSpPr/>
          <p:nvPr/>
        </p:nvSpPr>
        <p:spPr>
          <a:xfrm>
            <a:off x="1527048" y="5321808"/>
            <a:ext cx="9875520" cy="502920"/>
          </a:xfrm>
          <a:prstGeom prst="rect">
            <a:avLst/>
          </a:prstGeom>
          <a:noFill/>
          <a:ln/>
        </p:spPr>
        <p:txBody>
          <a:bodyPr wrap="square" lIns="0" tIns="0" rIns="0" bIns="0" rtlCol="0" anchor="t"/>
          <a:lstStyle/>
          <a:p>
            <a:pPr indent="0" marL="0">
              <a:buNone/>
            </a:pPr>
            <a:r>
              <a:rPr lang="en-US" sz="1250" dirty="0">
                <a:solidFill>
                  <a:srgbClr val="6B6358"/>
                </a:solidFill>
                <a:latin typeface="Calibri" pitchFamily="34" charset="0"/>
                <a:ea typeface="Calibri" pitchFamily="34" charset="-122"/>
                <a:cs typeface="Calibri" pitchFamily="34" charset="-120"/>
              </a:rPr>
              <a:t>Run the portfolio through the model in a minute, then send a human to what it flags: the top decile, waterfront, and the Premium View segment — 8% of the market, where the error doubles.</a:t>
            </a:r>
            <a:endParaRPr lang="en-US" sz="1250" dirty="0"/>
          </a:p>
        </p:txBody>
      </p:sp>
      <p:sp>
        <p:nvSpPr>
          <p:cNvPr id="24" name="Text 22"/>
          <p:cNvSpPr/>
          <p:nvPr/>
        </p:nvSpPr>
        <p:spPr>
          <a:xfrm>
            <a:off x="566928" y="5989320"/>
            <a:ext cx="11055096" cy="411480"/>
          </a:xfrm>
          <a:prstGeom prst="rect">
            <a:avLst/>
          </a:prstGeom>
          <a:noFill/>
          <a:ln/>
        </p:spPr>
        <p:txBody>
          <a:bodyPr wrap="square" lIns="0" tIns="0" rIns="0" bIns="0" rtlCol="0" anchor="ctr"/>
          <a:lstStyle/>
          <a:p>
            <a:pPr indent="0" marL="0">
              <a:buNone/>
            </a:pPr>
            <a:r>
              <a:rPr lang="en-US" sz="1300" i="1" dirty="0">
                <a:solidFill>
                  <a:srgbClr val="6B6358"/>
                </a:solidFill>
                <a:latin typeface="Calibri" pitchFamily="34" charset="0"/>
                <a:ea typeface="Calibri" pitchFamily="34" charset="-122"/>
                <a:cs typeface="Calibri" pitchFamily="34" charset="-120"/>
              </a:rPr>
              <a:t>The commercial case is not accuracy. It is a defensible number, an honest range and a written reason, in a second, for nothing.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566928" y="420624"/>
            <a:ext cx="8229600" cy="237744"/>
          </a:xfrm>
          <a:prstGeom prst="rect">
            <a:avLst/>
          </a:prstGeom>
          <a:noFill/>
          <a:ln/>
        </p:spPr>
        <p:txBody>
          <a:bodyPr wrap="square" lIns="0" tIns="0" rIns="0" bIns="0" rtlCol="0" anchor="ctr"/>
          <a:lstStyle/>
          <a:p>
            <a:pPr indent="0" marL="0">
              <a:buNone/>
            </a:pPr>
            <a:r>
              <a:rPr lang="en-US" sz="1100" b="1" spc="220" kern="0" dirty="0">
                <a:solidFill>
                  <a:srgbClr val="C07214"/>
                </a:solidFill>
                <a:latin typeface="Calibri" pitchFamily="34" charset="0"/>
                <a:ea typeface="Calibri" pitchFamily="34" charset="-122"/>
                <a:cs typeface="Calibri" pitchFamily="34" charset="-120"/>
              </a:rPr>
              <a:t>MODELLING</a:t>
            </a:r>
            <a:endParaRPr lang="en-US" sz="1100" dirty="0"/>
          </a:p>
        </p:txBody>
      </p:sp>
      <p:sp>
        <p:nvSpPr>
          <p:cNvPr id="3" name="Text 1"/>
          <p:cNvSpPr/>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Seven models, one baseline that is not zero</a:t>
            </a:r>
            <a:endParaRPr lang="en-US" sz="3000" dirty="0"/>
          </a:p>
        </p:txBody>
      </p:sp>
      <p:pic>
        <p:nvPicPr>
          <p:cNvPr id="4" name="Image 0" descr="/root/proj/reports/slides/fig_model_comparison.png">    </p:cNvPr>
          <p:cNvPicPr>
            <a:picLocks noChangeAspect="1"/>
          </p:cNvPicPr>
          <p:nvPr/>
        </p:nvPicPr>
        <p:blipFill>
          <a:blip r:embed="rId1"/>
          <a:stretch>
            <a:fillRect/>
          </a:stretch>
        </p:blipFill>
        <p:spPr>
          <a:xfrm>
            <a:off x="566928" y="1417320"/>
            <a:ext cx="11064240" cy="3822192"/>
          </a:xfrm>
          <a:prstGeom prst="rect">
            <a:avLst/>
          </a:prstGeom>
        </p:spPr>
      </p:pic>
      <p:sp>
        <p:nvSpPr>
          <p:cNvPr id="5" name="Text 2"/>
          <p:cNvSpPr/>
          <p:nvPr/>
        </p:nvSpPr>
        <p:spPr>
          <a:xfrm>
            <a:off x="566928" y="5440680"/>
            <a:ext cx="11055096" cy="411480"/>
          </a:xfrm>
          <a:prstGeom prst="rect">
            <a:avLst/>
          </a:prstGeom>
          <a:noFill/>
          <a:ln/>
        </p:spPr>
        <p:txBody>
          <a:bodyPr wrap="square" lIns="0" tIns="0" rIns="0" bIns="0" rtlCol="0" anchor="ctr"/>
          <a:lstStyle/>
          <a:p>
            <a:pPr indent="0" marL="0">
              <a:buNone/>
            </a:pPr>
            <a:r>
              <a:rPr lang="en-US" sz="1300" i="1" dirty="0">
                <a:solidFill>
                  <a:srgbClr val="6B6358"/>
                </a:solidFill>
                <a:latin typeface="Calibri" pitchFamily="34" charset="0"/>
                <a:ea typeface="Calibri" pitchFamily="34" charset="-122"/>
                <a:cs typeface="Calibri" pitchFamily="34" charset="-120"/>
              </a:rPr>
              <a:t>Trained on 3,476 houses, scored on the same 869 none of them ever saw. A zip-median lookup — no model at all — scores 21.0%; every model here beats it, which is the least they should do.</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566928" y="420624"/>
            <a:ext cx="8229600" cy="237744"/>
          </a:xfrm>
          <a:prstGeom prst="rect">
            <a:avLst/>
          </a:prstGeom>
          <a:noFill/>
          <a:ln/>
        </p:spPr>
        <p:txBody>
          <a:bodyPr wrap="square" lIns="0" tIns="0" rIns="0" bIns="0" rtlCol="0" anchor="ctr"/>
          <a:lstStyle/>
          <a:p>
            <a:pPr indent="0" marL="0">
              <a:buNone/>
            </a:pPr>
            <a:r>
              <a:rPr lang="en-US" sz="1100" b="1" spc="220" kern="0" dirty="0">
                <a:solidFill>
                  <a:srgbClr val="C07214"/>
                </a:solidFill>
                <a:latin typeface="Calibri" pitchFamily="34" charset="0"/>
                <a:ea typeface="Calibri" pitchFamily="34" charset="-122"/>
                <a:cs typeface="Calibri" pitchFamily="34" charset="-120"/>
              </a:rPr>
              <a:t>THE TEST</a:t>
            </a:r>
            <a:endParaRPr lang="en-US" sz="1100" dirty="0"/>
          </a:p>
        </p:txBody>
      </p:sp>
      <p:sp>
        <p:nvSpPr>
          <p:cNvPr id="3" name="Text 1"/>
          <p:cNvSpPr/>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Is the winner actually better, or just luckier?</a:t>
            </a:r>
            <a:endParaRPr lang="en-US" sz="3000" dirty="0"/>
          </a:p>
        </p:txBody>
      </p:sp>
      <p:sp>
        <p:nvSpPr>
          <p:cNvPr id="4" name="Shape 2"/>
          <p:cNvSpPr/>
          <p:nvPr/>
        </p:nvSpPr>
        <p:spPr>
          <a:xfrm>
            <a:off x="566928" y="1463040"/>
            <a:ext cx="5349240" cy="2148840"/>
          </a:xfrm>
          <a:prstGeom prst="roundRect">
            <a:avLst>
              <a:gd name="adj" fmla="val 2553"/>
            </a:avLst>
          </a:prstGeom>
          <a:solidFill>
            <a:srgbClr val="F2EFE9"/>
          </a:solidFill>
          <a:ln w="12700">
            <a:solidFill>
              <a:srgbClr val="F2EFE9"/>
            </a:solidFill>
            <a:prstDash val="solid"/>
          </a:ln>
        </p:spPr>
      </p:sp>
      <p:sp>
        <p:nvSpPr>
          <p:cNvPr id="5" name="Text 3"/>
          <p:cNvSpPr/>
          <p:nvPr/>
        </p:nvSpPr>
        <p:spPr>
          <a:xfrm>
            <a:off x="886968" y="1645920"/>
            <a:ext cx="4663440" cy="292608"/>
          </a:xfrm>
          <a:prstGeom prst="rect">
            <a:avLst/>
          </a:prstGeom>
          <a:noFill/>
          <a:ln/>
        </p:spPr>
        <p:txBody>
          <a:bodyPr wrap="square" lIns="0" tIns="0" rIns="0" bIns="0" rtlCol="0" anchor="ctr"/>
          <a:lstStyle/>
          <a:p>
            <a:pPr indent="0" marL="0">
              <a:buNone/>
            </a:pPr>
            <a:r>
              <a:rPr lang="en-US" sz="1400" b="1" dirty="0">
                <a:solidFill>
                  <a:srgbClr val="6B6358"/>
                </a:solidFill>
                <a:latin typeface="Calibri" pitchFamily="34" charset="0"/>
                <a:ea typeface="Calibri" pitchFamily="34" charset="-122"/>
                <a:cs typeface="Calibri" pitchFamily="34" charset="-120"/>
              </a:rPr>
              <a:t>vs the Ridge baseline</a:t>
            </a:r>
            <a:endParaRPr lang="en-US" sz="1400" dirty="0"/>
          </a:p>
        </p:txBody>
      </p:sp>
      <p:sp>
        <p:nvSpPr>
          <p:cNvPr id="6" name="Text 4"/>
          <p:cNvSpPr/>
          <p:nvPr/>
        </p:nvSpPr>
        <p:spPr>
          <a:xfrm>
            <a:off x="886968" y="1938528"/>
            <a:ext cx="4663440" cy="685800"/>
          </a:xfrm>
          <a:prstGeom prst="rect">
            <a:avLst/>
          </a:prstGeom>
          <a:noFill/>
          <a:ln/>
        </p:spPr>
        <p:txBody>
          <a:bodyPr wrap="square" lIns="0" tIns="0" rIns="0" bIns="0" rtlCol="0" anchor="ctr"/>
          <a:lstStyle/>
          <a:p>
            <a:pPr indent="0" marL="0">
              <a:buNone/>
            </a:pPr>
            <a:r>
              <a:rPr lang="en-US" sz="3800" b="1" dirty="0">
                <a:solidFill>
                  <a:srgbClr val="C07214"/>
                </a:solidFill>
                <a:latin typeface="Cambria" pitchFamily="34" charset="0"/>
                <a:ea typeface="Cambria" pitchFamily="34" charset="-122"/>
                <a:cs typeface="Cambria" pitchFamily="34" charset="-120"/>
              </a:rPr>
              <a:t>-1.98 pp</a:t>
            </a:r>
            <a:endParaRPr lang="en-US" sz="3800" dirty="0"/>
          </a:p>
        </p:txBody>
      </p:sp>
      <p:sp>
        <p:nvSpPr>
          <p:cNvPr id="7" name="Text 5"/>
          <p:cNvSpPr/>
          <p:nvPr/>
        </p:nvSpPr>
        <p:spPr>
          <a:xfrm>
            <a:off x="886968" y="2651760"/>
            <a:ext cx="4663440" cy="731520"/>
          </a:xfrm>
          <a:prstGeom prst="rect">
            <a:avLst/>
          </a:prstGeom>
          <a:noFill/>
          <a:ln/>
        </p:spPr>
        <p:txBody>
          <a:bodyPr wrap="square" lIns="0" tIns="0" rIns="0" bIns="0" rtlCol="0" anchor="ctr"/>
          <a:lstStyle/>
          <a:p>
            <a:pPr indent="0" marL="0">
              <a:buNone/>
            </a:pPr>
            <a:r>
              <a:rPr lang="en-US" sz="1350" dirty="0">
                <a:solidFill>
                  <a:srgbClr val="6B6358"/>
                </a:solidFill>
                <a:latin typeface="Calibri" pitchFamily="34" charset="0"/>
                <a:ea typeface="Calibri" pitchFamily="34" charset="-122"/>
                <a:cs typeface="Calibri" pitchFamily="34" charset="-120"/>
              </a:rPr>
              <a:t>95% bootstrap CI [-3.06, -0.89]</a:t>
            </a:r>
            <a:endParaRPr lang="en-US" sz="1350" dirty="0"/>
          </a:p>
          <a:p>
            <a:pPr indent="0" marL="0">
              <a:buNone/>
            </a:pPr>
            <a:r>
              <a:rPr lang="en-US" sz="1350" dirty="0">
                <a:solidFill>
                  <a:srgbClr val="6B6358"/>
                </a:solidFill>
                <a:latin typeface="Calibri" pitchFamily="34" charset="0"/>
                <a:ea typeface="Calibri" pitchFamily="34" charset="-122"/>
                <a:cs typeface="Calibri" pitchFamily="34" charset="-120"/>
              </a:rPr>
              <a:t>Wilcoxon p ≈ 1e−7   →   a real difference</a:t>
            </a:r>
            <a:endParaRPr lang="en-US" sz="1350" dirty="0"/>
          </a:p>
        </p:txBody>
      </p:sp>
      <p:sp>
        <p:nvSpPr>
          <p:cNvPr id="8" name="Shape 6"/>
          <p:cNvSpPr/>
          <p:nvPr/>
        </p:nvSpPr>
        <p:spPr>
          <a:xfrm>
            <a:off x="6281928" y="1463040"/>
            <a:ext cx="5349240" cy="2148840"/>
          </a:xfrm>
          <a:prstGeom prst="roundRect">
            <a:avLst>
              <a:gd name="adj" fmla="val 2553"/>
            </a:avLst>
          </a:prstGeom>
          <a:solidFill>
            <a:srgbClr val="F2EFE9"/>
          </a:solidFill>
          <a:ln w="12700">
            <a:solidFill>
              <a:srgbClr val="F2EFE9"/>
            </a:solidFill>
            <a:prstDash val="solid"/>
          </a:ln>
        </p:spPr>
      </p:sp>
      <p:sp>
        <p:nvSpPr>
          <p:cNvPr id="9" name="Text 7"/>
          <p:cNvSpPr/>
          <p:nvPr/>
        </p:nvSpPr>
        <p:spPr>
          <a:xfrm>
            <a:off x="6601968" y="1645920"/>
            <a:ext cx="4663440" cy="292608"/>
          </a:xfrm>
          <a:prstGeom prst="rect">
            <a:avLst/>
          </a:prstGeom>
          <a:noFill/>
          <a:ln/>
        </p:spPr>
        <p:txBody>
          <a:bodyPr wrap="square" lIns="0" tIns="0" rIns="0" bIns="0" rtlCol="0" anchor="ctr"/>
          <a:lstStyle/>
          <a:p>
            <a:pPr indent="0" marL="0">
              <a:buNone/>
            </a:pPr>
            <a:r>
              <a:rPr lang="en-US" sz="1400" b="1" dirty="0">
                <a:solidFill>
                  <a:srgbClr val="6B6358"/>
                </a:solidFill>
                <a:latin typeface="Calibri" pitchFamily="34" charset="0"/>
                <a:ea typeface="Calibri" pitchFamily="34" charset="-122"/>
                <a:cs typeface="Calibri" pitchFamily="34" charset="-120"/>
              </a:rPr>
              <a:t>vs tuned XGBoost</a:t>
            </a:r>
            <a:endParaRPr lang="en-US" sz="1400" dirty="0"/>
          </a:p>
        </p:txBody>
      </p:sp>
      <p:sp>
        <p:nvSpPr>
          <p:cNvPr id="10" name="Text 8"/>
          <p:cNvSpPr/>
          <p:nvPr/>
        </p:nvSpPr>
        <p:spPr>
          <a:xfrm>
            <a:off x="6601968" y="1938528"/>
            <a:ext cx="4663440" cy="685800"/>
          </a:xfrm>
          <a:prstGeom prst="rect">
            <a:avLst/>
          </a:prstGeom>
          <a:noFill/>
          <a:ln/>
        </p:spPr>
        <p:txBody>
          <a:bodyPr wrap="square" lIns="0" tIns="0" rIns="0" bIns="0" rtlCol="0" anchor="ctr"/>
          <a:lstStyle/>
          <a:p>
            <a:pPr indent="0" marL="0">
              <a:buNone/>
            </a:pPr>
            <a:r>
              <a:rPr lang="en-US" sz="3800" b="1" dirty="0">
                <a:solidFill>
                  <a:srgbClr val="6B6358"/>
                </a:solidFill>
                <a:latin typeface="Cambria" pitchFamily="34" charset="0"/>
                <a:ea typeface="Cambria" pitchFamily="34" charset="-122"/>
                <a:cs typeface="Cambria" pitchFamily="34" charset="-120"/>
              </a:rPr>
              <a:t>-0.24 pp</a:t>
            </a:r>
            <a:endParaRPr lang="en-US" sz="3800" dirty="0"/>
          </a:p>
        </p:txBody>
      </p:sp>
      <p:sp>
        <p:nvSpPr>
          <p:cNvPr id="11" name="Text 9"/>
          <p:cNvSpPr/>
          <p:nvPr/>
        </p:nvSpPr>
        <p:spPr>
          <a:xfrm>
            <a:off x="6601968" y="2651760"/>
            <a:ext cx="4663440" cy="731520"/>
          </a:xfrm>
          <a:prstGeom prst="rect">
            <a:avLst/>
          </a:prstGeom>
          <a:noFill/>
          <a:ln/>
        </p:spPr>
        <p:txBody>
          <a:bodyPr wrap="square" lIns="0" tIns="0" rIns="0" bIns="0" rtlCol="0" anchor="ctr"/>
          <a:lstStyle/>
          <a:p>
            <a:pPr indent="0" marL="0">
              <a:buNone/>
            </a:pPr>
            <a:r>
              <a:rPr lang="en-US" sz="1350" dirty="0">
                <a:solidFill>
                  <a:srgbClr val="6B6358"/>
                </a:solidFill>
                <a:latin typeface="Calibri" pitchFamily="34" charset="0"/>
                <a:ea typeface="Calibri" pitchFamily="34" charset="-122"/>
                <a:cs typeface="Calibri" pitchFamily="34" charset="-120"/>
              </a:rPr>
              <a:t>95% bootstrap CI [-0.92, +0.40]</a:t>
            </a:r>
            <a:endParaRPr lang="en-US" sz="1350" dirty="0"/>
          </a:p>
          <a:p>
            <a:pPr indent="0" marL="0">
              <a:buNone/>
            </a:pPr>
            <a:r>
              <a:rPr lang="en-US" sz="1350" dirty="0">
                <a:solidFill>
                  <a:srgbClr val="6B6358"/>
                </a:solidFill>
                <a:latin typeface="Calibri" pitchFamily="34" charset="0"/>
                <a:ea typeface="Calibri" pitchFamily="34" charset="-122"/>
                <a:cs typeface="Calibri" pitchFamily="34" charset="-120"/>
              </a:rPr>
              <a:t>Wilcoxon p = 0.12   →   not distinguishable</a:t>
            </a:r>
            <a:endParaRPr lang="en-US" sz="1350" dirty="0"/>
          </a:p>
        </p:txBody>
      </p:sp>
      <p:sp>
        <p:nvSpPr>
          <p:cNvPr id="12" name="Shape 10"/>
          <p:cNvSpPr/>
          <p:nvPr/>
        </p:nvSpPr>
        <p:spPr>
          <a:xfrm>
            <a:off x="566928" y="3794760"/>
            <a:ext cx="11055096" cy="1371600"/>
          </a:xfrm>
          <a:prstGeom prst="roundRect">
            <a:avLst>
              <a:gd name="adj" fmla="val 4000"/>
            </a:avLst>
          </a:prstGeom>
          <a:solidFill>
            <a:srgbClr val="F6EEEB"/>
          </a:solidFill>
          <a:ln w="12700">
            <a:solidFill>
              <a:srgbClr val="F6EEEB"/>
            </a:solidFill>
            <a:prstDash val="solid"/>
          </a:ln>
        </p:spPr>
      </p:sp>
      <p:sp>
        <p:nvSpPr>
          <p:cNvPr id="13" name="Text 11"/>
          <p:cNvSpPr/>
          <p:nvPr/>
        </p:nvSpPr>
        <p:spPr>
          <a:xfrm>
            <a:off x="932688" y="3959352"/>
            <a:ext cx="10515600" cy="347472"/>
          </a:xfrm>
          <a:prstGeom prst="rect">
            <a:avLst/>
          </a:prstGeom>
          <a:noFill/>
          <a:ln/>
        </p:spPr>
        <p:txBody>
          <a:bodyPr wrap="square" lIns="0" tIns="0" rIns="0" bIns="0" rtlCol="0" anchor="ctr"/>
          <a:lstStyle/>
          <a:p>
            <a:pPr indent="0" marL="0">
              <a:buNone/>
            </a:pPr>
            <a:r>
              <a:rPr lang="en-US" sz="1650" b="1" dirty="0">
                <a:solidFill>
                  <a:srgbClr val="191714"/>
                </a:solidFill>
                <a:latin typeface="Calibri" pitchFamily="34" charset="0"/>
                <a:ea typeface="Calibri" pitchFamily="34" charset="-122"/>
                <a:cs typeface="Calibri" pitchFamily="34" charset="-120"/>
              </a:rPr>
              <a:t>And on two other metrics, XGBoost wins.</a:t>
            </a:r>
            <a:endParaRPr lang="en-US" sz="1650" dirty="0"/>
          </a:p>
        </p:txBody>
      </p:sp>
      <p:sp>
        <p:nvSpPr>
          <p:cNvPr id="14" name="Text 12"/>
          <p:cNvSpPr/>
          <p:nvPr/>
        </p:nvSpPr>
        <p:spPr>
          <a:xfrm>
            <a:off x="932688" y="4315968"/>
            <a:ext cx="10515600" cy="685800"/>
          </a:xfrm>
          <a:prstGeom prst="rect">
            <a:avLst/>
          </a:prstGeom>
          <a:noFill/>
          <a:ln/>
        </p:spPr>
        <p:txBody>
          <a:bodyPr wrap="square" lIns="0" tIns="0" rIns="0" bIns="0" rtlCol="0" anchor="ctr"/>
          <a:lstStyle/>
          <a:p>
            <a:pPr indent="0" marL="0">
              <a:buNone/>
            </a:pPr>
            <a:r>
              <a:rPr lang="en-US" sz="1350" dirty="0">
                <a:solidFill>
                  <a:srgbClr val="6B6358"/>
                </a:solidFill>
                <a:latin typeface="Calibri" pitchFamily="34" charset="0"/>
                <a:ea typeface="Calibri" pitchFamily="34" charset="-122"/>
                <a:cs typeface="Calibri" pitchFamily="34" charset="-120"/>
              </a:rPr>
              <a:t>R² 0.8668 against 0.8627, and mean percentage error 14.38% against 14.58%. I am not going to hide that behind the one metric my model happens to win. Three comparisons, no separation: these two models are the same model as far as this test set can tell.</a:t>
            </a:r>
            <a:endParaRPr lang="en-US" sz="1350" dirty="0"/>
          </a:p>
        </p:txBody>
      </p:sp>
      <p:sp>
        <p:nvSpPr>
          <p:cNvPr id="15" name="Shape 13"/>
          <p:cNvSpPr/>
          <p:nvPr/>
        </p:nvSpPr>
        <p:spPr>
          <a:xfrm>
            <a:off x="566928" y="5349240"/>
            <a:ext cx="11055096" cy="1051560"/>
          </a:xfrm>
          <a:prstGeom prst="roundRect">
            <a:avLst>
              <a:gd name="adj" fmla="val 5217"/>
            </a:avLst>
          </a:prstGeom>
          <a:solidFill>
            <a:srgbClr val="FAF0E2"/>
          </a:solidFill>
          <a:ln w="12700">
            <a:solidFill>
              <a:srgbClr val="FAF0E2"/>
            </a:solidFill>
            <a:prstDash val="solid"/>
          </a:ln>
        </p:spPr>
      </p:sp>
      <p:sp>
        <p:nvSpPr>
          <p:cNvPr id="16" name="Text 14"/>
          <p:cNvSpPr/>
          <p:nvPr/>
        </p:nvSpPr>
        <p:spPr>
          <a:xfrm>
            <a:off x="932688" y="5559552"/>
            <a:ext cx="10515600" cy="365760"/>
          </a:xfrm>
          <a:prstGeom prst="rect">
            <a:avLst/>
          </a:prstGeom>
          <a:noFill/>
          <a:ln/>
        </p:spPr>
        <p:txBody>
          <a:bodyPr wrap="square" lIns="0" tIns="0" rIns="0" bIns="0" rtlCol="0" anchor="ctr"/>
          <a:lstStyle/>
          <a:p>
            <a:pPr indent="0" marL="0">
              <a:buNone/>
            </a:pPr>
            <a:r>
              <a:rPr lang="en-US" sz="1700" b="1" dirty="0">
                <a:solidFill>
                  <a:srgbClr val="191714"/>
                </a:solidFill>
                <a:latin typeface="Calibri" pitchFamily="34" charset="0"/>
                <a:ea typeface="Calibri" pitchFamily="34" charset="-122"/>
                <a:cs typeface="Calibri" pitchFamily="34" charset="-120"/>
              </a:rPr>
              <a:t>So the accuracy metrics cannot pick the winner. Something else has to.</a:t>
            </a:r>
            <a:endParaRPr lang="en-US" sz="1700" dirty="0"/>
          </a:p>
        </p:txBody>
      </p:sp>
      <p:sp>
        <p:nvSpPr>
          <p:cNvPr id="17" name="Text 15"/>
          <p:cNvSpPr/>
          <p:nvPr/>
        </p:nvSpPr>
        <p:spPr>
          <a:xfrm>
            <a:off x="932688" y="5925312"/>
            <a:ext cx="10515600" cy="365760"/>
          </a:xfrm>
          <a:prstGeom prst="rect">
            <a:avLst/>
          </a:prstGeom>
          <a:noFill/>
          <a:ln/>
        </p:spPr>
        <p:txBody>
          <a:bodyPr wrap="square" lIns="0" tIns="0" rIns="0" bIns="0" rtlCol="0" anchor="ctr"/>
          <a:lstStyle/>
          <a:p>
            <a:pPr indent="0" marL="0">
              <a:buNone/>
            </a:pPr>
            <a:r>
              <a:rPr lang="en-US" sz="1300" dirty="0">
                <a:solidFill>
                  <a:srgbClr val="6B6358"/>
                </a:solidFill>
                <a:latin typeface="Calibri" pitchFamily="34" charset="0"/>
                <a:ea typeface="Calibri" pitchFamily="34" charset="-122"/>
                <a:cs typeface="Calibri" pitchFamily="34" charset="-120"/>
              </a:rPr>
              <a:t>Two models I cannot tell apart are not two equally good products — the tie-break has to come from outside the leaderboard.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566928" y="420624"/>
            <a:ext cx="8229600" cy="237744"/>
          </a:xfrm>
          <a:prstGeom prst="rect">
            <a:avLst/>
          </a:prstGeom>
          <a:noFill/>
          <a:ln/>
        </p:spPr>
        <p:txBody>
          <a:bodyPr wrap="square" lIns="0" tIns="0" rIns="0" bIns="0" rtlCol="0" anchor="ctr"/>
          <a:lstStyle/>
          <a:p>
            <a:pPr indent="0" marL="0">
              <a:buNone/>
            </a:pPr>
            <a:r>
              <a:rPr lang="en-US" sz="1100" b="1" spc="220" kern="0" dirty="0">
                <a:solidFill>
                  <a:srgbClr val="C07214"/>
                </a:solidFill>
                <a:latin typeface="Calibri" pitchFamily="34" charset="0"/>
                <a:ea typeface="Calibri" pitchFamily="34" charset="-122"/>
                <a:cs typeface="Calibri" pitchFamily="34" charset="-120"/>
              </a:rPr>
              <a:t>FAIRNESS</a:t>
            </a:r>
            <a:endParaRPr lang="en-US" sz="1100" dirty="0"/>
          </a:p>
        </p:txBody>
      </p:sp>
      <p:sp>
        <p:nvSpPr>
          <p:cNvPr id="3" name="Text 1"/>
          <p:cNvSpPr/>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The ratio study narrows four models to two</a:t>
            </a:r>
            <a:endParaRPr lang="en-US" sz="3000" dirty="0"/>
          </a:p>
        </p:txBody>
      </p:sp>
      <p:pic>
        <p:nvPicPr>
          <p:cNvPr id="4" name="Image 0" descr="/root/proj/reports/slides/fig_iaao.png">    </p:cNvPr>
          <p:cNvPicPr>
            <a:picLocks noChangeAspect="1"/>
          </p:cNvPicPr>
          <p:nvPr/>
        </p:nvPicPr>
        <p:blipFill>
          <a:blip r:embed="rId1"/>
          <a:stretch>
            <a:fillRect/>
          </a:stretch>
        </p:blipFill>
        <p:spPr>
          <a:xfrm>
            <a:off x="566928" y="1298448"/>
            <a:ext cx="10561320" cy="2926080"/>
          </a:xfrm>
          <a:prstGeom prst="rect">
            <a:avLst/>
          </a:prstGeom>
        </p:spPr>
      </p:pic>
      <p:sp>
        <p:nvSpPr>
          <p:cNvPr id="5" name="Shape 2"/>
          <p:cNvSpPr/>
          <p:nvPr/>
        </p:nvSpPr>
        <p:spPr>
          <a:xfrm>
            <a:off x="566928" y="4315968"/>
            <a:ext cx="11055096" cy="1325880"/>
          </a:xfrm>
          <a:prstGeom prst="roundRect">
            <a:avLst>
              <a:gd name="adj" fmla="val 4138"/>
            </a:avLst>
          </a:prstGeom>
          <a:solidFill>
            <a:srgbClr val="F2EFE9"/>
          </a:solidFill>
          <a:ln w="12700">
            <a:solidFill>
              <a:srgbClr val="F2EFE9"/>
            </a:solidFill>
            <a:prstDash val="solid"/>
          </a:ln>
        </p:spPr>
      </p:sp>
      <p:sp>
        <p:nvSpPr>
          <p:cNvPr id="6" name="Text 3"/>
          <p:cNvSpPr/>
          <p:nvPr/>
        </p:nvSpPr>
        <p:spPr>
          <a:xfrm>
            <a:off x="932688" y="4462272"/>
            <a:ext cx="10515600" cy="347472"/>
          </a:xfrm>
          <a:prstGeom prst="rect">
            <a:avLst/>
          </a:prstGeom>
          <a:noFill/>
          <a:ln/>
        </p:spPr>
        <p:txBody>
          <a:bodyPr wrap="square" lIns="0" tIns="0" rIns="0" bIns="0" rtlCol="0" anchor="ctr"/>
          <a:lstStyle/>
          <a:p>
            <a:pPr indent="0" marL="0">
              <a:buNone/>
            </a:pPr>
            <a:r>
              <a:rPr lang="en-US" sz="1600" b="1" dirty="0">
                <a:solidFill>
                  <a:srgbClr val="191714"/>
                </a:solidFill>
                <a:latin typeface="Calibri" pitchFamily="34" charset="0"/>
                <a:ea typeface="Calibri" pitchFamily="34" charset="-122"/>
                <a:cs typeface="Calibri" pitchFamily="34" charset="-120"/>
              </a:rPr>
              <a:t>PRD is a fairness test, not an accuracy test.</a:t>
            </a:r>
            <a:endParaRPr lang="en-US" sz="1600" dirty="0"/>
          </a:p>
        </p:txBody>
      </p:sp>
      <p:sp>
        <p:nvSpPr>
          <p:cNvPr id="7" name="Text 4"/>
          <p:cNvSpPr/>
          <p:nvPr/>
        </p:nvSpPr>
        <p:spPr>
          <a:xfrm>
            <a:off x="932688" y="4809744"/>
            <a:ext cx="10515600" cy="731520"/>
          </a:xfrm>
          <a:prstGeom prst="rect">
            <a:avLst/>
          </a:prstGeom>
          <a:noFill/>
          <a:ln/>
        </p:spPr>
        <p:txBody>
          <a:bodyPr wrap="square" lIns="0" tIns="0" rIns="0" bIns="0" rtlCol="0" anchor="ctr"/>
          <a:lstStyle/>
          <a:p>
            <a:pPr indent="0" marL="0">
              <a:buNone/>
            </a:pPr>
            <a:r>
              <a:rPr lang="en-US" sz="1300" dirty="0">
                <a:solidFill>
                  <a:srgbClr val="6B6358"/>
                </a:solidFill>
                <a:latin typeface="Calibri" pitchFamily="34" charset="0"/>
                <a:ea typeface="Calibri" pitchFamily="34" charset="-122"/>
                <a:cs typeface="Calibri" pitchFamily="34" charset="-120"/>
              </a:rPr>
              <a:t>A model can be accurate on average while over-valuing cheap homes and under-valuing expensive ones — in a tax assessment that means poorer owners subsidise wealthier ones, and it is invisible in R² and in MAPE. Ridge fails consistency (COD 16.9); Random Forest fails vertical equity (PRD 1.043). Gradient boosting and XGBoost both pass all three.</a:t>
            </a:r>
            <a:endParaRPr lang="en-US" sz="1300" dirty="0"/>
          </a:p>
        </p:txBody>
      </p:sp>
      <p:sp>
        <p:nvSpPr>
          <p:cNvPr id="8" name="Shape 5"/>
          <p:cNvSpPr/>
          <p:nvPr/>
        </p:nvSpPr>
        <p:spPr>
          <a:xfrm>
            <a:off x="566928" y="5724144"/>
            <a:ext cx="11055096" cy="621792"/>
          </a:xfrm>
          <a:prstGeom prst="roundRect">
            <a:avLst>
              <a:gd name="adj" fmla="val 8824"/>
            </a:avLst>
          </a:prstGeom>
          <a:solidFill>
            <a:srgbClr val="FAF0E2"/>
          </a:solidFill>
          <a:ln w="12700">
            <a:solidFill>
              <a:srgbClr val="FAF0E2"/>
            </a:solidFill>
            <a:prstDash val="solid"/>
          </a:ln>
        </p:spPr>
      </p:sp>
      <p:sp>
        <p:nvSpPr>
          <p:cNvPr id="9" name="Text 6"/>
          <p:cNvSpPr/>
          <p:nvPr/>
        </p:nvSpPr>
        <p:spPr>
          <a:xfrm>
            <a:off x="932688" y="5852160"/>
            <a:ext cx="10515600" cy="384048"/>
          </a:xfrm>
          <a:prstGeom prst="rect">
            <a:avLst/>
          </a:prstGeom>
          <a:noFill/>
          <a:ln/>
        </p:spPr>
        <p:txBody>
          <a:bodyPr wrap="square" lIns="0" tIns="0" rIns="0" bIns="0" rtlCol="0" anchor="ctr"/>
          <a:lstStyle/>
          <a:p>
            <a:pPr indent="0" marL="0">
              <a:buNone/>
            </a:pPr>
            <a:r>
              <a:rPr lang="en-US" sz="1300" b="1" dirty="0">
                <a:solidFill>
                  <a:srgbClr val="191714"/>
                </a:solidFill>
                <a:latin typeface="Calibri" pitchFamily="34" charset="0"/>
                <a:ea typeface="Calibri" pitchFamily="34" charset="-122"/>
                <a:cs typeface="Calibri" pitchFamily="34" charset="-120"/>
              </a:rPr>
              <a:t>Final choice, stated as what it is: two models are tied, so I shipped the one that needs no extra dependency to deploy and that won the metric I named in advance.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566928" y="420624"/>
            <a:ext cx="8229600" cy="237744"/>
          </a:xfrm>
          <a:prstGeom prst="rect">
            <a:avLst/>
          </a:prstGeom>
          <a:noFill/>
          <a:ln/>
        </p:spPr>
        <p:txBody>
          <a:bodyPr wrap="square" lIns="0" tIns="0" rIns="0" bIns="0" rtlCol="0" anchor="ctr"/>
          <a:lstStyle/>
          <a:p>
            <a:pPr indent="0" marL="0">
              <a:buNone/>
            </a:pPr>
            <a:r>
              <a:rPr lang="en-US" sz="1100" b="1" spc="220" kern="0" dirty="0">
                <a:solidFill>
                  <a:srgbClr val="C07214"/>
                </a:solidFill>
                <a:latin typeface="Calibri" pitchFamily="34" charset="0"/>
                <a:ea typeface="Calibri" pitchFamily="34" charset="-122"/>
                <a:cs typeface="Calibri" pitchFamily="34" charset="-120"/>
              </a:rPr>
              <a:t>BENCHMARK</a:t>
            </a:r>
            <a:endParaRPr lang="en-US" sz="1100" dirty="0"/>
          </a:p>
        </p:txBody>
      </p:sp>
      <p:sp>
        <p:nvSpPr>
          <p:cNvPr id="3" name="Text 1"/>
          <p:cNvSpPr/>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10.5% — good, bad, or neither?</a:t>
            </a:r>
            <a:endParaRPr lang="en-US" sz="3000" dirty="0"/>
          </a:p>
        </p:txBody>
      </p:sp>
      <p:pic>
        <p:nvPicPr>
          <p:cNvPr id="4" name="Image 0" descr="/root/proj/reports/slides/fig_benchmark.png">    </p:cNvPr>
          <p:cNvPicPr>
            <a:picLocks noChangeAspect="1"/>
          </p:cNvPicPr>
          <p:nvPr/>
        </p:nvPicPr>
        <p:blipFill>
          <a:blip r:embed="rId1"/>
          <a:stretch>
            <a:fillRect/>
          </a:stretch>
        </p:blipFill>
        <p:spPr>
          <a:xfrm>
            <a:off x="566928" y="1463040"/>
            <a:ext cx="11064240" cy="3419856"/>
          </a:xfrm>
          <a:prstGeom prst="rect">
            <a:avLst/>
          </a:prstGeom>
        </p:spPr>
      </p:pic>
      <p:sp>
        <p:nvSpPr>
          <p:cNvPr id="5" name="Shape 2"/>
          <p:cNvSpPr/>
          <p:nvPr/>
        </p:nvSpPr>
        <p:spPr>
          <a:xfrm>
            <a:off x="566928" y="5029200"/>
            <a:ext cx="11055096" cy="1371600"/>
          </a:xfrm>
          <a:prstGeom prst="roundRect">
            <a:avLst>
              <a:gd name="adj" fmla="val 4000"/>
            </a:avLst>
          </a:prstGeom>
          <a:solidFill>
            <a:srgbClr val="F2EFE9"/>
          </a:solidFill>
          <a:ln w="12700">
            <a:solidFill>
              <a:srgbClr val="F2EFE9"/>
            </a:solidFill>
            <a:prstDash val="solid"/>
          </a:ln>
        </p:spPr>
      </p:sp>
      <p:sp>
        <p:nvSpPr>
          <p:cNvPr id="6" name="Text 3"/>
          <p:cNvSpPr/>
          <p:nvPr/>
        </p:nvSpPr>
        <p:spPr>
          <a:xfrm>
            <a:off x="932688" y="5193792"/>
            <a:ext cx="10515600" cy="347472"/>
          </a:xfrm>
          <a:prstGeom prst="rect">
            <a:avLst/>
          </a:prstGeom>
          <a:noFill/>
          <a:ln/>
        </p:spPr>
        <p:txBody>
          <a:bodyPr wrap="square" lIns="0" tIns="0" rIns="0" bIns="0" rtlCol="0" anchor="ctr"/>
          <a:lstStyle/>
          <a:p>
            <a:pPr indent="0" marL="0">
              <a:buNone/>
            </a:pPr>
            <a:r>
              <a:rPr lang="en-US" sz="1600" b="1" dirty="0">
                <a:solidFill>
                  <a:srgbClr val="191714"/>
                </a:solidFill>
                <a:latin typeface="Calibri" pitchFamily="34" charset="0"/>
                <a:ea typeface="Calibri" pitchFamily="34" charset="-122"/>
                <a:cs typeface="Calibri" pitchFamily="34" charset="-120"/>
              </a:rPr>
              <a:t>The fairer reference point is the off-market one.</a:t>
            </a:r>
            <a:endParaRPr lang="en-US" sz="1600" dirty="0"/>
          </a:p>
        </p:txBody>
      </p:sp>
      <p:sp>
        <p:nvSpPr>
          <p:cNvPr id="7" name="Text 4"/>
          <p:cNvSpPr/>
          <p:nvPr/>
        </p:nvSpPr>
        <p:spPr>
          <a:xfrm>
            <a:off x="932688" y="5559552"/>
            <a:ext cx="10515600" cy="731520"/>
          </a:xfrm>
          <a:prstGeom prst="rect">
            <a:avLst/>
          </a:prstGeom>
          <a:noFill/>
          <a:ln/>
        </p:spPr>
        <p:txBody>
          <a:bodyPr wrap="square" lIns="0" tIns="0" rIns="0" bIns="0" rtlCol="0" anchor="ctr"/>
          <a:lstStyle/>
          <a:p>
            <a:pPr indent="0" marL="0">
              <a:buNone/>
            </a:pPr>
            <a:r>
              <a:rPr lang="en-US" sz="1350" dirty="0">
                <a:solidFill>
                  <a:srgbClr val="6B6358"/>
                </a:solidFill>
                <a:latin typeface="Calibri" pitchFamily="34" charset="0"/>
                <a:ea typeface="Calibri" pitchFamily="34" charset="-122"/>
                <a:cs typeface="Calibri" pitchFamily="34" charset="-120"/>
              </a:rPr>
              <a:t>Zillow's own published figures: 7.0% median error off-market, 1.8% on-market, where the model can see the asking price (zillow.com, checked 24 September 2026). Mine has no asking price; it sees 20 columns and ten weeks of 2014 in one county. Different market, years and data: context, not a head-to-head. 48% of my valuations land within 10% of the sale price.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566928" y="420624"/>
            <a:ext cx="8229600" cy="237744"/>
          </a:xfrm>
          <a:prstGeom prst="rect">
            <a:avLst/>
          </a:prstGeom>
          <a:noFill/>
          <a:ln/>
        </p:spPr>
        <p:txBody>
          <a:bodyPr wrap="square" lIns="0" tIns="0" rIns="0" bIns="0" rtlCol="0" anchor="ctr"/>
          <a:lstStyle/>
          <a:p>
            <a:pPr indent="0" marL="0">
              <a:buNone/>
            </a:pPr>
            <a:r>
              <a:rPr lang="en-US" sz="1100" b="1" spc="220" kern="0" dirty="0">
                <a:solidFill>
                  <a:srgbClr val="C07214"/>
                </a:solidFill>
                <a:latin typeface="Calibri" pitchFamily="34" charset="0"/>
                <a:ea typeface="Calibri" pitchFamily="34" charset="-122"/>
                <a:cs typeface="Calibri" pitchFamily="34" charset="-120"/>
              </a:rPr>
              <a:t>LIMITATIONS, MEASURED</a:t>
            </a:r>
            <a:endParaRPr lang="en-US" sz="1100" dirty="0"/>
          </a:p>
        </p:txBody>
      </p:sp>
      <p:sp>
        <p:nvSpPr>
          <p:cNvPr id="3" name="Text 1"/>
          <p:cNvSpPr/>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Where it is wrong — said before anyone asks</a:t>
            </a:r>
            <a:endParaRPr lang="en-US" sz="3000" dirty="0"/>
          </a:p>
        </p:txBody>
      </p:sp>
      <p:pic>
        <p:nvPicPr>
          <p:cNvPr id="4" name="Image 0" descr="/root/proj/reports/slides/fig_error_by_decile.png">    </p:cNvPr>
          <p:cNvPicPr>
            <a:picLocks noChangeAspect="1"/>
          </p:cNvPicPr>
          <p:nvPr/>
        </p:nvPicPr>
        <p:blipFill>
          <a:blip r:embed="rId1"/>
          <a:stretch>
            <a:fillRect/>
          </a:stretch>
        </p:blipFill>
        <p:spPr>
          <a:xfrm>
            <a:off x="566928" y="1371600"/>
            <a:ext cx="11064240" cy="3822192"/>
          </a:xfrm>
          <a:prstGeom prst="rect">
            <a:avLst/>
          </a:prstGeom>
        </p:spPr>
      </p:pic>
      <p:sp>
        <p:nvSpPr>
          <p:cNvPr id="5" name="Text 2"/>
          <p:cNvSpPr/>
          <p:nvPr/>
        </p:nvSpPr>
        <p:spPr>
          <a:xfrm>
            <a:off x="566928" y="5349240"/>
            <a:ext cx="11055096" cy="411480"/>
          </a:xfrm>
          <a:prstGeom prst="rect">
            <a:avLst/>
          </a:prstGeom>
          <a:noFill/>
          <a:ln/>
        </p:spPr>
        <p:txBody>
          <a:bodyPr wrap="square" lIns="0" tIns="0" rIns="0" bIns="0" rtlCol="0" anchor="ctr"/>
          <a:lstStyle/>
          <a:p>
            <a:pPr indent="0" marL="0">
              <a:buNone/>
            </a:pPr>
            <a:r>
              <a:rPr lang="en-US" sz="1300" i="1" dirty="0">
                <a:solidFill>
                  <a:srgbClr val="6B6358"/>
                </a:solidFill>
                <a:latin typeface="Calibri" pitchFamily="34" charset="0"/>
                <a:ea typeface="Calibri" pitchFamily="34" charset="-122"/>
                <a:cs typeface="Calibri" pitchFamily="34" charset="-120"/>
              </a:rPr>
              <a:t>The cheapest tenth is over-valued by 12%; the most expensive tenth is under-valued by 11.5%. The second is structural — a tree can never predict above the highest value it saw in training, so the top of the market is capped by construction. That is also what strains PRD.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566928" y="420624"/>
            <a:ext cx="8229600" cy="237744"/>
          </a:xfrm>
          <a:prstGeom prst="rect">
            <a:avLst/>
          </a:prstGeom>
          <a:noFill/>
          <a:ln/>
        </p:spPr>
        <p:txBody>
          <a:bodyPr wrap="square" lIns="0" tIns="0" rIns="0" bIns="0" rtlCol="0" anchor="ctr"/>
          <a:lstStyle/>
          <a:p>
            <a:pPr indent="0" marL="0">
              <a:buNone/>
            </a:pPr>
            <a:r>
              <a:rPr lang="en-US" sz="1100" b="1" spc="220" kern="0" dirty="0">
                <a:solidFill>
                  <a:srgbClr val="C07214"/>
                </a:solidFill>
                <a:latin typeface="Calibri" pitchFamily="34" charset="0"/>
                <a:ea typeface="Calibri" pitchFamily="34" charset="-122"/>
                <a:cs typeface="Calibri" pitchFamily="34" charset="-120"/>
              </a:rPr>
              <a:t>CONFIDENCE</a:t>
            </a:r>
            <a:endParaRPr lang="en-US" sz="1100" dirty="0"/>
          </a:p>
        </p:txBody>
      </p:sp>
      <p:sp>
        <p:nvSpPr>
          <p:cNvPr id="3" name="Text 1"/>
          <p:cNvSpPr/>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The model knows which houses it is bad at — and now says so</a:t>
            </a:r>
            <a:endParaRPr lang="en-US" sz="3000" dirty="0"/>
          </a:p>
        </p:txBody>
      </p:sp>
      <p:pic>
        <p:nvPicPr>
          <p:cNvPr id="4" name="Image 0" descr="/root/proj/reports/slides/fig_confidence_bands.png">    </p:cNvPr>
          <p:cNvPicPr>
            <a:picLocks noChangeAspect="1"/>
          </p:cNvPicPr>
          <p:nvPr/>
        </p:nvPicPr>
        <p:blipFill>
          <a:blip r:embed="rId1"/>
          <a:stretch>
            <a:fillRect/>
          </a:stretch>
        </p:blipFill>
        <p:spPr>
          <a:xfrm>
            <a:off x="566928" y="1325880"/>
            <a:ext cx="11064240" cy="3922776"/>
          </a:xfrm>
          <a:prstGeom prst="rect">
            <a:avLst/>
          </a:prstGeom>
        </p:spPr>
      </p:pic>
      <p:sp>
        <p:nvSpPr>
          <p:cNvPr id="5" name="Shape 2"/>
          <p:cNvSpPr/>
          <p:nvPr/>
        </p:nvSpPr>
        <p:spPr>
          <a:xfrm>
            <a:off x="566928" y="5349240"/>
            <a:ext cx="11055096" cy="1097280"/>
          </a:xfrm>
          <a:prstGeom prst="roundRect">
            <a:avLst>
              <a:gd name="adj" fmla="val 5000"/>
            </a:avLst>
          </a:prstGeom>
          <a:solidFill>
            <a:srgbClr val="FAF0E2"/>
          </a:solidFill>
          <a:ln w="12700">
            <a:solidFill>
              <a:srgbClr val="FAF0E2"/>
            </a:solidFill>
            <a:prstDash val="solid"/>
          </a:ln>
        </p:spPr>
      </p:sp>
      <p:sp>
        <p:nvSpPr>
          <p:cNvPr id="6" name="Text 3"/>
          <p:cNvSpPr/>
          <p:nvPr/>
        </p:nvSpPr>
        <p:spPr>
          <a:xfrm>
            <a:off x="932688" y="5513832"/>
            <a:ext cx="10515600" cy="347472"/>
          </a:xfrm>
          <a:prstGeom prst="rect">
            <a:avLst/>
          </a:prstGeom>
          <a:noFill/>
          <a:ln/>
        </p:spPr>
        <p:txBody>
          <a:bodyPr wrap="square" lIns="0" tIns="0" rIns="0" bIns="0" rtlCol="0" anchor="ctr"/>
          <a:lstStyle/>
          <a:p>
            <a:pPr indent="0" marL="0">
              <a:buNone/>
            </a:pPr>
            <a:r>
              <a:rPr lang="en-US" sz="1550" b="1" dirty="0">
                <a:solidFill>
                  <a:srgbClr val="191714"/>
                </a:solidFill>
                <a:latin typeface="Calibri" pitchFamily="34" charset="0"/>
                <a:ea typeface="Calibri" pitchFamily="34" charset="-122"/>
                <a:cs typeface="Calibri" pitchFamily="34" charset="-120"/>
              </a:rPr>
              <a:t>One band for every house would have been -20.1% to +26.4% — far too narrow where it matters.</a:t>
            </a:r>
            <a:endParaRPr lang="en-US" sz="1550" dirty="0"/>
          </a:p>
        </p:txBody>
      </p:sp>
      <p:sp>
        <p:nvSpPr>
          <p:cNvPr id="7" name="Text 4"/>
          <p:cNvSpPr/>
          <p:nvPr/>
        </p:nvSpPr>
        <p:spPr>
          <a:xfrm>
            <a:off x="932688" y="5870448"/>
            <a:ext cx="10515600" cy="502920"/>
          </a:xfrm>
          <a:prstGeom prst="rect">
            <a:avLst/>
          </a:prstGeom>
          <a:noFill/>
          <a:ln/>
        </p:spPr>
        <p:txBody>
          <a:bodyPr wrap="square" lIns="0" tIns="0" rIns="0" bIns="0" rtlCol="0" anchor="ctr"/>
          <a:lstStyle/>
          <a:p>
            <a:pPr indent="0" marL="0">
              <a:buNone/>
            </a:pPr>
            <a:r>
              <a:rPr lang="en-US" sz="1300" dirty="0">
                <a:solidFill>
                  <a:srgbClr val="6B6358"/>
                </a:solidFill>
                <a:latin typeface="Calibri" pitchFamily="34" charset="0"/>
                <a:ea typeface="Calibri" pitchFamily="34" charset="-122"/>
                <a:cs typeface="Calibri" pitchFamily="34" charset="-120"/>
              </a:rPr>
              <a:t>The app now quotes the band for the house's own segment and names which houses it was measured on. A Premium View property gets a range 2.2x wider than an Established Family Home — which is the truth, and the difference between a range and a guess dressed as one.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566928" y="420624"/>
            <a:ext cx="8229600" cy="237744"/>
          </a:xfrm>
          <a:prstGeom prst="rect">
            <a:avLst/>
          </a:prstGeom>
          <a:noFill/>
          <a:ln/>
        </p:spPr>
        <p:txBody>
          <a:bodyPr wrap="square" lIns="0" tIns="0" rIns="0" bIns="0" rtlCol="0" anchor="ctr"/>
          <a:lstStyle/>
          <a:p>
            <a:pPr indent="0" marL="0">
              <a:buNone/>
            </a:pPr>
            <a:r>
              <a:rPr lang="en-US" sz="1100" b="1" spc="220" kern="0" dirty="0">
                <a:solidFill>
                  <a:srgbClr val="C07214"/>
                </a:solidFill>
                <a:latin typeface="Calibri" pitchFamily="34" charset="0"/>
                <a:ea typeface="Calibri" pitchFamily="34" charset="-122"/>
                <a:cs typeface="Calibri" pitchFamily="34" charset="-120"/>
              </a:rPr>
              <a:t>LIVE DEMO</a:t>
            </a:r>
            <a:endParaRPr lang="en-US" sz="1100" dirty="0"/>
          </a:p>
        </p:txBody>
      </p:sp>
      <p:sp>
        <p:nvSpPr>
          <p:cNvPr id="3" name="Text 1"/>
          <p:cNvSpPr/>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EstateIQ: a number, a range, a reason, a warning</a:t>
            </a:r>
            <a:endParaRPr lang="en-US" sz="3000" dirty="0"/>
          </a:p>
        </p:txBody>
      </p:sp>
      <p:pic>
        <p:nvPicPr>
          <p:cNvPr id="4" name="Image 0" descr="/root/proj/reports/slides/app_panel.png">    </p:cNvPr>
          <p:cNvPicPr>
            <a:picLocks noChangeAspect="1"/>
          </p:cNvPicPr>
          <p:nvPr/>
        </p:nvPicPr>
        <p:blipFill>
          <a:blip r:embed="rId1"/>
          <a:stretch>
            <a:fillRect/>
          </a:stretch>
        </p:blipFill>
        <p:spPr>
          <a:xfrm>
            <a:off x="566928" y="1463040"/>
            <a:ext cx="5669280" cy="4361688"/>
          </a:xfrm>
          <a:prstGeom prst="rect">
            <a:avLst/>
          </a:prstGeom>
        </p:spPr>
      </p:pic>
      <p:sp>
        <p:nvSpPr>
          <p:cNvPr id="5" name="Shape 2"/>
          <p:cNvSpPr/>
          <p:nvPr/>
        </p:nvSpPr>
        <p:spPr>
          <a:xfrm>
            <a:off x="6510528" y="1371600"/>
            <a:ext cx="5111496" cy="960120"/>
          </a:xfrm>
          <a:prstGeom prst="roundRect">
            <a:avLst>
              <a:gd name="adj" fmla="val 5714"/>
            </a:avLst>
          </a:prstGeom>
          <a:solidFill>
            <a:srgbClr val="F2EFE9"/>
          </a:solidFill>
          <a:ln w="12700">
            <a:solidFill>
              <a:srgbClr val="F2EFE9"/>
            </a:solidFill>
            <a:prstDash val="solid"/>
          </a:ln>
        </p:spPr>
      </p:sp>
      <p:sp>
        <p:nvSpPr>
          <p:cNvPr id="6" name="Text 3"/>
          <p:cNvSpPr/>
          <p:nvPr/>
        </p:nvSpPr>
        <p:spPr>
          <a:xfrm>
            <a:off x="6784848" y="1508760"/>
            <a:ext cx="4562856" cy="310896"/>
          </a:xfrm>
          <a:prstGeom prst="rect">
            <a:avLst/>
          </a:prstGeom>
          <a:noFill/>
          <a:ln/>
        </p:spPr>
        <p:txBody>
          <a:bodyPr wrap="square" lIns="0" tIns="0" rIns="0" bIns="0" rtlCol="0" anchor="ctr"/>
          <a:lstStyle/>
          <a:p>
            <a:pPr indent="0" marL="0">
              <a:buNone/>
            </a:pPr>
            <a:r>
              <a:rPr lang="en-US" sz="1450" b="1" dirty="0">
                <a:solidFill>
                  <a:srgbClr val="191714"/>
                </a:solidFill>
                <a:latin typeface="Calibri" pitchFamily="34" charset="0"/>
                <a:ea typeface="Calibri" pitchFamily="34" charset="-122"/>
                <a:cs typeface="Calibri" pitchFamily="34" charset="-120"/>
              </a:rPr>
              <a:t>A range, not a point</a:t>
            </a:r>
            <a:endParaRPr lang="en-US" sz="1450" dirty="0"/>
          </a:p>
        </p:txBody>
      </p:sp>
      <p:sp>
        <p:nvSpPr>
          <p:cNvPr id="7" name="Text 4"/>
          <p:cNvSpPr/>
          <p:nvPr/>
        </p:nvSpPr>
        <p:spPr>
          <a:xfrm>
            <a:off x="6784848" y="1828800"/>
            <a:ext cx="4562856" cy="411480"/>
          </a:xfrm>
          <a:prstGeom prst="rect">
            <a:avLst/>
          </a:prstGeom>
          <a:noFill/>
          <a:ln/>
        </p:spPr>
        <p:txBody>
          <a:bodyPr wrap="square" lIns="0" tIns="0" rIns="0" bIns="0" rtlCol="0" anchor="t"/>
          <a:lstStyle/>
          <a:p>
            <a:pPr indent="0" marL="0">
              <a:buNone/>
            </a:pPr>
            <a:r>
              <a:rPr lang="en-US" sz="1250" dirty="0">
                <a:solidFill>
                  <a:srgbClr val="6B6358"/>
                </a:solidFill>
                <a:latin typeface="Calibri" pitchFamily="34" charset="0"/>
                <a:ea typeface="Calibri" pitchFamily="34" charset="-122"/>
                <a:cs typeface="Calibri" pitchFamily="34" charset="-120"/>
              </a:rPr>
              <a:t>and it names the houses it was measured on</a:t>
            </a:r>
            <a:endParaRPr lang="en-US" sz="1250" dirty="0"/>
          </a:p>
        </p:txBody>
      </p:sp>
      <p:sp>
        <p:nvSpPr>
          <p:cNvPr id="8" name="Shape 5"/>
          <p:cNvSpPr/>
          <p:nvPr/>
        </p:nvSpPr>
        <p:spPr>
          <a:xfrm>
            <a:off x="6510528" y="2542032"/>
            <a:ext cx="5111496" cy="960120"/>
          </a:xfrm>
          <a:prstGeom prst="roundRect">
            <a:avLst>
              <a:gd name="adj" fmla="val 5714"/>
            </a:avLst>
          </a:prstGeom>
          <a:solidFill>
            <a:srgbClr val="F2EFE9"/>
          </a:solidFill>
          <a:ln w="12700">
            <a:solidFill>
              <a:srgbClr val="F2EFE9"/>
            </a:solidFill>
            <a:prstDash val="solid"/>
          </a:ln>
        </p:spPr>
      </p:sp>
      <p:sp>
        <p:nvSpPr>
          <p:cNvPr id="9" name="Text 6"/>
          <p:cNvSpPr/>
          <p:nvPr/>
        </p:nvSpPr>
        <p:spPr>
          <a:xfrm>
            <a:off x="6784848" y="2679192"/>
            <a:ext cx="4562856" cy="310896"/>
          </a:xfrm>
          <a:prstGeom prst="rect">
            <a:avLst/>
          </a:prstGeom>
          <a:noFill/>
          <a:ln/>
        </p:spPr>
        <p:txBody>
          <a:bodyPr wrap="square" lIns="0" tIns="0" rIns="0" bIns="0" rtlCol="0" anchor="ctr"/>
          <a:lstStyle/>
          <a:p>
            <a:pPr indent="0" marL="0">
              <a:buNone/>
            </a:pPr>
            <a:r>
              <a:rPr lang="en-US" sz="1450" b="1" dirty="0">
                <a:solidFill>
                  <a:srgbClr val="191714"/>
                </a:solidFill>
                <a:latin typeface="Calibri" pitchFamily="34" charset="0"/>
                <a:ea typeface="Calibri" pitchFamily="34" charset="-122"/>
                <a:cs typeface="Calibri" pitchFamily="34" charset="-120"/>
              </a:rPr>
              <a:t>SHAP drivers</a:t>
            </a:r>
            <a:endParaRPr lang="en-US" sz="1450" dirty="0"/>
          </a:p>
        </p:txBody>
      </p:sp>
      <p:sp>
        <p:nvSpPr>
          <p:cNvPr id="10" name="Text 7"/>
          <p:cNvSpPr/>
          <p:nvPr/>
        </p:nvSpPr>
        <p:spPr>
          <a:xfrm>
            <a:off x="6784848" y="2999232"/>
            <a:ext cx="4562856" cy="411480"/>
          </a:xfrm>
          <a:prstGeom prst="rect">
            <a:avLst/>
          </a:prstGeom>
          <a:noFill/>
          <a:ln/>
        </p:spPr>
        <p:txBody>
          <a:bodyPr wrap="square" lIns="0" tIns="0" rIns="0" bIns="0" rtlCol="0" anchor="t"/>
          <a:lstStyle/>
          <a:p>
            <a:pPr indent="0" marL="0">
              <a:buNone/>
            </a:pPr>
            <a:r>
              <a:rPr lang="en-US" sz="1250" dirty="0">
                <a:solidFill>
                  <a:srgbClr val="6B6358"/>
                </a:solidFill>
                <a:latin typeface="Calibri" pitchFamily="34" charset="0"/>
                <a:ea typeface="Calibri" pitchFamily="34" charset="-122"/>
                <a:cs typeface="Calibri" pitchFamily="34" charset="-120"/>
              </a:rPr>
              <a:t>what moved THIS valuation, not features in general</a:t>
            </a:r>
            <a:endParaRPr lang="en-US" sz="1250" dirty="0"/>
          </a:p>
        </p:txBody>
      </p:sp>
      <p:sp>
        <p:nvSpPr>
          <p:cNvPr id="11" name="Shape 8"/>
          <p:cNvSpPr/>
          <p:nvPr/>
        </p:nvSpPr>
        <p:spPr>
          <a:xfrm>
            <a:off x="6510528" y="3712464"/>
            <a:ext cx="5111496" cy="960120"/>
          </a:xfrm>
          <a:prstGeom prst="roundRect">
            <a:avLst>
              <a:gd name="adj" fmla="val 5714"/>
            </a:avLst>
          </a:prstGeom>
          <a:solidFill>
            <a:srgbClr val="F2EFE9"/>
          </a:solidFill>
          <a:ln w="12700">
            <a:solidFill>
              <a:srgbClr val="F2EFE9"/>
            </a:solidFill>
            <a:prstDash val="solid"/>
          </a:ln>
        </p:spPr>
      </p:sp>
      <p:sp>
        <p:nvSpPr>
          <p:cNvPr id="12" name="Text 9"/>
          <p:cNvSpPr/>
          <p:nvPr/>
        </p:nvSpPr>
        <p:spPr>
          <a:xfrm>
            <a:off x="6784848" y="3849624"/>
            <a:ext cx="4562856" cy="310896"/>
          </a:xfrm>
          <a:prstGeom prst="rect">
            <a:avLst/>
          </a:prstGeom>
          <a:noFill/>
          <a:ln/>
        </p:spPr>
        <p:txBody>
          <a:bodyPr wrap="square" lIns="0" tIns="0" rIns="0" bIns="0" rtlCol="0" anchor="ctr"/>
          <a:lstStyle/>
          <a:p>
            <a:pPr indent="0" marL="0">
              <a:buNone/>
            </a:pPr>
            <a:r>
              <a:rPr lang="en-US" sz="1450" b="1" dirty="0">
                <a:solidFill>
                  <a:srgbClr val="191714"/>
                </a:solidFill>
                <a:latin typeface="Calibri" pitchFamily="34" charset="0"/>
                <a:ea typeface="Calibri" pitchFamily="34" charset="-122"/>
                <a:cs typeface="Calibri" pitchFamily="34" charset="-120"/>
              </a:rPr>
              <a:t>Deterministic warnings</a:t>
            </a:r>
            <a:endParaRPr lang="en-US" sz="1450" dirty="0"/>
          </a:p>
        </p:txBody>
      </p:sp>
      <p:sp>
        <p:nvSpPr>
          <p:cNvPr id="13" name="Text 10"/>
          <p:cNvSpPr/>
          <p:nvPr/>
        </p:nvSpPr>
        <p:spPr>
          <a:xfrm>
            <a:off x="6784848" y="4169664"/>
            <a:ext cx="4562856" cy="411480"/>
          </a:xfrm>
          <a:prstGeom prst="rect">
            <a:avLst/>
          </a:prstGeom>
          <a:noFill/>
          <a:ln/>
        </p:spPr>
        <p:txBody>
          <a:bodyPr wrap="square" lIns="0" tIns="0" rIns="0" bIns="0" rtlCol="0" anchor="t"/>
          <a:lstStyle/>
          <a:p>
            <a:pPr indent="0" marL="0">
              <a:buNone/>
            </a:pPr>
            <a:r>
              <a:rPr lang="en-US" sz="1250" dirty="0">
                <a:solidFill>
                  <a:srgbClr val="6B6358"/>
                </a:solidFill>
                <a:latin typeface="Calibri" pitchFamily="34" charset="0"/>
                <a:ea typeface="Calibri" pitchFamily="34" charset="-122"/>
                <a:cs typeface="Calibri" pitchFamily="34" charset="-120"/>
              </a:rPr>
              <a:t>unknown zip, waterfront, top decile, worst segment</a:t>
            </a:r>
            <a:endParaRPr lang="en-US" sz="1250" dirty="0"/>
          </a:p>
        </p:txBody>
      </p:sp>
      <p:sp>
        <p:nvSpPr>
          <p:cNvPr id="14" name="Shape 11"/>
          <p:cNvSpPr/>
          <p:nvPr/>
        </p:nvSpPr>
        <p:spPr>
          <a:xfrm>
            <a:off x="6510528" y="4882896"/>
            <a:ext cx="5111496" cy="960120"/>
          </a:xfrm>
          <a:prstGeom prst="roundRect">
            <a:avLst>
              <a:gd name="adj" fmla="val 5714"/>
            </a:avLst>
          </a:prstGeom>
          <a:solidFill>
            <a:srgbClr val="F2EFE9"/>
          </a:solidFill>
          <a:ln w="12700">
            <a:solidFill>
              <a:srgbClr val="F2EFE9"/>
            </a:solidFill>
            <a:prstDash val="solid"/>
          </a:ln>
        </p:spPr>
      </p:sp>
      <p:sp>
        <p:nvSpPr>
          <p:cNvPr id="15" name="Text 12"/>
          <p:cNvSpPr/>
          <p:nvPr/>
        </p:nvSpPr>
        <p:spPr>
          <a:xfrm>
            <a:off x="6784848" y="5020056"/>
            <a:ext cx="4562856" cy="310896"/>
          </a:xfrm>
          <a:prstGeom prst="rect">
            <a:avLst/>
          </a:prstGeom>
          <a:noFill/>
          <a:ln/>
        </p:spPr>
        <p:txBody>
          <a:bodyPr wrap="square" lIns="0" tIns="0" rIns="0" bIns="0" rtlCol="0" anchor="ctr"/>
          <a:lstStyle/>
          <a:p>
            <a:pPr indent="0" marL="0">
              <a:buNone/>
            </a:pPr>
            <a:r>
              <a:rPr lang="en-US" sz="1450" b="1" dirty="0">
                <a:solidFill>
                  <a:srgbClr val="191714"/>
                </a:solidFill>
                <a:latin typeface="Calibri" pitchFamily="34" charset="0"/>
                <a:ea typeface="Calibri" pitchFamily="34" charset="-122"/>
                <a:cs typeface="Calibri" pitchFamily="34" charset="-120"/>
              </a:rPr>
              <a:t>A written explanation</a:t>
            </a:r>
            <a:endParaRPr lang="en-US" sz="1450" dirty="0"/>
          </a:p>
        </p:txBody>
      </p:sp>
      <p:sp>
        <p:nvSpPr>
          <p:cNvPr id="16" name="Text 13"/>
          <p:cNvSpPr/>
          <p:nvPr/>
        </p:nvSpPr>
        <p:spPr>
          <a:xfrm>
            <a:off x="6784848" y="5340096"/>
            <a:ext cx="4562856" cy="411480"/>
          </a:xfrm>
          <a:prstGeom prst="rect">
            <a:avLst/>
          </a:prstGeom>
          <a:noFill/>
          <a:ln/>
        </p:spPr>
        <p:txBody>
          <a:bodyPr wrap="square" lIns="0" tIns="0" rIns="0" bIns="0" rtlCol="0" anchor="t"/>
          <a:lstStyle/>
          <a:p>
            <a:pPr indent="0" marL="0">
              <a:buNone/>
            </a:pPr>
            <a:r>
              <a:rPr lang="en-US" sz="1250" dirty="0">
                <a:solidFill>
                  <a:srgbClr val="6B6358"/>
                </a:solidFill>
                <a:latin typeface="Calibri" pitchFamily="34" charset="0"/>
                <a:ea typeface="Calibri" pitchFamily="34" charset="-122"/>
                <a:cs typeface="Calibri" pitchFamily="34" charset="-120"/>
              </a:rPr>
              <a:t>every number in it checked against the evidence</a:t>
            </a:r>
            <a:endParaRPr lang="en-US" sz="1250" dirty="0"/>
          </a:p>
        </p:txBody>
      </p:sp>
      <p:sp>
        <p:nvSpPr>
          <p:cNvPr id="17" name="Text 14"/>
          <p:cNvSpPr/>
          <p:nvPr/>
        </p:nvSpPr>
        <p:spPr>
          <a:xfrm>
            <a:off x="566928" y="5989320"/>
            <a:ext cx="11055096" cy="411480"/>
          </a:xfrm>
          <a:prstGeom prst="rect">
            <a:avLst/>
          </a:prstGeom>
          <a:noFill/>
          <a:ln/>
        </p:spPr>
        <p:txBody>
          <a:bodyPr wrap="square" lIns="0" tIns="0" rIns="0" bIns="0" rtlCol="0" anchor="ctr"/>
          <a:lstStyle/>
          <a:p>
            <a:pPr indent="0" marL="0">
              <a:buNone/>
            </a:pPr>
            <a:r>
              <a:rPr lang="en-US" sz="1300" i="1" dirty="0">
                <a:solidFill>
                  <a:srgbClr val="6B6358"/>
                </a:solidFill>
                <a:latin typeface="Calibri" pitchFamily="34" charset="0"/>
                <a:ea typeface="Calibri" pitchFamily="34" charset="-122"/>
                <a:cs typeface="Calibri" pitchFamily="34" charset="-120"/>
              </a:rPr>
              <a:t>The app imports the same preprocessing module that trained the model — a training/serving mismatch is impossible by construction, not by discipline.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566928" y="420624"/>
            <a:ext cx="8229600" cy="237744"/>
          </a:xfrm>
          <a:prstGeom prst="rect">
            <a:avLst/>
          </a:prstGeom>
          <a:noFill/>
          <a:ln/>
        </p:spPr>
        <p:txBody>
          <a:bodyPr wrap="square" lIns="0" tIns="0" rIns="0" bIns="0" rtlCol="0" anchor="ctr"/>
          <a:lstStyle/>
          <a:p>
            <a:pPr indent="0" marL="0">
              <a:buNone/>
            </a:pPr>
            <a:r>
              <a:rPr lang="en-US" sz="1100" b="1" spc="220" kern="0" dirty="0">
                <a:solidFill>
                  <a:srgbClr val="C07214"/>
                </a:solidFill>
                <a:latin typeface="Calibri" pitchFamily="34" charset="0"/>
                <a:ea typeface="Calibri" pitchFamily="34" charset="-122"/>
                <a:cs typeface="Calibri" pitchFamily="34" charset="-120"/>
              </a:rPr>
              <a:t>THE AI LAYER</a:t>
            </a:r>
            <a:endParaRPr lang="en-US" sz="1100" dirty="0"/>
          </a:p>
        </p:txBody>
      </p:sp>
      <p:sp>
        <p:nvSpPr>
          <p:cNvPr id="3" name="Text 1"/>
          <p:cNvSpPr/>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91714"/>
                </a:solidFill>
                <a:latin typeface="Cambria" pitchFamily="34" charset="0"/>
                <a:ea typeface="Cambria" pitchFamily="34" charset="-122"/>
                <a:cs typeface="Cambria" pitchFamily="34" charset="-120"/>
              </a:rPr>
              <a:t>The AI writes the sentences. It does not do the maths.</a:t>
            </a:r>
            <a:endParaRPr lang="en-US" sz="3000" dirty="0"/>
          </a:p>
        </p:txBody>
      </p:sp>
      <p:sp>
        <p:nvSpPr>
          <p:cNvPr id="4" name="Shape 2"/>
          <p:cNvSpPr/>
          <p:nvPr/>
        </p:nvSpPr>
        <p:spPr>
          <a:xfrm>
            <a:off x="566928" y="1691640"/>
            <a:ext cx="1962302" cy="1737360"/>
          </a:xfrm>
          <a:prstGeom prst="roundRect">
            <a:avLst>
              <a:gd name="adj" fmla="val 3158"/>
            </a:avLst>
          </a:prstGeom>
          <a:solidFill>
            <a:srgbClr val="F2EFE9"/>
          </a:solidFill>
          <a:ln w="12700">
            <a:solidFill>
              <a:srgbClr val="F2EFE9"/>
            </a:solidFill>
            <a:prstDash val="solid"/>
          </a:ln>
        </p:spPr>
      </p:sp>
      <p:sp>
        <p:nvSpPr>
          <p:cNvPr id="5" name="Shape 3"/>
          <p:cNvSpPr/>
          <p:nvPr/>
        </p:nvSpPr>
        <p:spPr>
          <a:xfrm>
            <a:off x="795528" y="1874520"/>
            <a:ext cx="365760" cy="365760"/>
          </a:xfrm>
          <a:prstGeom prst="ellipse">
            <a:avLst/>
          </a:prstGeom>
          <a:solidFill>
            <a:srgbClr val="C07214"/>
          </a:solidFill>
          <a:ln/>
        </p:spPr>
      </p:sp>
      <p:sp>
        <p:nvSpPr>
          <p:cNvPr id="6" name="Text 4"/>
          <p:cNvSpPr/>
          <p:nvPr/>
        </p:nvSpPr>
        <p:spPr>
          <a:xfrm>
            <a:off x="795528" y="18745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795528" y="2331720"/>
            <a:ext cx="1505102" cy="320040"/>
          </a:xfrm>
          <a:prstGeom prst="rect">
            <a:avLst/>
          </a:prstGeom>
          <a:noFill/>
          <a:ln/>
        </p:spPr>
        <p:txBody>
          <a:bodyPr wrap="square" lIns="0" tIns="0" rIns="0" bIns="0" rtlCol="0" anchor="ctr"/>
          <a:lstStyle/>
          <a:p>
            <a:pPr indent="0" marL="0">
              <a:buNone/>
            </a:pPr>
            <a:r>
              <a:rPr lang="en-US" sz="1500" b="1" dirty="0">
                <a:solidFill>
                  <a:srgbClr val="191714"/>
                </a:solidFill>
                <a:latin typeface="Calibri" pitchFamily="34" charset="0"/>
                <a:ea typeface="Calibri" pitchFamily="34" charset="-122"/>
                <a:cs typeface="Calibri" pitchFamily="34" charset="-120"/>
              </a:rPr>
              <a:t>Model</a:t>
            </a:r>
            <a:endParaRPr lang="en-US" sz="1500" dirty="0"/>
          </a:p>
        </p:txBody>
      </p:sp>
      <p:sp>
        <p:nvSpPr>
          <p:cNvPr id="8" name="Text 6"/>
          <p:cNvSpPr/>
          <p:nvPr/>
        </p:nvSpPr>
        <p:spPr>
          <a:xfrm>
            <a:off x="795528" y="2651760"/>
            <a:ext cx="1505102" cy="685800"/>
          </a:xfrm>
          <a:prstGeom prst="rect">
            <a:avLst/>
          </a:prstGeom>
          <a:noFill/>
          <a:ln/>
        </p:spPr>
        <p:txBody>
          <a:bodyPr wrap="square" lIns="0" tIns="0" rIns="0" bIns="0" rtlCol="0" anchor="ctr"/>
          <a:lstStyle/>
          <a:p>
            <a:pPr indent="0" marL="0">
              <a:buNone/>
            </a:pPr>
            <a:r>
              <a:rPr lang="en-US" sz="1200" dirty="0">
                <a:solidFill>
                  <a:srgbClr val="6B6358"/>
                </a:solidFill>
                <a:latin typeface="Calibri" pitchFamily="34" charset="0"/>
                <a:ea typeface="Calibri" pitchFamily="34" charset="-122"/>
                <a:cs typeface="Calibri" pitchFamily="34" charset="-120"/>
              </a:rPr>
              <a:t>gradient booster</a:t>
            </a:r>
            <a:endParaRPr lang="en-US" sz="1200" dirty="0"/>
          </a:p>
          <a:p>
            <a:pPr indent="0" marL="0">
              <a:buNone/>
            </a:pPr>
            <a:r>
              <a:rPr lang="en-US" sz="1200" dirty="0">
                <a:solidFill>
                  <a:srgbClr val="6B6358"/>
                </a:solidFill>
                <a:latin typeface="Calibri" pitchFamily="34" charset="0"/>
                <a:ea typeface="Calibri" pitchFamily="34" charset="-122"/>
                <a:cs typeface="Calibri" pitchFamily="34" charset="-120"/>
              </a:rPr>
              <a:t>predicts the price</a:t>
            </a:r>
            <a:endParaRPr lang="en-US" sz="1200" dirty="0"/>
          </a:p>
        </p:txBody>
      </p:sp>
      <p:sp>
        <p:nvSpPr>
          <p:cNvPr id="9" name="Text 7"/>
          <p:cNvSpPr/>
          <p:nvPr/>
        </p:nvSpPr>
        <p:spPr>
          <a:xfrm>
            <a:off x="2529230" y="2331720"/>
            <a:ext cx="310896" cy="320040"/>
          </a:xfrm>
          <a:prstGeom prst="rect">
            <a:avLst/>
          </a:prstGeom>
          <a:noFill/>
          <a:ln/>
        </p:spPr>
        <p:txBody>
          <a:bodyPr wrap="square" lIns="0" tIns="0" rIns="0" bIns="0" rtlCol="0" anchor="ctr"/>
          <a:lstStyle/>
          <a:p>
            <a:pPr algn="ctr" indent="0" marL="0">
              <a:buNone/>
            </a:pPr>
            <a:r>
              <a:rPr lang="en-US" sz="1600" dirty="0">
                <a:solidFill>
                  <a:srgbClr val="6B6358"/>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840126" y="1691640"/>
            <a:ext cx="1962302" cy="1737360"/>
          </a:xfrm>
          <a:prstGeom prst="roundRect">
            <a:avLst>
              <a:gd name="adj" fmla="val 3158"/>
            </a:avLst>
          </a:prstGeom>
          <a:solidFill>
            <a:srgbClr val="F2EFE9"/>
          </a:solidFill>
          <a:ln w="12700">
            <a:solidFill>
              <a:srgbClr val="F2EFE9"/>
            </a:solidFill>
            <a:prstDash val="solid"/>
          </a:ln>
        </p:spPr>
      </p:sp>
      <p:sp>
        <p:nvSpPr>
          <p:cNvPr id="11" name="Shape 9"/>
          <p:cNvSpPr/>
          <p:nvPr/>
        </p:nvSpPr>
        <p:spPr>
          <a:xfrm>
            <a:off x="3068726" y="1874520"/>
            <a:ext cx="365760" cy="365760"/>
          </a:xfrm>
          <a:prstGeom prst="ellipse">
            <a:avLst/>
          </a:prstGeom>
          <a:solidFill>
            <a:srgbClr val="C07214"/>
          </a:solidFill>
          <a:ln/>
        </p:spPr>
      </p:sp>
      <p:sp>
        <p:nvSpPr>
          <p:cNvPr id="12" name="Text 10"/>
          <p:cNvSpPr/>
          <p:nvPr/>
        </p:nvSpPr>
        <p:spPr>
          <a:xfrm>
            <a:off x="3068726" y="18745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3068726" y="2331720"/>
            <a:ext cx="1505102" cy="320040"/>
          </a:xfrm>
          <a:prstGeom prst="rect">
            <a:avLst/>
          </a:prstGeom>
          <a:noFill/>
          <a:ln/>
        </p:spPr>
        <p:txBody>
          <a:bodyPr wrap="square" lIns="0" tIns="0" rIns="0" bIns="0" rtlCol="0" anchor="ctr"/>
          <a:lstStyle/>
          <a:p>
            <a:pPr indent="0" marL="0">
              <a:buNone/>
            </a:pPr>
            <a:r>
              <a:rPr lang="en-US" sz="1500" b="1" dirty="0">
                <a:solidFill>
                  <a:srgbClr val="191714"/>
                </a:solidFill>
                <a:latin typeface="Calibri" pitchFamily="34" charset="0"/>
                <a:ea typeface="Calibri" pitchFamily="34" charset="-122"/>
                <a:cs typeface="Calibri" pitchFamily="34" charset="-120"/>
              </a:rPr>
              <a:t>SHAP</a:t>
            </a:r>
            <a:endParaRPr lang="en-US" sz="1500" dirty="0"/>
          </a:p>
        </p:txBody>
      </p:sp>
      <p:sp>
        <p:nvSpPr>
          <p:cNvPr id="14" name="Text 12"/>
          <p:cNvSpPr/>
          <p:nvPr/>
        </p:nvSpPr>
        <p:spPr>
          <a:xfrm>
            <a:off x="3068726" y="2651760"/>
            <a:ext cx="1505102" cy="685800"/>
          </a:xfrm>
          <a:prstGeom prst="rect">
            <a:avLst/>
          </a:prstGeom>
          <a:noFill/>
          <a:ln/>
        </p:spPr>
        <p:txBody>
          <a:bodyPr wrap="square" lIns="0" tIns="0" rIns="0" bIns="0" rtlCol="0" anchor="ctr"/>
          <a:lstStyle/>
          <a:p>
            <a:pPr indent="0" marL="0">
              <a:buNone/>
            </a:pPr>
            <a:r>
              <a:rPr lang="en-US" sz="1200" dirty="0">
                <a:solidFill>
                  <a:srgbClr val="6B6358"/>
                </a:solidFill>
                <a:latin typeface="Calibri" pitchFamily="34" charset="0"/>
                <a:ea typeface="Calibri" pitchFamily="34" charset="-122"/>
                <a:cs typeface="Calibri" pitchFamily="34" charset="-120"/>
              </a:rPr>
              <a:t>computes what moved</a:t>
            </a:r>
            <a:endParaRPr lang="en-US" sz="1200" dirty="0"/>
          </a:p>
          <a:p>
            <a:pPr indent="0" marL="0">
              <a:buNone/>
            </a:pPr>
            <a:r>
              <a:rPr lang="en-US" sz="1200" dirty="0">
                <a:solidFill>
                  <a:srgbClr val="6B6358"/>
                </a:solidFill>
                <a:latin typeface="Calibri" pitchFamily="34" charset="0"/>
                <a:ea typeface="Calibri" pitchFamily="34" charset="-122"/>
                <a:cs typeface="Calibri" pitchFamily="34" charset="-120"/>
              </a:rPr>
              <a:t>this prediction</a:t>
            </a:r>
            <a:endParaRPr lang="en-US" sz="1200" dirty="0"/>
          </a:p>
        </p:txBody>
      </p:sp>
      <p:sp>
        <p:nvSpPr>
          <p:cNvPr id="15" name="Text 13"/>
          <p:cNvSpPr/>
          <p:nvPr/>
        </p:nvSpPr>
        <p:spPr>
          <a:xfrm>
            <a:off x="4802429" y="2331720"/>
            <a:ext cx="310896" cy="320040"/>
          </a:xfrm>
          <a:prstGeom prst="rect">
            <a:avLst/>
          </a:prstGeom>
          <a:noFill/>
          <a:ln/>
        </p:spPr>
        <p:txBody>
          <a:bodyPr wrap="square" lIns="0" tIns="0" rIns="0" bIns="0" rtlCol="0" anchor="ctr"/>
          <a:lstStyle/>
          <a:p>
            <a:pPr algn="ctr" indent="0" marL="0">
              <a:buNone/>
            </a:pPr>
            <a:r>
              <a:rPr lang="en-US" sz="1600" dirty="0">
                <a:solidFill>
                  <a:srgbClr val="6B6358"/>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5113325" y="1691640"/>
            <a:ext cx="1962302" cy="1737360"/>
          </a:xfrm>
          <a:prstGeom prst="roundRect">
            <a:avLst>
              <a:gd name="adj" fmla="val 3158"/>
            </a:avLst>
          </a:prstGeom>
          <a:solidFill>
            <a:srgbClr val="F2EFE9"/>
          </a:solidFill>
          <a:ln w="12700">
            <a:solidFill>
              <a:srgbClr val="F2EFE9"/>
            </a:solidFill>
            <a:prstDash val="solid"/>
          </a:ln>
        </p:spPr>
      </p:sp>
      <p:sp>
        <p:nvSpPr>
          <p:cNvPr id="17" name="Shape 15"/>
          <p:cNvSpPr/>
          <p:nvPr/>
        </p:nvSpPr>
        <p:spPr>
          <a:xfrm>
            <a:off x="5341925" y="1874520"/>
            <a:ext cx="365760" cy="365760"/>
          </a:xfrm>
          <a:prstGeom prst="ellipse">
            <a:avLst/>
          </a:prstGeom>
          <a:solidFill>
            <a:srgbClr val="C07214"/>
          </a:solidFill>
          <a:ln/>
        </p:spPr>
      </p:sp>
      <p:sp>
        <p:nvSpPr>
          <p:cNvPr id="18" name="Text 16"/>
          <p:cNvSpPr/>
          <p:nvPr/>
        </p:nvSpPr>
        <p:spPr>
          <a:xfrm>
            <a:off x="5341925" y="18745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5341925" y="2331720"/>
            <a:ext cx="1505102" cy="320040"/>
          </a:xfrm>
          <a:prstGeom prst="rect">
            <a:avLst/>
          </a:prstGeom>
          <a:noFill/>
          <a:ln/>
        </p:spPr>
        <p:txBody>
          <a:bodyPr wrap="square" lIns="0" tIns="0" rIns="0" bIns="0" rtlCol="0" anchor="ctr"/>
          <a:lstStyle/>
          <a:p>
            <a:pPr indent="0" marL="0">
              <a:buNone/>
            </a:pPr>
            <a:r>
              <a:rPr lang="en-US" sz="1500" b="1" dirty="0">
                <a:solidFill>
                  <a:srgbClr val="191714"/>
                </a:solidFill>
                <a:latin typeface="Calibri" pitchFamily="34" charset="0"/>
                <a:ea typeface="Calibri" pitchFamily="34" charset="-122"/>
                <a:cs typeface="Calibri" pitchFamily="34" charset="-120"/>
              </a:rPr>
              <a:t>Rules</a:t>
            </a:r>
            <a:endParaRPr lang="en-US" sz="1500" dirty="0"/>
          </a:p>
        </p:txBody>
      </p:sp>
      <p:sp>
        <p:nvSpPr>
          <p:cNvPr id="20" name="Text 18"/>
          <p:cNvSpPr/>
          <p:nvPr/>
        </p:nvSpPr>
        <p:spPr>
          <a:xfrm>
            <a:off x="5341925" y="2651760"/>
            <a:ext cx="1505102" cy="685800"/>
          </a:xfrm>
          <a:prstGeom prst="rect">
            <a:avLst/>
          </a:prstGeom>
          <a:noFill/>
          <a:ln/>
        </p:spPr>
        <p:txBody>
          <a:bodyPr wrap="square" lIns="0" tIns="0" rIns="0" bIns="0" rtlCol="0" anchor="ctr"/>
          <a:lstStyle/>
          <a:p>
            <a:pPr indent="0" marL="0">
              <a:buNone/>
            </a:pPr>
            <a:r>
              <a:rPr lang="en-US" sz="1200" dirty="0">
                <a:solidFill>
                  <a:srgbClr val="6B6358"/>
                </a:solidFill>
                <a:latin typeface="Calibri" pitchFamily="34" charset="0"/>
                <a:ea typeface="Calibri" pitchFamily="34" charset="-122"/>
                <a:cs typeface="Calibri" pitchFamily="34" charset="-120"/>
              </a:rPr>
              <a:t>deterministic checks</a:t>
            </a:r>
            <a:endParaRPr lang="en-US" sz="1200" dirty="0"/>
          </a:p>
          <a:p>
            <a:pPr indent="0" marL="0">
              <a:buNone/>
            </a:pPr>
            <a:r>
              <a:rPr lang="en-US" sz="1200" dirty="0">
                <a:solidFill>
                  <a:srgbClr val="6B6358"/>
                </a:solidFill>
                <a:latin typeface="Calibri" pitchFamily="34" charset="0"/>
                <a:ea typeface="Calibri" pitchFamily="34" charset="-122"/>
                <a:cs typeface="Calibri" pitchFamily="34" charset="-120"/>
              </a:rPr>
              <a:t>fire the warnings</a:t>
            </a:r>
            <a:endParaRPr lang="en-US" sz="1200" dirty="0"/>
          </a:p>
        </p:txBody>
      </p:sp>
      <p:sp>
        <p:nvSpPr>
          <p:cNvPr id="21" name="Text 19"/>
          <p:cNvSpPr/>
          <p:nvPr/>
        </p:nvSpPr>
        <p:spPr>
          <a:xfrm>
            <a:off x="7075627" y="2331720"/>
            <a:ext cx="310896" cy="320040"/>
          </a:xfrm>
          <a:prstGeom prst="rect">
            <a:avLst/>
          </a:prstGeom>
          <a:noFill/>
          <a:ln/>
        </p:spPr>
        <p:txBody>
          <a:bodyPr wrap="square" lIns="0" tIns="0" rIns="0" bIns="0" rtlCol="0" anchor="ctr"/>
          <a:lstStyle/>
          <a:p>
            <a:pPr algn="ctr" indent="0" marL="0">
              <a:buNone/>
            </a:pPr>
            <a:r>
              <a:rPr lang="en-US" sz="1600" dirty="0">
                <a:solidFill>
                  <a:srgbClr val="6B6358"/>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7386523" y="1691640"/>
            <a:ext cx="1962302" cy="1737360"/>
          </a:xfrm>
          <a:prstGeom prst="roundRect">
            <a:avLst>
              <a:gd name="adj" fmla="val 3158"/>
            </a:avLst>
          </a:prstGeom>
          <a:solidFill>
            <a:srgbClr val="F2EFE9"/>
          </a:solidFill>
          <a:ln w="12700">
            <a:solidFill>
              <a:srgbClr val="F2EFE9"/>
            </a:solidFill>
            <a:prstDash val="solid"/>
          </a:ln>
        </p:spPr>
      </p:sp>
      <p:sp>
        <p:nvSpPr>
          <p:cNvPr id="23" name="Shape 21"/>
          <p:cNvSpPr/>
          <p:nvPr/>
        </p:nvSpPr>
        <p:spPr>
          <a:xfrm>
            <a:off x="7615123" y="1874520"/>
            <a:ext cx="365760" cy="365760"/>
          </a:xfrm>
          <a:prstGeom prst="ellipse">
            <a:avLst/>
          </a:prstGeom>
          <a:solidFill>
            <a:srgbClr val="C07214"/>
          </a:solidFill>
          <a:ln/>
        </p:spPr>
      </p:sp>
      <p:sp>
        <p:nvSpPr>
          <p:cNvPr id="24" name="Text 22"/>
          <p:cNvSpPr/>
          <p:nvPr/>
        </p:nvSpPr>
        <p:spPr>
          <a:xfrm>
            <a:off x="7615123" y="18745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7615123" y="2331720"/>
            <a:ext cx="1505102" cy="320040"/>
          </a:xfrm>
          <a:prstGeom prst="rect">
            <a:avLst/>
          </a:prstGeom>
          <a:noFill/>
          <a:ln/>
        </p:spPr>
        <p:txBody>
          <a:bodyPr wrap="square" lIns="0" tIns="0" rIns="0" bIns="0" rtlCol="0" anchor="ctr"/>
          <a:lstStyle/>
          <a:p>
            <a:pPr indent="0" marL="0">
              <a:buNone/>
            </a:pPr>
            <a:r>
              <a:rPr lang="en-US" sz="1500" b="1" dirty="0">
                <a:solidFill>
                  <a:srgbClr val="191714"/>
                </a:solidFill>
                <a:latin typeface="Calibri" pitchFamily="34" charset="0"/>
                <a:ea typeface="Calibri" pitchFamily="34" charset="-122"/>
                <a:cs typeface="Calibri" pitchFamily="34" charset="-120"/>
              </a:rPr>
              <a:t>LLM</a:t>
            </a:r>
            <a:endParaRPr lang="en-US" sz="1500" dirty="0"/>
          </a:p>
        </p:txBody>
      </p:sp>
      <p:sp>
        <p:nvSpPr>
          <p:cNvPr id="26" name="Text 24"/>
          <p:cNvSpPr/>
          <p:nvPr/>
        </p:nvSpPr>
        <p:spPr>
          <a:xfrm>
            <a:off x="7615123" y="2651760"/>
            <a:ext cx="1505102" cy="685800"/>
          </a:xfrm>
          <a:prstGeom prst="rect">
            <a:avLst/>
          </a:prstGeom>
          <a:noFill/>
          <a:ln/>
        </p:spPr>
        <p:txBody>
          <a:bodyPr wrap="square" lIns="0" tIns="0" rIns="0" bIns="0" rtlCol="0" anchor="ctr"/>
          <a:lstStyle/>
          <a:p>
            <a:pPr indent="0" marL="0">
              <a:buNone/>
            </a:pPr>
            <a:r>
              <a:rPr lang="en-US" sz="1200" dirty="0">
                <a:solidFill>
                  <a:srgbClr val="6B6358"/>
                </a:solidFill>
                <a:latin typeface="Calibri" pitchFamily="34" charset="0"/>
                <a:ea typeface="Calibri" pitchFamily="34" charset="-122"/>
                <a:cs typeface="Calibri" pitchFamily="34" charset="-120"/>
              </a:rPr>
              <a:t>turns the evidence</a:t>
            </a:r>
            <a:endParaRPr lang="en-US" sz="1200" dirty="0"/>
          </a:p>
          <a:p>
            <a:pPr indent="0" marL="0">
              <a:buNone/>
            </a:pPr>
            <a:r>
              <a:rPr lang="en-US" sz="1200" dirty="0">
                <a:solidFill>
                  <a:srgbClr val="6B6358"/>
                </a:solidFill>
                <a:latin typeface="Calibri" pitchFamily="34" charset="0"/>
                <a:ea typeface="Calibri" pitchFamily="34" charset="-122"/>
                <a:cs typeface="Calibri" pitchFamily="34" charset="-120"/>
              </a:rPr>
              <a:t>into a paragraph</a:t>
            </a:r>
            <a:endParaRPr lang="en-US" sz="1200" dirty="0"/>
          </a:p>
        </p:txBody>
      </p:sp>
      <p:sp>
        <p:nvSpPr>
          <p:cNvPr id="27" name="Text 25"/>
          <p:cNvSpPr/>
          <p:nvPr/>
        </p:nvSpPr>
        <p:spPr>
          <a:xfrm>
            <a:off x="9348826" y="2331720"/>
            <a:ext cx="310896" cy="320040"/>
          </a:xfrm>
          <a:prstGeom prst="rect">
            <a:avLst/>
          </a:prstGeom>
          <a:noFill/>
          <a:ln/>
        </p:spPr>
        <p:txBody>
          <a:bodyPr wrap="square" lIns="0" tIns="0" rIns="0" bIns="0" rtlCol="0" anchor="ctr"/>
          <a:lstStyle/>
          <a:p>
            <a:pPr algn="ctr" indent="0" marL="0">
              <a:buNone/>
            </a:pPr>
            <a:r>
              <a:rPr lang="en-US" sz="1600" dirty="0">
                <a:solidFill>
                  <a:srgbClr val="6B6358"/>
                </a:solidFill>
                <a:latin typeface="Calibri" pitchFamily="34" charset="0"/>
                <a:ea typeface="Calibri" pitchFamily="34" charset="-122"/>
                <a:cs typeface="Calibri" pitchFamily="34" charset="-120"/>
              </a:rPr>
              <a:t>→</a:t>
            </a:r>
            <a:endParaRPr lang="en-US" sz="1600" dirty="0"/>
          </a:p>
        </p:txBody>
      </p:sp>
      <p:sp>
        <p:nvSpPr>
          <p:cNvPr id="28" name="Shape 26"/>
          <p:cNvSpPr/>
          <p:nvPr/>
        </p:nvSpPr>
        <p:spPr>
          <a:xfrm>
            <a:off x="9659722" y="1691640"/>
            <a:ext cx="1962302" cy="1737360"/>
          </a:xfrm>
          <a:prstGeom prst="roundRect">
            <a:avLst>
              <a:gd name="adj" fmla="val 3158"/>
            </a:avLst>
          </a:prstGeom>
          <a:solidFill>
            <a:srgbClr val="FAF0E2"/>
          </a:solidFill>
          <a:ln w="12700">
            <a:solidFill>
              <a:srgbClr val="FAF0E2"/>
            </a:solidFill>
            <a:prstDash val="solid"/>
          </a:ln>
        </p:spPr>
      </p:sp>
      <p:sp>
        <p:nvSpPr>
          <p:cNvPr id="29" name="Shape 27"/>
          <p:cNvSpPr/>
          <p:nvPr/>
        </p:nvSpPr>
        <p:spPr>
          <a:xfrm>
            <a:off x="9888322" y="1874520"/>
            <a:ext cx="365760" cy="365760"/>
          </a:xfrm>
          <a:prstGeom prst="ellipse">
            <a:avLst/>
          </a:prstGeom>
          <a:solidFill>
            <a:srgbClr val="C07214"/>
          </a:solidFill>
          <a:ln/>
        </p:spPr>
      </p:sp>
      <p:sp>
        <p:nvSpPr>
          <p:cNvPr id="30" name="Text 28"/>
          <p:cNvSpPr/>
          <p:nvPr/>
        </p:nvSpPr>
        <p:spPr>
          <a:xfrm>
            <a:off x="9888322" y="18745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9888322" y="2331720"/>
            <a:ext cx="1505102" cy="320040"/>
          </a:xfrm>
          <a:prstGeom prst="rect">
            <a:avLst/>
          </a:prstGeom>
          <a:noFill/>
          <a:ln/>
        </p:spPr>
        <p:txBody>
          <a:bodyPr wrap="square" lIns="0" tIns="0" rIns="0" bIns="0" rtlCol="0" anchor="ctr"/>
          <a:lstStyle/>
          <a:p>
            <a:pPr indent="0" marL="0">
              <a:buNone/>
            </a:pPr>
            <a:r>
              <a:rPr lang="en-US" sz="1500" b="1" dirty="0">
                <a:solidFill>
                  <a:srgbClr val="191714"/>
                </a:solidFill>
                <a:latin typeface="Calibri" pitchFamily="34" charset="0"/>
                <a:ea typeface="Calibri" pitchFamily="34" charset="-122"/>
                <a:cs typeface="Calibri" pitchFamily="34" charset="-120"/>
              </a:rPr>
              <a:t>Grounding</a:t>
            </a:r>
            <a:endParaRPr lang="en-US" sz="1500" dirty="0"/>
          </a:p>
        </p:txBody>
      </p:sp>
      <p:sp>
        <p:nvSpPr>
          <p:cNvPr id="32" name="Text 30"/>
          <p:cNvSpPr/>
          <p:nvPr/>
        </p:nvSpPr>
        <p:spPr>
          <a:xfrm>
            <a:off x="9888322" y="2651760"/>
            <a:ext cx="1505102" cy="685800"/>
          </a:xfrm>
          <a:prstGeom prst="rect">
            <a:avLst/>
          </a:prstGeom>
          <a:noFill/>
          <a:ln/>
        </p:spPr>
        <p:txBody>
          <a:bodyPr wrap="square" lIns="0" tIns="0" rIns="0" bIns="0" rtlCol="0" anchor="ctr"/>
          <a:lstStyle/>
          <a:p>
            <a:pPr indent="0" marL="0">
              <a:buNone/>
            </a:pPr>
            <a:r>
              <a:rPr lang="en-US" sz="1200" dirty="0">
                <a:solidFill>
                  <a:srgbClr val="6B6358"/>
                </a:solidFill>
                <a:latin typeface="Calibri" pitchFamily="34" charset="0"/>
                <a:ea typeface="Calibri" pitchFamily="34" charset="-122"/>
                <a:cs typeface="Calibri" pitchFamily="34" charset="-120"/>
              </a:rPr>
              <a:t>every number checked</a:t>
            </a:r>
            <a:endParaRPr lang="en-US" sz="1200" dirty="0"/>
          </a:p>
          <a:p>
            <a:pPr indent="0" marL="0">
              <a:buNone/>
            </a:pPr>
            <a:r>
              <a:rPr lang="en-US" sz="1200" dirty="0">
                <a:solidFill>
                  <a:srgbClr val="6B6358"/>
                </a:solidFill>
                <a:latin typeface="Calibri" pitchFamily="34" charset="0"/>
                <a:ea typeface="Calibri" pitchFamily="34" charset="-122"/>
                <a:cs typeface="Calibri" pitchFamily="34" charset="-120"/>
              </a:rPr>
              <a:t>against the evidence</a:t>
            </a:r>
            <a:endParaRPr lang="en-US" sz="1200" dirty="0"/>
          </a:p>
        </p:txBody>
      </p:sp>
      <p:sp>
        <p:nvSpPr>
          <p:cNvPr id="33" name="Text 31"/>
          <p:cNvSpPr/>
          <p:nvPr/>
        </p:nvSpPr>
        <p:spPr>
          <a:xfrm>
            <a:off x="566928" y="3749040"/>
            <a:ext cx="11055096" cy="365760"/>
          </a:xfrm>
          <a:prstGeom prst="rect">
            <a:avLst/>
          </a:prstGeom>
          <a:noFill/>
          <a:ln/>
        </p:spPr>
        <p:txBody>
          <a:bodyPr wrap="square" lIns="0" tIns="0" rIns="0" bIns="0" rtlCol="0" anchor="ctr"/>
          <a:lstStyle/>
          <a:p>
            <a:pPr indent="0" marL="0">
              <a:buNone/>
            </a:pPr>
            <a:r>
              <a:rPr lang="en-US" sz="1600" b="1" dirty="0">
                <a:solidFill>
                  <a:srgbClr val="191714"/>
                </a:solidFill>
                <a:latin typeface="Calibri" pitchFamily="34" charset="0"/>
                <a:ea typeface="Calibri" pitchFamily="34" charset="-122"/>
                <a:cs typeface="Calibri" pitchFamily="34" charset="-120"/>
              </a:rPr>
              <a:t>Four defences, because "we called an LLM" is not an engineering answer</a:t>
            </a:r>
            <a:endParaRPr lang="en-US" sz="1600" dirty="0"/>
          </a:p>
        </p:txBody>
      </p:sp>
      <p:sp>
        <p:nvSpPr>
          <p:cNvPr id="34" name="Text 32"/>
          <p:cNvSpPr/>
          <p:nvPr/>
        </p:nvSpPr>
        <p:spPr>
          <a:xfrm>
            <a:off x="566928" y="4160520"/>
            <a:ext cx="11055096" cy="155448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6B6358"/>
                </a:solidFill>
                <a:latin typeface="Calibri" pitchFamily="34" charset="0"/>
                <a:ea typeface="Calibri" pitchFamily="34" charset="-122"/>
                <a:cs typeface="Calibri" pitchFamily="34" charset="-120"/>
              </a:rPr>
              <a:t>Evidence only — every figure it may use is placed in the prompt, and inventing others is forbidden.</a:t>
            </a:r>
            <a:endParaRPr lang="en-US" sz="1400" dirty="0"/>
          </a:p>
          <a:p>
            <a:pPr marL="342900" indent="-342900">
              <a:spcAft>
                <a:spcPts val="600"/>
              </a:spcAft>
              <a:buSzPct val="100000"/>
              <a:buChar char="•"/>
            </a:pPr>
            <a:r>
              <a:rPr lang="en-US" sz="1400" dirty="0">
                <a:solidFill>
                  <a:srgbClr val="6B6358"/>
                </a:solidFill>
                <a:latin typeface="Calibri" pitchFamily="34" charset="0"/>
                <a:ea typeface="Calibri" pitchFamily="34" charset="-122"/>
                <a:cs typeface="Calibri" pitchFamily="34" charset="-120"/>
              </a:rPr>
              <a:t>A grounding check reads back every number in the generated text and rejects the whole answer if one is not in the evidence.</a:t>
            </a:r>
            <a:endParaRPr lang="en-US" sz="1400" dirty="0"/>
          </a:p>
          <a:p>
            <a:pPr marL="342900" indent="-342900">
              <a:spcAft>
                <a:spcPts val="600"/>
              </a:spcAft>
              <a:buSzPct val="100000"/>
              <a:buChar char="•"/>
            </a:pPr>
            <a:r>
              <a:rPr lang="en-US" sz="1400" dirty="0">
                <a:solidFill>
                  <a:srgbClr val="6B6358"/>
                </a:solidFill>
                <a:latin typeface="Calibri" pitchFamily="34" charset="0"/>
                <a:ea typeface="Calibri" pitchFamily="34" charset="-122"/>
                <a:cs typeface="Calibri" pitchFamily="34" charset="-120"/>
              </a:rPr>
              <a:t>A deterministic fallback paragraph, so no key, no network and no quota still produces an explanation.</a:t>
            </a:r>
            <a:endParaRPr lang="en-US" sz="1400" dirty="0"/>
          </a:p>
          <a:p>
            <a:pPr marL="342900" indent="-342900">
              <a:spcAft>
                <a:spcPts val="600"/>
              </a:spcAft>
              <a:buSzPct val="100000"/>
              <a:buChar char="•"/>
            </a:pPr>
            <a:r>
              <a:rPr lang="en-US" sz="1400" dirty="0">
                <a:solidFill>
                  <a:srgbClr val="6B6358"/>
                </a:solidFill>
                <a:latin typeface="Calibri" pitchFamily="34" charset="0"/>
                <a:ea typeface="Calibri" pitchFamily="34" charset="-122"/>
                <a:cs typeface="Calibri" pitchFamily="34" charset="-120"/>
              </a:rPr>
              <a:t>An on-disk cache, so the demo can run with no internet at all.</a:t>
            </a:r>
            <a:endParaRPr lang="en-US" sz="1400" dirty="0"/>
          </a:p>
        </p:txBody>
      </p:sp>
      <p:sp>
        <p:nvSpPr>
          <p:cNvPr id="35" name="Shape 33"/>
          <p:cNvSpPr/>
          <p:nvPr/>
        </p:nvSpPr>
        <p:spPr>
          <a:xfrm>
            <a:off x="566928" y="5687568"/>
            <a:ext cx="11055096" cy="640080"/>
          </a:xfrm>
          <a:prstGeom prst="roundRect">
            <a:avLst>
              <a:gd name="adj" fmla="val 8571"/>
            </a:avLst>
          </a:prstGeom>
          <a:solidFill>
            <a:srgbClr val="FAF0E2"/>
          </a:solidFill>
          <a:ln w="12700">
            <a:solidFill>
              <a:srgbClr val="FAF0E2"/>
            </a:solidFill>
            <a:prstDash val="solid"/>
          </a:ln>
        </p:spPr>
      </p:sp>
      <p:sp>
        <p:nvSpPr>
          <p:cNvPr id="36" name="Text 34"/>
          <p:cNvSpPr/>
          <p:nvPr/>
        </p:nvSpPr>
        <p:spPr>
          <a:xfrm>
            <a:off x="932688" y="5824728"/>
            <a:ext cx="10515600" cy="384048"/>
          </a:xfrm>
          <a:prstGeom prst="rect">
            <a:avLst/>
          </a:prstGeom>
          <a:noFill/>
          <a:ln/>
        </p:spPr>
        <p:txBody>
          <a:bodyPr wrap="square" lIns="0" tIns="0" rIns="0" bIns="0" rtlCol="0" anchor="ctr"/>
          <a:lstStyle/>
          <a:p>
            <a:pPr indent="0" marL="0">
              <a:buNone/>
            </a:pPr>
            <a:r>
              <a:rPr lang="en-US" sz="1400" b="1" dirty="0">
                <a:solidFill>
                  <a:srgbClr val="191714"/>
                </a:solidFill>
                <a:latin typeface="Calibri" pitchFamily="34" charset="0"/>
                <a:ea typeface="Calibri" pitchFamily="34" charset="-122"/>
                <a:cs typeface="Calibri" pitchFamily="34" charset="-120"/>
              </a:rPr>
              <a:t>There is a tick-box in the app that turns the language model off. The price, the range, the drivers and the warnings are identical with it off.</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210"/>
        </a:solidFill>
      </p:bgPr>
    </p:bg>
    <p:spTree>
      <p:nvGrpSpPr>
        <p:cNvPr id="1" name=""/>
        <p:cNvGrpSpPr/>
        <p:nvPr/>
      </p:nvGrpSpPr>
      <p:grpSpPr>
        <a:xfrm>
          <a:off x="0" y="0"/>
          <a:ext cx="0" cy="0"/>
          <a:chOff x="0" y="0"/>
          <a:chExt cx="0" cy="0"/>
        </a:xfrm>
      </p:grpSpPr>
      <p:sp>
        <p:nvSpPr>
          <p:cNvPr id="2" name="Shape 0"/>
          <p:cNvSpPr/>
          <p:nvPr/>
        </p:nvSpPr>
        <p:spPr>
          <a:xfrm>
            <a:off x="-54864" y="-54864"/>
            <a:ext cx="12298680" cy="6967728"/>
          </a:xfrm>
          <a:prstGeom prst="rect">
            <a:avLst/>
          </a:prstGeom>
          <a:solidFill>
            <a:srgbClr val="141210"/>
          </a:solidFill>
          <a:ln w="12700">
            <a:solidFill>
              <a:srgbClr val="141210"/>
            </a:solidFill>
            <a:prstDash val="solid"/>
          </a:ln>
        </p:spPr>
      </p:sp>
      <p:sp>
        <p:nvSpPr>
          <p:cNvPr id="3" name="Shape 1"/>
          <p:cNvSpPr/>
          <p:nvPr/>
        </p:nvSpPr>
        <p:spPr>
          <a:xfrm>
            <a:off x="0" y="0"/>
            <a:ext cx="146304" cy="6858000"/>
          </a:xfrm>
          <a:prstGeom prst="rect">
            <a:avLst/>
          </a:prstGeom>
          <a:solidFill>
            <a:srgbClr val="C07214"/>
          </a:solidFill>
          <a:ln w="12700">
            <a:solidFill>
              <a:srgbClr val="C07214"/>
            </a:solidFill>
            <a:prstDash val="solid"/>
          </a:ln>
        </p:spPr>
      </p:sp>
      <p:sp>
        <p:nvSpPr>
          <p:cNvPr id="4" name="Text 2"/>
          <p:cNvSpPr/>
          <p:nvPr/>
        </p:nvSpPr>
        <p:spPr>
          <a:xfrm>
            <a:off x="566928" y="502920"/>
            <a:ext cx="8229600" cy="274320"/>
          </a:xfrm>
          <a:prstGeom prst="rect">
            <a:avLst/>
          </a:prstGeom>
          <a:noFill/>
          <a:ln/>
        </p:spPr>
        <p:txBody>
          <a:bodyPr wrap="square" lIns="0" tIns="0" rIns="0" bIns="0" rtlCol="0" anchor="ctr"/>
          <a:lstStyle/>
          <a:p>
            <a:pPr indent="0" marL="0">
              <a:buNone/>
            </a:pPr>
            <a:r>
              <a:rPr lang="en-US" sz="1150" b="1" spc="160" kern="0" dirty="0">
                <a:solidFill>
                  <a:srgbClr val="E8B361"/>
                </a:solidFill>
                <a:latin typeface="Calibri" pitchFamily="34" charset="0"/>
                <a:ea typeface="Calibri" pitchFamily="34" charset="-122"/>
                <a:cs typeface="Calibri" pitchFamily="34" charset="-120"/>
              </a:rPr>
              <a:t>LIMITATIONS, AND WHAT FIXING THEM BUYS</a:t>
            </a:r>
            <a:endParaRPr lang="en-US" sz="1150" dirty="0"/>
          </a:p>
        </p:txBody>
      </p:sp>
      <p:sp>
        <p:nvSpPr>
          <p:cNvPr id="5" name="Text 3"/>
          <p:cNvSpPr/>
          <p:nvPr/>
        </p:nvSpPr>
        <p:spPr>
          <a:xfrm>
            <a:off x="566928" y="822960"/>
            <a:ext cx="10515600" cy="64008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What this model cannot do — and what I would spend next</a:t>
            </a:r>
            <a:endParaRPr lang="en-US" sz="2900" dirty="0"/>
          </a:p>
        </p:txBody>
      </p:sp>
      <p:sp>
        <p:nvSpPr>
          <p:cNvPr id="6" name="Shape 4"/>
          <p:cNvSpPr/>
          <p:nvPr/>
        </p:nvSpPr>
        <p:spPr>
          <a:xfrm>
            <a:off x="566928" y="1645920"/>
            <a:ext cx="11055096" cy="786384"/>
          </a:xfrm>
          <a:prstGeom prst="roundRect">
            <a:avLst>
              <a:gd name="adj" fmla="val 9302"/>
            </a:avLst>
          </a:prstGeom>
          <a:solidFill>
            <a:srgbClr val="2A2621"/>
          </a:solidFill>
          <a:ln w="12700">
            <a:solidFill>
              <a:srgbClr val="2A2621"/>
            </a:solidFill>
            <a:prstDash val="solid"/>
          </a:ln>
        </p:spPr>
      </p:sp>
      <p:sp>
        <p:nvSpPr>
          <p:cNvPr id="7" name="Text 5"/>
          <p:cNvSpPr/>
          <p:nvPr/>
        </p:nvSpPr>
        <p:spPr>
          <a:xfrm>
            <a:off x="859536" y="1719072"/>
            <a:ext cx="2834640" cy="310896"/>
          </a:xfrm>
          <a:prstGeom prst="rect">
            <a:avLst/>
          </a:prstGeom>
          <a:noFill/>
          <a:ln/>
        </p:spPr>
        <p:txBody>
          <a:bodyPr wrap="square" lIns="0" tIns="0" rIns="0" bIns="0" rtlCol="0" anchor="ctr"/>
          <a:lstStyle/>
          <a:p>
            <a:pPr indent="0" marL="0">
              <a:buNone/>
            </a:pPr>
            <a:r>
              <a:rPr lang="en-US" sz="1400" b="1" dirty="0">
                <a:solidFill>
                  <a:srgbClr val="E8B361"/>
                </a:solidFill>
                <a:latin typeface="Calibri" pitchFamily="34" charset="0"/>
                <a:ea typeface="Calibri" pitchFamily="34" charset="-122"/>
                <a:cs typeface="Calibri" pitchFamily="34" charset="-120"/>
              </a:rPr>
              <a:t>Ten weeks of 2014</a:t>
            </a:r>
            <a:endParaRPr lang="en-US" sz="1400" dirty="0"/>
          </a:p>
        </p:txBody>
      </p:sp>
      <p:sp>
        <p:nvSpPr>
          <p:cNvPr id="8" name="Text 6"/>
          <p:cNvSpPr/>
          <p:nvPr/>
        </p:nvSpPr>
        <p:spPr>
          <a:xfrm>
            <a:off x="859536" y="2048256"/>
            <a:ext cx="5486400" cy="310896"/>
          </a:xfrm>
          <a:prstGeom prst="rect">
            <a:avLst/>
          </a:prstGeom>
          <a:noFill/>
          <a:ln/>
        </p:spPr>
        <p:txBody>
          <a:bodyPr wrap="square" lIns="0" tIns="0" rIns="0" bIns="0" rtlCol="0" anchor="ctr"/>
          <a:lstStyle/>
          <a:p>
            <a:pPr indent="0" marL="0">
              <a:buNone/>
            </a:pPr>
            <a:r>
              <a:rPr lang="en-US" sz="1250" dirty="0">
                <a:solidFill>
                  <a:srgbClr val="CFE0F0"/>
                </a:solidFill>
                <a:latin typeface="Calibri" pitchFamily="34" charset="0"/>
                <a:ea typeface="Calibri" pitchFamily="34" charset="-122"/>
                <a:cs typeface="Calibri" pitchFamily="34" charset="-120"/>
              </a:rPr>
              <a:t>No seasonality, no trend, a price level more than a decade stale.</a:t>
            </a:r>
            <a:endParaRPr lang="en-US" sz="1250" dirty="0"/>
          </a:p>
        </p:txBody>
      </p:sp>
      <p:sp>
        <p:nvSpPr>
          <p:cNvPr id="9" name="Text 7"/>
          <p:cNvSpPr/>
          <p:nvPr/>
        </p:nvSpPr>
        <p:spPr>
          <a:xfrm>
            <a:off x="6601968" y="1883664"/>
            <a:ext cx="4937760" cy="365760"/>
          </a:xfrm>
          <a:prstGeom prst="rect">
            <a:avLst/>
          </a:prstGeom>
          <a:noFill/>
          <a:ln/>
        </p:spPr>
        <p:txBody>
          <a:bodyPr wrap="square" lIns="0" tIns="0" rIns="0" bIns="0" rtlCol="0" anchor="ctr"/>
          <a:lstStyle/>
          <a:p>
            <a:pPr indent="0" marL="0">
              <a:buNone/>
            </a:pPr>
            <a:r>
              <a:rPr lang="en-US" sz="1250" i="1" dirty="0">
                <a:solidFill>
                  <a:srgbClr val="9FB4C7"/>
                </a:solidFill>
                <a:latin typeface="Calibri" pitchFamily="34" charset="0"/>
                <a:ea typeface="Calibri" pitchFamily="34" charset="-122"/>
                <a:cs typeface="Calibri" pitchFamily="34" charset="-120"/>
              </a:rPr>
              <a:t>More months of data — the only way to say anything about direction.</a:t>
            </a:r>
            <a:endParaRPr lang="en-US" sz="1250" dirty="0"/>
          </a:p>
        </p:txBody>
      </p:sp>
      <p:sp>
        <p:nvSpPr>
          <p:cNvPr id="10" name="Shape 8"/>
          <p:cNvSpPr/>
          <p:nvPr/>
        </p:nvSpPr>
        <p:spPr>
          <a:xfrm>
            <a:off x="566928" y="2560320"/>
            <a:ext cx="11055096" cy="786384"/>
          </a:xfrm>
          <a:prstGeom prst="roundRect">
            <a:avLst>
              <a:gd name="adj" fmla="val 9302"/>
            </a:avLst>
          </a:prstGeom>
          <a:solidFill>
            <a:srgbClr val="2A2621"/>
          </a:solidFill>
          <a:ln w="12700">
            <a:solidFill>
              <a:srgbClr val="2A2621"/>
            </a:solidFill>
            <a:prstDash val="solid"/>
          </a:ln>
        </p:spPr>
      </p:sp>
      <p:sp>
        <p:nvSpPr>
          <p:cNvPr id="11" name="Text 9"/>
          <p:cNvSpPr/>
          <p:nvPr/>
        </p:nvSpPr>
        <p:spPr>
          <a:xfrm>
            <a:off x="859536" y="2633472"/>
            <a:ext cx="2834640" cy="310896"/>
          </a:xfrm>
          <a:prstGeom prst="rect">
            <a:avLst/>
          </a:prstGeom>
          <a:noFill/>
          <a:ln/>
        </p:spPr>
        <p:txBody>
          <a:bodyPr wrap="square" lIns="0" tIns="0" rIns="0" bIns="0" rtlCol="0" anchor="ctr"/>
          <a:lstStyle/>
          <a:p>
            <a:pPr indent="0" marL="0">
              <a:buNone/>
            </a:pPr>
            <a:r>
              <a:rPr lang="en-US" sz="1400" b="1" dirty="0">
                <a:solidFill>
                  <a:srgbClr val="E8B361"/>
                </a:solidFill>
                <a:latin typeface="Calibri" pitchFamily="34" charset="0"/>
                <a:ea typeface="Calibri" pitchFamily="34" charset="-122"/>
                <a:cs typeface="Calibri" pitchFamily="34" charset="-120"/>
              </a:rPr>
              <a:t>Location is coarse</a:t>
            </a:r>
            <a:endParaRPr lang="en-US" sz="1400" dirty="0"/>
          </a:p>
        </p:txBody>
      </p:sp>
      <p:sp>
        <p:nvSpPr>
          <p:cNvPr id="12" name="Text 10"/>
          <p:cNvSpPr/>
          <p:nvPr/>
        </p:nvSpPr>
        <p:spPr>
          <a:xfrm>
            <a:off x="859536" y="2962656"/>
            <a:ext cx="5486400" cy="310896"/>
          </a:xfrm>
          <a:prstGeom prst="rect">
            <a:avLst/>
          </a:prstGeom>
          <a:noFill/>
          <a:ln/>
        </p:spPr>
        <p:txBody>
          <a:bodyPr wrap="square" lIns="0" tIns="0" rIns="0" bIns="0" rtlCol="0" anchor="ctr"/>
          <a:lstStyle/>
          <a:p>
            <a:pPr indent="0" marL="0">
              <a:buNone/>
            </a:pPr>
            <a:r>
              <a:rPr lang="en-US" sz="1250" dirty="0">
                <a:solidFill>
                  <a:srgbClr val="CFE0F0"/>
                </a:solidFill>
                <a:latin typeface="Calibri" pitchFamily="34" charset="0"/>
                <a:ea typeface="Calibri" pitchFamily="34" charset="-122"/>
                <a:cs typeface="Calibri" pitchFamily="34" charset="-120"/>
              </a:rPr>
              <a:t>No building grade, no coordinates; a zip code stands in for a neighbourhood.</a:t>
            </a:r>
            <a:endParaRPr lang="en-US" sz="1250" dirty="0"/>
          </a:p>
        </p:txBody>
      </p:sp>
      <p:sp>
        <p:nvSpPr>
          <p:cNvPr id="13" name="Text 11"/>
          <p:cNvSpPr/>
          <p:nvPr/>
        </p:nvSpPr>
        <p:spPr>
          <a:xfrm>
            <a:off x="6601968" y="2798064"/>
            <a:ext cx="4937760" cy="365760"/>
          </a:xfrm>
          <a:prstGeom prst="rect">
            <a:avLst/>
          </a:prstGeom>
          <a:noFill/>
          <a:ln/>
        </p:spPr>
        <p:txBody>
          <a:bodyPr wrap="square" lIns="0" tIns="0" rIns="0" bIns="0" rtlCol="0" anchor="ctr"/>
          <a:lstStyle/>
          <a:p>
            <a:pPr indent="0" marL="0">
              <a:buNone/>
            </a:pPr>
            <a:r>
              <a:rPr lang="en-US" sz="1250" i="1" dirty="0">
                <a:solidFill>
                  <a:srgbClr val="9FB4C7"/>
                </a:solidFill>
                <a:latin typeface="Calibri" pitchFamily="34" charset="0"/>
                <a:ea typeface="Calibri" pitchFamily="34" charset="-122"/>
                <a:cs typeface="Calibri" pitchFamily="34" charset="-120"/>
              </a:rPr>
              <a:t>Coordinates and grade: the highest-value addition, and the cheapest.</a:t>
            </a:r>
            <a:endParaRPr lang="en-US" sz="1250" dirty="0"/>
          </a:p>
        </p:txBody>
      </p:sp>
      <p:sp>
        <p:nvSpPr>
          <p:cNvPr id="14" name="Shape 12"/>
          <p:cNvSpPr/>
          <p:nvPr/>
        </p:nvSpPr>
        <p:spPr>
          <a:xfrm>
            <a:off x="566928" y="3474720"/>
            <a:ext cx="11055096" cy="786384"/>
          </a:xfrm>
          <a:prstGeom prst="roundRect">
            <a:avLst>
              <a:gd name="adj" fmla="val 9302"/>
            </a:avLst>
          </a:prstGeom>
          <a:solidFill>
            <a:srgbClr val="2A2621"/>
          </a:solidFill>
          <a:ln w="12700">
            <a:solidFill>
              <a:srgbClr val="2A2621"/>
            </a:solidFill>
            <a:prstDash val="solid"/>
          </a:ln>
        </p:spPr>
      </p:sp>
      <p:sp>
        <p:nvSpPr>
          <p:cNvPr id="15" name="Text 13"/>
          <p:cNvSpPr/>
          <p:nvPr/>
        </p:nvSpPr>
        <p:spPr>
          <a:xfrm>
            <a:off x="859536" y="3547872"/>
            <a:ext cx="2834640" cy="310896"/>
          </a:xfrm>
          <a:prstGeom prst="rect">
            <a:avLst/>
          </a:prstGeom>
          <a:noFill/>
          <a:ln/>
        </p:spPr>
        <p:txBody>
          <a:bodyPr wrap="square" lIns="0" tIns="0" rIns="0" bIns="0" rtlCol="0" anchor="ctr"/>
          <a:lstStyle/>
          <a:p>
            <a:pPr indent="0" marL="0">
              <a:buNone/>
            </a:pPr>
            <a:r>
              <a:rPr lang="en-US" sz="1400" b="1" dirty="0">
                <a:solidFill>
                  <a:srgbClr val="E8B361"/>
                </a:solidFill>
                <a:latin typeface="Calibri" pitchFamily="34" charset="0"/>
                <a:ea typeface="Calibri" pitchFamily="34" charset="-122"/>
                <a:cs typeface="Calibri" pitchFamily="34" charset="-120"/>
              </a:rPr>
              <a:t>The top decile is capped</a:t>
            </a:r>
            <a:endParaRPr lang="en-US" sz="1400" dirty="0"/>
          </a:p>
        </p:txBody>
      </p:sp>
      <p:sp>
        <p:nvSpPr>
          <p:cNvPr id="16" name="Text 14"/>
          <p:cNvSpPr/>
          <p:nvPr/>
        </p:nvSpPr>
        <p:spPr>
          <a:xfrm>
            <a:off x="859536" y="3877056"/>
            <a:ext cx="5486400" cy="310896"/>
          </a:xfrm>
          <a:prstGeom prst="rect">
            <a:avLst/>
          </a:prstGeom>
          <a:noFill/>
          <a:ln/>
        </p:spPr>
        <p:txBody>
          <a:bodyPr wrap="square" lIns="0" tIns="0" rIns="0" bIns="0" rtlCol="0" anchor="ctr"/>
          <a:lstStyle/>
          <a:p>
            <a:pPr indent="0" marL="0">
              <a:buNone/>
            </a:pPr>
            <a:r>
              <a:rPr lang="en-US" sz="1250" dirty="0">
                <a:solidFill>
                  <a:srgbClr val="CFE0F0"/>
                </a:solidFill>
                <a:latin typeface="Calibri" pitchFamily="34" charset="0"/>
                <a:ea typeface="Calibri" pitchFamily="34" charset="-122"/>
                <a:cs typeface="Calibri" pitchFamily="34" charset="-120"/>
              </a:rPr>
              <a:t>Trees cannot predict above the highest price they were trained on.</a:t>
            </a:r>
            <a:endParaRPr lang="en-US" sz="1250" dirty="0"/>
          </a:p>
        </p:txBody>
      </p:sp>
      <p:sp>
        <p:nvSpPr>
          <p:cNvPr id="17" name="Text 15"/>
          <p:cNvSpPr/>
          <p:nvPr/>
        </p:nvSpPr>
        <p:spPr>
          <a:xfrm>
            <a:off x="6601968" y="3712464"/>
            <a:ext cx="4937760" cy="365760"/>
          </a:xfrm>
          <a:prstGeom prst="rect">
            <a:avLst/>
          </a:prstGeom>
          <a:noFill/>
          <a:ln/>
        </p:spPr>
        <p:txBody>
          <a:bodyPr wrap="square" lIns="0" tIns="0" rIns="0" bIns="0" rtlCol="0" anchor="ctr"/>
          <a:lstStyle/>
          <a:p>
            <a:pPr indent="0" marL="0">
              <a:buNone/>
            </a:pPr>
            <a:r>
              <a:rPr lang="en-US" sz="1250" i="1" dirty="0">
                <a:solidFill>
                  <a:srgbClr val="9FB4C7"/>
                </a:solidFill>
                <a:latin typeface="Calibri" pitchFamily="34" charset="0"/>
                <a:ea typeface="Calibri" pitchFamily="34" charset="-122"/>
                <a:cs typeface="Calibri" pitchFamily="34" charset="-120"/>
              </a:rPr>
              <a:t>A separate model for the tail, where extrapolation is possible.</a:t>
            </a:r>
            <a:endParaRPr lang="en-US" sz="1250" dirty="0"/>
          </a:p>
        </p:txBody>
      </p:sp>
      <p:sp>
        <p:nvSpPr>
          <p:cNvPr id="18" name="Shape 16"/>
          <p:cNvSpPr/>
          <p:nvPr/>
        </p:nvSpPr>
        <p:spPr>
          <a:xfrm>
            <a:off x="566928" y="4389120"/>
            <a:ext cx="11055096" cy="786384"/>
          </a:xfrm>
          <a:prstGeom prst="roundRect">
            <a:avLst>
              <a:gd name="adj" fmla="val 9302"/>
            </a:avLst>
          </a:prstGeom>
          <a:solidFill>
            <a:srgbClr val="2A2621"/>
          </a:solidFill>
          <a:ln w="12700">
            <a:solidFill>
              <a:srgbClr val="2A2621"/>
            </a:solidFill>
            <a:prstDash val="solid"/>
          </a:ln>
        </p:spPr>
      </p:sp>
      <p:sp>
        <p:nvSpPr>
          <p:cNvPr id="19" name="Text 17"/>
          <p:cNvSpPr/>
          <p:nvPr/>
        </p:nvSpPr>
        <p:spPr>
          <a:xfrm>
            <a:off x="859536" y="4462272"/>
            <a:ext cx="2834640" cy="310896"/>
          </a:xfrm>
          <a:prstGeom prst="rect">
            <a:avLst/>
          </a:prstGeom>
          <a:noFill/>
          <a:ln/>
        </p:spPr>
        <p:txBody>
          <a:bodyPr wrap="square" lIns="0" tIns="0" rIns="0" bIns="0" rtlCol="0" anchor="ctr"/>
          <a:lstStyle/>
          <a:p>
            <a:pPr indent="0" marL="0">
              <a:buNone/>
            </a:pPr>
            <a:r>
              <a:rPr lang="en-US" sz="1400" b="1" dirty="0">
                <a:solidFill>
                  <a:srgbClr val="E8B361"/>
                </a:solidFill>
                <a:latin typeface="Calibri" pitchFamily="34" charset="0"/>
                <a:ea typeface="Calibri" pitchFamily="34" charset="-122"/>
                <a:cs typeface="Calibri" pitchFamily="34" charset="-120"/>
              </a:rPr>
              <a:t>29 waterfront homes</a:t>
            </a:r>
            <a:endParaRPr lang="en-US" sz="1400" dirty="0"/>
          </a:p>
        </p:txBody>
      </p:sp>
      <p:sp>
        <p:nvSpPr>
          <p:cNvPr id="20" name="Text 18"/>
          <p:cNvSpPr/>
          <p:nvPr/>
        </p:nvSpPr>
        <p:spPr>
          <a:xfrm>
            <a:off x="859536" y="4791456"/>
            <a:ext cx="5486400" cy="310896"/>
          </a:xfrm>
          <a:prstGeom prst="rect">
            <a:avLst/>
          </a:prstGeom>
          <a:noFill/>
          <a:ln/>
        </p:spPr>
        <p:txBody>
          <a:bodyPr wrap="square" lIns="0" tIns="0" rIns="0" bIns="0" rtlCol="0" anchor="ctr"/>
          <a:lstStyle/>
          <a:p>
            <a:pPr indent="0" marL="0">
              <a:buNone/>
            </a:pPr>
            <a:r>
              <a:rPr lang="en-US" sz="1250" dirty="0">
                <a:solidFill>
                  <a:srgbClr val="CFE0F0"/>
                </a:solidFill>
                <a:latin typeface="Calibri" pitchFamily="34" charset="0"/>
                <a:ea typeface="Calibri" pitchFamily="34" charset="-122"/>
                <a:cs typeface="Calibri" pitchFamily="34" charset="-120"/>
              </a:rPr>
              <a:t>Too few for any confident claim, however dramatic the headline.</a:t>
            </a:r>
            <a:endParaRPr lang="en-US" sz="1250" dirty="0"/>
          </a:p>
        </p:txBody>
      </p:sp>
      <p:sp>
        <p:nvSpPr>
          <p:cNvPr id="21" name="Text 19"/>
          <p:cNvSpPr/>
          <p:nvPr/>
        </p:nvSpPr>
        <p:spPr>
          <a:xfrm>
            <a:off x="6601968" y="4626864"/>
            <a:ext cx="4937760" cy="365760"/>
          </a:xfrm>
          <a:prstGeom prst="rect">
            <a:avLst/>
          </a:prstGeom>
          <a:noFill/>
          <a:ln/>
        </p:spPr>
        <p:txBody>
          <a:bodyPr wrap="square" lIns="0" tIns="0" rIns="0" bIns="0" rtlCol="0" anchor="ctr"/>
          <a:lstStyle/>
          <a:p>
            <a:pPr indent="0" marL="0">
              <a:buNone/>
            </a:pPr>
            <a:r>
              <a:rPr lang="en-US" sz="1250" i="1" dirty="0">
                <a:solidFill>
                  <a:srgbClr val="9FB4C7"/>
                </a:solidFill>
                <a:latin typeface="Calibri" pitchFamily="34" charset="0"/>
                <a:ea typeface="Calibri" pitchFamily="34" charset="-122"/>
                <a:cs typeface="Calibri" pitchFamily="34" charset="-120"/>
              </a:rPr>
              <a:t>Nothing to spend — say the sample size and move on.</a:t>
            </a:r>
            <a:endParaRPr lang="en-US" sz="1250" dirty="0"/>
          </a:p>
        </p:txBody>
      </p:sp>
      <p:sp>
        <p:nvSpPr>
          <p:cNvPr id="22" name="Shape 20"/>
          <p:cNvSpPr/>
          <p:nvPr/>
        </p:nvSpPr>
        <p:spPr>
          <a:xfrm>
            <a:off x="566928" y="5303520"/>
            <a:ext cx="11055096" cy="786384"/>
          </a:xfrm>
          <a:prstGeom prst="roundRect">
            <a:avLst>
              <a:gd name="adj" fmla="val 9302"/>
            </a:avLst>
          </a:prstGeom>
          <a:solidFill>
            <a:srgbClr val="2A2621"/>
          </a:solidFill>
          <a:ln w="12700">
            <a:solidFill>
              <a:srgbClr val="2A2621"/>
            </a:solidFill>
            <a:prstDash val="solid"/>
          </a:ln>
        </p:spPr>
      </p:sp>
      <p:sp>
        <p:nvSpPr>
          <p:cNvPr id="23" name="Text 21"/>
          <p:cNvSpPr/>
          <p:nvPr/>
        </p:nvSpPr>
        <p:spPr>
          <a:xfrm>
            <a:off x="859536" y="5376672"/>
            <a:ext cx="2834640" cy="310896"/>
          </a:xfrm>
          <a:prstGeom prst="rect">
            <a:avLst/>
          </a:prstGeom>
          <a:noFill/>
          <a:ln/>
        </p:spPr>
        <p:txBody>
          <a:bodyPr wrap="square" lIns="0" tIns="0" rIns="0" bIns="0" rtlCol="0" anchor="ctr"/>
          <a:lstStyle/>
          <a:p>
            <a:pPr indent="0" marL="0">
              <a:buNone/>
            </a:pPr>
            <a:r>
              <a:rPr lang="en-US" sz="1400" b="1" dirty="0">
                <a:solidFill>
                  <a:srgbClr val="E8B361"/>
                </a:solidFill>
                <a:latin typeface="Calibri" pitchFamily="34" charset="0"/>
                <a:ea typeface="Calibri" pitchFamily="34" charset="-122"/>
                <a:cs typeface="Calibri" pitchFamily="34" charset="-120"/>
              </a:rPr>
              <a:t>It cannot see the house</a:t>
            </a:r>
            <a:endParaRPr lang="en-US" sz="1400" dirty="0"/>
          </a:p>
        </p:txBody>
      </p:sp>
      <p:sp>
        <p:nvSpPr>
          <p:cNvPr id="24" name="Text 22"/>
          <p:cNvSpPr/>
          <p:nvPr/>
        </p:nvSpPr>
        <p:spPr>
          <a:xfrm>
            <a:off x="859536" y="5705856"/>
            <a:ext cx="5486400" cy="310896"/>
          </a:xfrm>
          <a:prstGeom prst="rect">
            <a:avLst/>
          </a:prstGeom>
          <a:noFill/>
          <a:ln/>
        </p:spPr>
        <p:txBody>
          <a:bodyPr wrap="square" lIns="0" tIns="0" rIns="0" bIns="0" rtlCol="0" anchor="ctr"/>
          <a:lstStyle/>
          <a:p>
            <a:pPr indent="0" marL="0">
              <a:buNone/>
            </a:pPr>
            <a:r>
              <a:rPr lang="en-US" sz="1250" dirty="0">
                <a:solidFill>
                  <a:srgbClr val="CFE0F0"/>
                </a:solidFill>
                <a:latin typeface="Calibri" pitchFamily="34" charset="0"/>
                <a:ea typeface="Calibri" pitchFamily="34" charset="-122"/>
                <a:cs typeface="Calibri" pitchFamily="34" charset="-120"/>
              </a:rPr>
              <a:t>Condition is a 1–5 rating, not a kitchen, a neighbour, or a rushed sale.</a:t>
            </a:r>
            <a:endParaRPr lang="en-US" sz="1250" dirty="0"/>
          </a:p>
        </p:txBody>
      </p:sp>
      <p:sp>
        <p:nvSpPr>
          <p:cNvPr id="25" name="Text 23"/>
          <p:cNvSpPr/>
          <p:nvPr/>
        </p:nvSpPr>
        <p:spPr>
          <a:xfrm>
            <a:off x="6601968" y="5541264"/>
            <a:ext cx="4937760" cy="365760"/>
          </a:xfrm>
          <a:prstGeom prst="rect">
            <a:avLst/>
          </a:prstGeom>
          <a:noFill/>
          <a:ln/>
        </p:spPr>
        <p:txBody>
          <a:bodyPr wrap="square" lIns="0" tIns="0" rIns="0" bIns="0" rtlCol="0" anchor="ctr"/>
          <a:lstStyle/>
          <a:p>
            <a:pPr indent="0" marL="0">
              <a:buNone/>
            </a:pPr>
            <a:r>
              <a:rPr lang="en-US" sz="1250" i="1" dirty="0">
                <a:solidFill>
                  <a:srgbClr val="9FB4C7"/>
                </a:solidFill>
                <a:latin typeface="Calibri" pitchFamily="34" charset="0"/>
                <a:ea typeface="Calibri" pitchFamily="34" charset="-122"/>
                <a:cs typeface="Calibri" pitchFamily="34" charset="-120"/>
              </a:rPr>
              <a:t>Photographs, and an inspection flag from the agent.</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210"/>
        </a:solidFill>
      </p:bgPr>
    </p:bg>
    <p:spTree>
      <p:nvGrpSpPr>
        <p:cNvPr id="1" name=""/>
        <p:cNvGrpSpPr/>
        <p:nvPr/>
      </p:nvGrpSpPr>
      <p:grpSpPr>
        <a:xfrm>
          <a:off x="0" y="0"/>
          <a:ext cx="0" cy="0"/>
          <a:chOff x="0" y="0"/>
          <a:chExt cx="0" cy="0"/>
        </a:xfrm>
      </p:grpSpPr>
      <p:sp>
        <p:nvSpPr>
          <p:cNvPr id="2" name="Shape 0"/>
          <p:cNvSpPr/>
          <p:nvPr/>
        </p:nvSpPr>
        <p:spPr>
          <a:xfrm>
            <a:off x="-54864" y="-54864"/>
            <a:ext cx="12298680" cy="6967728"/>
          </a:xfrm>
          <a:prstGeom prst="rect">
            <a:avLst/>
          </a:prstGeom>
          <a:solidFill>
            <a:srgbClr val="141210"/>
          </a:solidFill>
          <a:ln w="12700">
            <a:solidFill>
              <a:srgbClr val="141210"/>
            </a:solidFill>
            <a:prstDash val="solid"/>
          </a:ln>
        </p:spPr>
        <p:txBody>
          <a:bodyPr/>
          <a:p/>
        </p:txBody>
      </p:sp>
      <p:sp>
        <p:nvSpPr>
          <p:cNvPr id="3" name="Shape 1"/>
          <p:cNvSpPr/>
          <p:nvPr/>
        </p:nvSpPr>
        <p:spPr>
          <a:xfrm>
            <a:off x="0" y="0"/>
            <a:ext cx="146304" cy="6858000"/>
          </a:xfrm>
          <a:prstGeom prst="rect">
            <a:avLst/>
          </a:prstGeom>
          <a:solidFill>
            <a:srgbClr val="C07214"/>
          </a:solidFill>
          <a:ln w="12700">
            <a:solidFill>
              <a:srgbClr val="C07214"/>
            </a:solidFill>
            <a:prstDash val="solid"/>
          </a:ln>
        </p:spPr>
        <p:txBody>
          <a:bodyPr/>
          <a:p/>
        </p:txBody>
      </p:sp>
      <p:sp>
        <p:nvSpPr>
          <p:cNvPr id="4" name="Text 2"/>
          <p:cNvSpPr/>
          <p:nvPr/>
        </p:nvSpPr>
        <p:spPr>
          <a:xfrm>
            <a:off x="749808" y="105156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5" name="Text 3"/>
          <p:cNvSpPr/>
          <p:nvPr/>
        </p:nvSpPr>
        <p:spPr>
          <a:xfrm>
            <a:off x="749808" y="1920240"/>
            <a:ext cx="7315200" cy="411480"/>
          </a:xfrm>
          <a:prstGeom prst="rect">
            <a:avLst/>
          </a:prstGeom>
          <a:noFill/>
          <a:ln/>
        </p:spPr>
        <p:txBody>
          <a:bodyPr wrap="square" lIns="0" tIns="0" rIns="0" bIns="0" rtlCol="0" anchor="ctr"/>
          <a:lstStyle/>
          <a:p>
            <a:pPr indent="0" marL="0">
              <a:buNone/>
            </a:pPr>
            <a:r>
              <a:rPr lang="en-US" sz="1700" dirty="0">
                <a:solidFill>
                  <a:srgbClr val="D9D2C6"/>
                </a:solidFill>
                <a:latin typeface="Calibri" pitchFamily="34" charset="0"/>
                <a:ea typeface="Calibri" pitchFamily="34" charset="-122"/>
                <a:cs typeface="Calibri" pitchFamily="34" charset="-120"/>
              </a:rPr>
              <a:t>Questions welcome — including the hard ones.</a:t>
            </a:r>
            <a:endParaRPr lang="en-US" sz="1700" dirty="0"/>
          </a:p>
        </p:txBody>
      </p:sp>
      <p:sp>
        <p:nvSpPr>
          <p:cNvPr id="6" name="Shape 4"/>
          <p:cNvSpPr/>
          <p:nvPr/>
        </p:nvSpPr>
        <p:spPr>
          <a:xfrm>
            <a:off x="749808" y="2743200"/>
            <a:ext cx="6766560" cy="749808"/>
          </a:xfrm>
          <a:prstGeom prst="roundRect">
            <a:avLst>
              <a:gd name="adj" fmla="val 7317"/>
            </a:avLst>
          </a:prstGeom>
          <a:solidFill>
            <a:srgbClr val="2A2621"/>
          </a:solidFill>
          <a:ln w="12700">
            <a:solidFill>
              <a:srgbClr val="2A2621"/>
            </a:solidFill>
            <a:prstDash val="solid"/>
          </a:ln>
        </p:spPr>
        <p:txBody>
          <a:bodyPr/>
          <a:p/>
        </p:txBody>
      </p:sp>
      <p:sp>
        <p:nvSpPr>
          <p:cNvPr id="7" name="Text 5"/>
          <p:cNvSpPr/>
          <p:nvPr/>
        </p:nvSpPr>
        <p:spPr>
          <a:xfrm>
            <a:off x="1024128" y="2816352"/>
            <a:ext cx="2743200" cy="274320"/>
          </a:xfrm>
          <a:prstGeom prst="rect">
            <a:avLst/>
          </a:prstGeom>
          <a:noFill/>
          <a:ln/>
        </p:spPr>
        <p:txBody>
          <a:bodyPr wrap="square" lIns="0" tIns="0" rIns="0" bIns="0" rtlCol="0" anchor="ctr"/>
          <a:lstStyle/>
          <a:p>
            <a:pPr indent="0" marL="0">
              <a:buNone/>
            </a:pPr>
            <a:r>
              <a:rPr lang="en-US" sz="1250" b="1" spc="60" kern="0" dirty="0">
                <a:solidFill>
                  <a:srgbClr val="E8B361"/>
                </a:solidFill>
                <a:latin typeface="Calibri" pitchFamily="34" charset="0"/>
                <a:ea typeface="Calibri" pitchFamily="34" charset="-122"/>
                <a:cs typeface="Calibri" pitchFamily="34" charset="-120"/>
              </a:rPr>
              <a:t>EstateIQ live app</a:t>
            </a:r>
            <a:endParaRPr lang="en-US" sz="1250" dirty="0"/>
          </a:p>
        </p:txBody>
      </p:sp>
      <p:sp>
        <p:nvSpPr>
          <p:cNvPr id="8" name="Text 6"/>
          <p:cNvSpPr/>
          <p:nvPr/>
        </p:nvSpPr>
        <p:spPr>
          <a:xfrm>
            <a:off x="1024128" y="3108960"/>
            <a:ext cx="6217920" cy="292608"/>
          </a:xfrm>
          <a:prstGeom prst="rect">
            <a:avLst/>
          </a:prstGeom>
          <a:noFill/>
          <a:ln/>
        </p:spPr>
        <p:txBody>
          <a:bodyPr wrap="square" lIns="0" tIns="0" rIns="0" bIns="0" rtlCol="0" anchor="ctr"/>
          <a:lstStyle/>
          <a:p>
            <a:pPr indent="0" marL="0">
              <a:buNone/>
            </a:pPr>
            <a:r>
              <a:rPr lang="en-US" sz="1300" i="0" dirty="0">
                <a:solidFill>
                  <a:srgbClr val="FFFFFF"/>
                </a:solidFill>
                <a:latin typeface="Calibri" pitchFamily="34" charset="0"/>
                <a:ea typeface="Calibri" pitchFamily="34" charset="-122"/>
                <a:cs typeface="Calibri" pitchFamily="34" charset="-120"/>
              </a:rPr>
              <a:t>real-estate-machine-esraa.streamlit.app</a:t>
            </a:r>
            <a:endParaRPr lang="en-US" sz="1300" dirty="0"/>
          </a:p>
        </p:txBody>
      </p:sp>
      <p:sp>
        <p:nvSpPr>
          <p:cNvPr id="9" name="Shape 7"/>
          <p:cNvSpPr/>
          <p:nvPr/>
        </p:nvSpPr>
        <p:spPr>
          <a:xfrm>
            <a:off x="749808" y="3639312"/>
            <a:ext cx="6766560" cy="749808"/>
          </a:xfrm>
          <a:prstGeom prst="roundRect">
            <a:avLst>
              <a:gd name="adj" fmla="val 7317"/>
            </a:avLst>
          </a:prstGeom>
          <a:solidFill>
            <a:srgbClr val="2A2621"/>
          </a:solidFill>
          <a:ln w="12700">
            <a:solidFill>
              <a:srgbClr val="2A2621"/>
            </a:solidFill>
            <a:prstDash val="solid"/>
          </a:ln>
        </p:spPr>
        <p:txBody>
          <a:bodyPr/>
          <a:p/>
        </p:txBody>
      </p:sp>
      <p:sp>
        <p:nvSpPr>
          <p:cNvPr id="10" name="Text 8"/>
          <p:cNvSpPr/>
          <p:nvPr/>
        </p:nvSpPr>
        <p:spPr>
          <a:xfrm>
            <a:off x="1024128" y="3712464"/>
            <a:ext cx="2743200" cy="274320"/>
          </a:xfrm>
          <a:prstGeom prst="rect">
            <a:avLst/>
          </a:prstGeom>
          <a:noFill/>
          <a:ln/>
        </p:spPr>
        <p:txBody>
          <a:bodyPr wrap="square" lIns="0" tIns="0" rIns="0" bIns="0" rtlCol="0" anchor="ctr"/>
          <a:lstStyle/>
          <a:p>
            <a:pPr indent="0" marL="0">
              <a:buNone/>
            </a:pPr>
            <a:r>
              <a:rPr lang="en-US" sz="1250" b="1" spc="60" kern="0" dirty="0">
                <a:solidFill>
                  <a:srgbClr val="E8B361"/>
                </a:solidFill>
                <a:latin typeface="Calibri" pitchFamily="34" charset="0"/>
                <a:ea typeface="Calibri" pitchFamily="34" charset="-122"/>
                <a:cs typeface="Calibri" pitchFamily="34" charset="-120"/>
              </a:rPr>
              <a:t>Code</a:t>
            </a:r>
            <a:endParaRPr lang="en-US" sz="1250" dirty="0"/>
          </a:p>
        </p:txBody>
      </p:sp>
      <p:sp>
        <p:nvSpPr>
          <p:cNvPr id="11" name="Text 9"/>
          <p:cNvSpPr/>
          <p:nvPr/>
        </p:nvSpPr>
        <p:spPr>
          <a:xfrm>
            <a:off x="1024128" y="4005072"/>
            <a:ext cx="6217920" cy="292608"/>
          </a:xfrm>
          <a:prstGeom prst="rect">
            <a:avLst/>
          </a:prstGeom>
          <a:noFill/>
          <a:ln/>
        </p:spPr>
        <p:txBody>
          <a:bodyPr wrap="square" lIns="0" tIns="0" rIns="0" bIns="0" rtlCol="0" anchor="ctr"/>
          <a:lstStyle/>
          <a:p>
            <a:pPr indent="0" marL="0">
              <a:buNone/>
            </a:pPr>
            <a:r>
              <a:rPr lang="en-US" sz="1300" i="0" dirty="0">
                <a:solidFill>
                  <a:srgbClr val="FFFFFF"/>
                </a:solidFill>
                <a:latin typeface="Calibri" pitchFamily="34" charset="0"/>
                <a:ea typeface="Calibri" pitchFamily="34" charset="-122"/>
                <a:cs typeface="Calibri" pitchFamily="34" charset="-120"/>
              </a:rPr>
              <a:t>github.com/EsraaMaamoun/real-estate-machine</a:t>
            </a:r>
            <a:endParaRPr lang="en-US" sz="1300" dirty="0"/>
          </a:p>
        </p:txBody>
      </p:sp>
      <p:sp>
        <p:nvSpPr>
          <p:cNvPr id="12" name="Shape 10"/>
          <p:cNvSpPr/>
          <p:nvPr/>
        </p:nvSpPr>
        <p:spPr>
          <a:xfrm>
            <a:off x="749808" y="4535424"/>
            <a:ext cx="6766560" cy="749808"/>
          </a:xfrm>
          <a:prstGeom prst="roundRect">
            <a:avLst>
              <a:gd name="adj" fmla="val 7317"/>
            </a:avLst>
          </a:prstGeom>
          <a:solidFill>
            <a:srgbClr val="2A2621"/>
          </a:solidFill>
          <a:ln w="12700">
            <a:solidFill>
              <a:srgbClr val="2A2621"/>
            </a:solidFill>
            <a:prstDash val="solid"/>
          </a:ln>
        </p:spPr>
        <p:txBody>
          <a:bodyPr/>
          <a:p/>
        </p:txBody>
      </p:sp>
      <p:sp>
        <p:nvSpPr>
          <p:cNvPr id="13" name="Text 11"/>
          <p:cNvSpPr/>
          <p:nvPr/>
        </p:nvSpPr>
        <p:spPr>
          <a:xfrm>
            <a:off x="1024128" y="4608576"/>
            <a:ext cx="2743200" cy="274320"/>
          </a:xfrm>
          <a:prstGeom prst="rect">
            <a:avLst/>
          </a:prstGeom>
          <a:noFill/>
          <a:ln/>
        </p:spPr>
        <p:txBody>
          <a:bodyPr wrap="square" lIns="0" tIns="0" rIns="0" bIns="0" rtlCol="0" anchor="ctr"/>
          <a:lstStyle/>
          <a:p>
            <a:pPr indent="0" marL="0">
              <a:buNone/>
            </a:pPr>
            <a:r>
              <a:rPr lang="en-US" sz="1250" b="1" spc="60" kern="0" dirty="0">
                <a:solidFill>
                  <a:srgbClr val="E8B361"/>
                </a:solidFill>
                <a:latin typeface="Calibri" pitchFamily="34" charset="0"/>
                <a:ea typeface="Calibri" pitchFamily="34" charset="-122"/>
                <a:cs typeface="Calibri" pitchFamily="34" charset="-120"/>
              </a:rPr>
              <a:t>Kaggle notebook</a:t>
            </a:r>
            <a:endParaRPr lang="en-US" sz="1250" dirty="0"/>
          </a:p>
        </p:txBody>
      </p:sp>
      <p:sp>
        <p:nvSpPr>
          <p:cNvPr id="14" name="Text 12"/>
          <p:cNvSpPr/>
          <p:nvPr/>
        </p:nvSpPr>
        <p:spPr>
          <a:xfrm>
            <a:off x="1024128" y="4901184"/>
            <a:ext cx="6217920" cy="292608"/>
          </a:xfrm>
          <a:prstGeom prst="rect">
            <a:avLst/>
          </a:prstGeom>
          <a:noFill/>
          <a:ln/>
        </p:spPr>
        <p:txBody>
          <a:bodyPr wrap="square" lIns="0" tIns="0" rIns="0" bIns="0" rtlCol="0" anchor="ctr"/>
          <a:lstStyle/>
          <a:p>
            <a:pPr indent="0" marL="0">
              <a:buNone/>
            </a:pPr>
            <a:r>
              <a:rPr lang="en-US" sz="1300" i="0" dirty="0">
                <a:solidFill>
                  <a:srgbClr val="FFFFFF"/>
                </a:solidFill>
                <a:latin typeface="Calibri" pitchFamily="34" charset="0"/>
                <a:ea typeface="Calibri" pitchFamily="34" charset="-122"/>
                <a:cs typeface="Calibri" pitchFamily="34" charset="-120"/>
              </a:rPr>
              <a:t>kaggle.com/code/esraamaamoun/real-estate-machine-house-price-valuation</a:t>
            </a:r>
            <a:endParaRPr lang="en-US" sz="1300" dirty="0"/>
          </a:p>
        </p:txBody>
      </p:sp>
      <p:sp>
        <p:nvSpPr>
          <p:cNvPr id="15" name="Shape 13"/>
          <p:cNvSpPr/>
          <p:nvPr/>
        </p:nvSpPr>
        <p:spPr>
          <a:xfrm>
            <a:off x="7927848" y="2743200"/>
            <a:ext cx="2697480" cy="2697480"/>
          </a:xfrm>
          <a:prstGeom prst="roundRect">
            <a:avLst>
              <a:gd name="adj" fmla="val 2034"/>
            </a:avLst>
          </a:prstGeom>
          <a:solidFill>
            <a:srgbClr val="FBFAF7"/>
          </a:solidFill>
          <a:ln w="15875">
            <a:solidFill>
              <a:srgbClr val="FBFAF7"/>
            </a:solidFill>
            <a:prstDash val="solid"/>
          </a:ln>
        </p:spPr>
        <p:txBody>
          <a:bodyPr/>
          <a:p/>
        </p:txBody>
      </p:sp>
      <p:sp>
        <p:nvSpPr>
          <p:cNvPr id="18" name="Text 16"/>
          <p:cNvSpPr/>
          <p:nvPr/>
        </p:nvSpPr>
        <p:spPr>
          <a:xfrm>
            <a:off x="749808" y="5989320"/>
            <a:ext cx="10972800" cy="365760"/>
          </a:xfrm>
          <a:prstGeom prst="rect">
            <a:avLst/>
          </a:prstGeom>
          <a:noFill/>
          <a:ln/>
        </p:spPr>
        <p:txBody>
          <a:bodyPr wrap="square" lIns="0" tIns="0" rIns="0" bIns="0" rtlCol="0" anchor="ctr"/>
          <a:lstStyle/>
          <a:p>
            <a:pPr indent="0" marL="0">
              <a:buNone/>
            </a:pPr>
            <a:r>
              <a:rPr lang="en-US" sz="1350" i="1" dirty="0">
                <a:solidFill>
                  <a:srgbClr val="E8B361"/>
                </a:solidFill>
                <a:latin typeface="Calibri" pitchFamily="34" charset="0"/>
                <a:ea typeface="Calibri" pitchFamily="34" charset="-122"/>
                <a:cs typeface="Calibri" pitchFamily="34" charset="-120"/>
              </a:rPr>
              <a:t>10.5% median error  ·  a range that widens where the model is weak  ·  a written reason for every number</a:t>
            </a:r>
            <a:endParaRPr lang="en-US" sz="1350" dirty="0"/>
          </a:p>
        </p:txBody>
      </p:sp>
      <p:pic>
        <p:nvPicPr>
          <p:cNvPr id="19" name="Picture 18" descr="qr_live_app.png"/>
          <p:cNvPicPr>
            <a:picLocks noChangeAspect="1"/>
          </p:cNvPicPr>
          <p:nvPr/>
        </p:nvPicPr>
        <p:blipFill>
          <a:blip r:embed="rId3"/>
          <a:stretch>
            <a:fillRect/>
          </a:stretch>
        </p:blipFill>
        <p:spPr>
          <a:xfrm>
            <a:off x="8129016" y="2944368"/>
            <a:ext cx="2295144" cy="2295144"/>
          </a:xfrm>
          <a:prstGeom prst="rect">
            <a:avLst/>
          </a:prstGeom>
        </p:spPr>
      </p:pic>
      <p:sp>
        <p:nvSpPr>
          <p:cNvPr id="20" name="TextBox 19"/>
          <p:cNvSpPr txBox="1"/>
          <p:nvPr/>
        </p:nvSpPr>
        <p:spPr>
          <a:xfrm>
            <a:off x="7927848" y="5550408"/>
            <a:ext cx="2697480" cy="274320"/>
          </a:xfrm>
          <a:prstGeom prst="rect">
            <a:avLst/>
          </a:prstGeom>
          <a:noFill/>
        </p:spPr>
        <p:txBody>
          <a:bodyPr wrap="none" lIns="0" rIns="0" tIns="0" bIns="0">
            <a:spAutoFit/>
          </a:bodyPr>
          <a:lstStyle/>
          <a:p>
            <a:pPr algn="ctr"/>
            <a:r>
              <a:rPr sz="1150">
                <a:solidFill>
                  <a:srgbClr val="D9D2C6"/>
                </a:solidFill>
                <a:latin typeface="Calibri"/>
              </a:rPr>
              <a:t>Scan to open the live 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Real Estate Machine — Graduation Project</dc:title>
  <dc:subject>PptxGenJS Presentation</dc:subject>
  <dc:creator>Esraa Maamoun</dc:creator>
  <cp:lastModifiedBy>Esraa Maamoun</cp:lastModifiedBy>
  <cp:revision>1</cp:revision>
  <dcterms:created xsi:type="dcterms:W3CDTF">2026-09-19T17:40:48Z</dcterms:created>
  <dcterms:modified xsi:type="dcterms:W3CDTF">2026-09-19T17:40:48Z</dcterms:modified>
</cp:coreProperties>
</file>