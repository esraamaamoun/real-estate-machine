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line: 'I built a tool that values a house in about a second, tells you how much to trust the number, and writes the reasoning in plain English. I will show you the tool at the end. First, why the number is defensible.'
Timing target: 12-14 minutes, leaving time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Lean on the insurance background here: this is exactly the underwriting problem — you are pricing an asset you cannot inspect, from the characteristics you can observe, and you need to know how wrong you are likely to be.
Do not oversell. The claim is a screening tool, not a replacement for an appraiser.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why only 4,345 rows: the source file held more, but rows that could not be parsed into a house — or that were duplicates or impossible — were removed. The next slide has the exact decisions.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did you delete 49 rows?' is on the examiner's list. Answer: a price of 0 or a living area of 0 is impossible, not extreme. They were 1.1% of the data and there is nothing to impute — imputing a price would be inventing the target. Everything else, including the expensive tail, was kept.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log-transform the price?' — three reasons, in order of importance: (1) the error that matters is proportional, not absolute; (2) squared error on raw prices lets the few most expensive houses dominate the fit; (3) it makes the size-price relationship roughly linear.
If pressed on the back-transform: expm1 of a mean in log space predicts the median, not the mean. I tested Duan's smearing estimator to correct that and it made both the bias and the median error worse, so I report the plain back-transform and say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zip code is encoded is worth volunteering: 77 categories one-hot encoded would add 77 sparse columns. Instead each zip is replaced by its smoothed mean price, credibility-weighted with Z = n/(n+20) — the same credibility formula used in actuarial ratemaking against thin cells — and computed out-of-fold so a row's own price never contributes to its own feature.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k = 4?' — the elbow in inertia and the peak of the silhouette score both pointed at 4, and 4 gave segments a person could name. Silhouette is 0.255, which is weak: these are regions of a continuum, not four separate species of house. Say that before anyone else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to slow down on. The examiners want to know that the modelling served a decision. Give one concrete example: a broker with 200 listings runs them all through the app in a minute, and sends a valuer only to the 30 the model is least sure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someone says '98.7% is suspicious' — agree with them, immediately, and then explain why it is not leakage: the target is a cluster label, the classifier only has to reproduce a deterministic geometric rule. The blind experiment (0.818 accuracy, 0.702 macro-F1, notebook 07) is the evidence that the segments are not circular.
All 11 test-set errors fall in the most ambiguous fifth of houses by centroid-distance ratio — the model is wrong exactly where the segments overlap.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MedAPE, not R², is the headline. R² is computed on logged prices where 0.827 and 0.863 sound close; the median percentage error behind them differs by two full points, which on a $500,000 house is $10,000.
Tuning: three 12-combination grid searches, 60 fits each, five-fold cross-validation on the training set only. XGBoost tuned to 10.72% — a hair behind the gradient booster and, as the next slide shows, not distinguishable from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separates the project from a leaderboard exercise. The point: a 0.18 point difference on 869 houses is noise, and reporting it as a win would be dishonest. Say the phrase 'not distinguishable' rather than 'slightly better'.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IAAO = International Association of Assessing Officers; this is their Standard on Ratio Studies. Worth naming the source out loud — it shows the criterion came from the industry rather than from me.
Be honest that COD 14.6 and PRD 1.030 sit at the edges of their bands, not comfortably inside. The next slide explains why PRD is strained: the top decile.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 15% error good enough for a real business?' — the median error is 10.5% and the mean is 14.6%; quote both, because the mean is dragged by the tail and hiding that would be dishonest.
The answer to the question: not for a mortgage valuation, where a lender needs an appraisal. Yes for screening, portfolio triage, and giving a seller a starting range in seconds — which is what the recommendations slide proposed.
48% of houses land within 10% of the sale price. Say that number too; it is the one an agent understands.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Volunteer this slide — do not wait to be asked. The fix, if this went to production, is not a better booster: it is a separate model for the top decile, or a linear model in the tail where extrapolation is possible.
Also honest: deciles 2-4 are marginally better under Ridge than under the booster. The winner is not better everywhere.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SWITCH TO THE LIVE APP HERE. Sixty seconds, in this order: fill the form, press the button, point at the range, point at the biggest driver, then open 'Test it on real sales' and show predictions against true sale prices.
If the WiFi is dead: the recording is on the USB stick, and the local copy runs with no network at all.
If a five-house draw looks bad, that is the point of the tab — say 'five houses is a sample of five; the test-set figure of 10.5% is the one to quote'.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sentence to say out loud: 'The language model cannot change a valuation. There is a tick-box in the app that turns it off, and the price, the range, the drivers and the warnings are identical with it off.'
If asked whether it hallucinates: it can, which is why the output is parsed for numbers and rejected wholesale if any figure was not in the evidence — with a 2% tolerance so rounding is allowed.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Saying these first makes you look strong, not weak — an examiner who has to extract a limitation from you has found a weakness; one who hears it volunteered has found a professional.
If asked 'what would you do with more data?': more time (seasonality and trend), coordinates (distance to water, to a station, to a school), and property tax records. Not more rows of the same ten weeks.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REPLACE THE THREE PLACEHOLDER LINKS before you present — Day 13 produces all three.
If the question is one you cannot answer: 'I did not test that. Here is how I would test it' is a better answer than a guess, and examiners can tell the difference.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740"/>
        </a:solidFill>
      </p:bgPr>
    </p:bg>
    <p:spTree>
      <p:nvGrpSpPr>
        <p:cNvPr id="1" name=""/>
        <p:cNvGrpSpPr/>
        <p:nvPr/>
      </p:nvGrpSpPr>
      <p:grpSpPr>
        <a:xfrm>
          <a:off x="0" y="0"/>
          <a:ext cx="0" cy="0"/>
          <a:chOff x="0" y="0"/>
          <a:chExt cx="0" cy="0"/>
        </a:xfrm>
      </p:grpSpPr>
      <p:sp>
        <p:nvSpPr>
          <p:cNvPr id="2" name="Shape 0"/>
          <p:cNvSpPr/>
          <p:nvPr/>
        </p:nvSpPr>
        <p:spPr>
          <a:xfrm>
            <a:off x="-54864" y="-54864"/>
            <a:ext cx="12298680" cy="6967728"/>
          </a:xfrm>
          <a:prstGeom prst="rect">
            <a:avLst/>
          </a:prstGeom>
          <a:solidFill>
            <a:srgbClr val="0F2740"/>
          </a:solidFill>
          <a:ln w="12700">
            <a:solidFill>
              <a:srgbClr val="0F2740"/>
            </a:solidFill>
            <a:prstDash val="solid"/>
          </a:ln>
        </p:spPr>
      </p:sp>
      <p:sp>
        <p:nvSpPr>
          <p:cNvPr id="3" name="Text 1"/>
          <p:cNvSpPr/>
          <p:nvPr/>
        </p:nvSpPr>
        <p:spPr>
          <a:xfrm>
            <a:off x="566928" y="2057400"/>
            <a:ext cx="9509760" cy="91440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The Real Estate Machine</a:t>
            </a:r>
            <a:endParaRPr lang="en-US" sz="4600" dirty="0"/>
          </a:p>
        </p:txBody>
      </p:sp>
      <p:sp>
        <p:nvSpPr>
          <p:cNvPr id="4" name="Text 2"/>
          <p:cNvSpPr/>
          <p:nvPr/>
        </p:nvSpPr>
        <p:spPr>
          <a:xfrm>
            <a:off x="566928" y="2971800"/>
            <a:ext cx="9509760" cy="457200"/>
          </a:xfrm>
          <a:prstGeom prst="rect">
            <a:avLst/>
          </a:prstGeom>
          <a:noFill/>
          <a:ln/>
        </p:spPr>
        <p:txBody>
          <a:bodyPr wrap="square" lIns="0" tIns="0" rIns="0" bIns="0" rtlCol="0" anchor="ctr"/>
          <a:lstStyle/>
          <a:p>
            <a:pPr indent="0" marL="0">
              <a:buNone/>
            </a:pPr>
            <a:r>
              <a:rPr lang="en-US" sz="2000" dirty="0">
                <a:solidFill>
                  <a:srgbClr val="CFE0F0"/>
                </a:solidFill>
                <a:latin typeface="Calibri" pitchFamily="34" charset="0"/>
                <a:ea typeface="Calibri" pitchFamily="34" charset="-122"/>
                <a:cs typeface="Calibri" pitchFamily="34" charset="-120"/>
              </a:rPr>
              <a:t>Valuing a house, and explaining the valuation</a:t>
            </a:r>
            <a:endParaRPr lang="en-US" sz="2000" dirty="0"/>
          </a:p>
        </p:txBody>
      </p:sp>
      <p:sp>
        <p:nvSpPr>
          <p:cNvPr id="5" name="Shape 3"/>
          <p:cNvSpPr/>
          <p:nvPr/>
        </p:nvSpPr>
        <p:spPr>
          <a:xfrm>
            <a:off x="566928" y="3749040"/>
            <a:ext cx="822960" cy="32004"/>
          </a:xfrm>
          <a:prstGeom prst="rect">
            <a:avLst/>
          </a:prstGeom>
          <a:solidFill>
            <a:srgbClr val="1BAF7A"/>
          </a:solidFill>
          <a:ln w="12700">
            <a:solidFill>
              <a:srgbClr val="1BAF7A"/>
            </a:solidFill>
            <a:prstDash val="solid"/>
          </a:ln>
        </p:spPr>
      </p:sp>
      <p:sp>
        <p:nvSpPr>
          <p:cNvPr id="6" name="Text 4"/>
          <p:cNvSpPr/>
          <p:nvPr/>
        </p:nvSpPr>
        <p:spPr>
          <a:xfrm>
            <a:off x="566928" y="4023360"/>
            <a:ext cx="9509760" cy="365760"/>
          </a:xfrm>
          <a:prstGeom prst="rect">
            <a:avLst/>
          </a:prstGeom>
          <a:noFill/>
          <a:ln/>
        </p:spPr>
        <p:txBody>
          <a:bodyPr wrap="square" lIns="0" tIns="0" rIns="0" bIns="0" rtlCol="0" anchor="ctr"/>
          <a:lstStyle/>
          <a:p>
            <a:pPr indent="0" marL="0">
              <a:buNone/>
            </a:pPr>
            <a:r>
              <a:rPr lang="en-US" sz="1400" dirty="0">
                <a:solidFill>
                  <a:srgbClr val="9FB4C7"/>
                </a:solidFill>
                <a:latin typeface="Calibri" pitchFamily="34" charset="0"/>
                <a:ea typeface="Calibri" pitchFamily="34" charset="-122"/>
                <a:cs typeface="Calibri" pitchFamily="34" charset="-120"/>
              </a:rPr>
              <a:t>Esraa Maamoun   ·   Graduation Project   ·   Data Science</a:t>
            </a:r>
            <a:endParaRPr lang="en-US" sz="1400" dirty="0"/>
          </a:p>
        </p:txBody>
      </p:sp>
      <p:sp>
        <p:nvSpPr>
          <p:cNvPr id="7" name="Text 5"/>
          <p:cNvSpPr/>
          <p:nvPr/>
        </p:nvSpPr>
        <p:spPr>
          <a:xfrm>
            <a:off x="566928" y="5760720"/>
            <a:ext cx="10515600" cy="365760"/>
          </a:xfrm>
          <a:prstGeom prst="rect">
            <a:avLst/>
          </a:prstGeom>
          <a:noFill/>
          <a:ln/>
        </p:spPr>
        <p:txBody>
          <a:bodyPr wrap="square" lIns="0" tIns="0" rIns="0" bIns="0" rtlCol="0" anchor="ctr"/>
          <a:lstStyle/>
          <a:p>
            <a:pPr indent="0" marL="0">
              <a:buNone/>
            </a:pPr>
            <a:r>
              <a:rPr lang="en-US" sz="1300" i="1" dirty="0">
                <a:solidFill>
                  <a:srgbClr val="1BAF7A"/>
                </a:solidFill>
                <a:latin typeface="Calibri" pitchFamily="34" charset="0"/>
                <a:ea typeface="Calibri" pitchFamily="34" charset="-122"/>
                <a:cs typeface="Calibri" pitchFamily="34" charset="-120"/>
              </a:rPr>
              <a:t>4,345 house sales  ·  a gradient booster  ·  SHAP  ·  a language model  ·  a live app</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57200"/>
            <a:ext cx="8229600" cy="256032"/>
          </a:xfrm>
          <a:prstGeom prst="rect">
            <a:avLst/>
          </a:prstGeom>
          <a:noFill/>
          <a:ln/>
        </p:spPr>
        <p:txBody>
          <a:bodyPr wrap="square" lIns="0" tIns="0" rIns="0" bIns="0" rtlCol="0" anchor="ctr"/>
          <a:lstStyle/>
          <a:p>
            <a:pPr indent="0" marL="0">
              <a:buNone/>
            </a:pPr>
            <a:r>
              <a:rPr lang="en-US" sz="1150" b="1" spc="160" kern="0" dirty="0">
                <a:solidFill>
                  <a:srgbClr val="1BAF7A"/>
                </a:solidFill>
                <a:latin typeface="Calibri" pitchFamily="34" charset="0"/>
                <a:ea typeface="Calibri" pitchFamily="34" charset="-122"/>
                <a:cs typeface="Calibri" pitchFamily="34" charset="-120"/>
              </a:rPr>
              <a:t>THE PROBLEM</a:t>
            </a:r>
            <a:endParaRPr lang="en-US" sz="1150" dirty="0"/>
          </a:p>
        </p:txBody>
      </p:sp>
      <p:sp>
        <p:nvSpPr>
          <p:cNvPr id="3" name="Text 1"/>
          <p:cNvSpPr/>
          <p:nvPr/>
        </p:nvSpPr>
        <p:spPr>
          <a:xfrm>
            <a:off x="566928" y="731520"/>
            <a:ext cx="11055096" cy="658368"/>
          </a:xfrm>
          <a:prstGeom prst="rect">
            <a:avLst/>
          </a:prstGeom>
          <a:noFill/>
          <a:ln/>
        </p:spPr>
        <p:txBody>
          <a:bodyPr wrap="square" lIns="0" tIns="0" rIns="0" bIns="0" rtlCol="0" anchor="ctr"/>
          <a:lstStyle/>
          <a:p>
            <a:pPr indent="0" marL="0">
              <a:buNone/>
            </a:pPr>
            <a:r>
              <a:rPr lang="en-US" sz="3000" b="1" dirty="0">
                <a:solidFill>
                  <a:srgbClr val="10202E"/>
                </a:solidFill>
                <a:latin typeface="Cambria" pitchFamily="34" charset="0"/>
                <a:ea typeface="Cambria" pitchFamily="34" charset="-122"/>
                <a:cs typeface="Cambria" pitchFamily="34" charset="-120"/>
              </a:rPr>
              <a:t>A valuation is a decision, and a wrong one costs money</a:t>
            </a:r>
            <a:endParaRPr lang="en-US" sz="3000" dirty="0"/>
          </a:p>
        </p:txBody>
      </p:sp>
      <p:sp>
        <p:nvSpPr>
          <p:cNvPr id="4" name="Shape 2"/>
          <p:cNvSpPr/>
          <p:nvPr/>
        </p:nvSpPr>
        <p:spPr>
          <a:xfrm>
            <a:off x="566928" y="1600200"/>
            <a:ext cx="11055096" cy="1051560"/>
          </a:xfrm>
          <a:prstGeom prst="roundRect">
            <a:avLst>
              <a:gd name="adj" fmla="val 7826"/>
            </a:avLst>
          </a:prstGeom>
          <a:solidFill>
            <a:srgbClr val="F1F5F8"/>
          </a:solidFill>
          <a:ln w="12700">
            <a:solidFill>
              <a:srgbClr val="F1F5F8"/>
            </a:solidFill>
            <a:prstDash val="solid"/>
          </a:ln>
        </p:spPr>
      </p:sp>
      <p:sp>
        <p:nvSpPr>
          <p:cNvPr id="5" name="Shape 3"/>
          <p:cNvSpPr/>
          <p:nvPr/>
        </p:nvSpPr>
        <p:spPr>
          <a:xfrm>
            <a:off x="877824" y="1929384"/>
            <a:ext cx="402336" cy="402336"/>
          </a:xfrm>
          <a:prstGeom prst="ellipse">
            <a:avLst/>
          </a:prstGeom>
          <a:solidFill>
            <a:srgbClr val="2A78D6"/>
          </a:solidFill>
          <a:ln/>
        </p:spPr>
      </p:sp>
      <p:sp>
        <p:nvSpPr>
          <p:cNvPr id="6" name="Text 4"/>
          <p:cNvSpPr/>
          <p:nvPr/>
        </p:nvSpPr>
        <p:spPr>
          <a:xfrm>
            <a:off x="877824" y="192938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5"/>
          <p:cNvSpPr/>
          <p:nvPr/>
        </p:nvSpPr>
        <p:spPr>
          <a:xfrm>
            <a:off x="1527048" y="1783080"/>
            <a:ext cx="2926080" cy="384048"/>
          </a:xfrm>
          <a:prstGeom prst="rect">
            <a:avLst/>
          </a:prstGeom>
          <a:noFill/>
          <a:ln/>
        </p:spPr>
        <p:txBody>
          <a:bodyPr wrap="square" lIns="0" tIns="0" rIns="0" bIns="0" rtlCol="0" anchor="ctr"/>
          <a:lstStyle/>
          <a:p>
            <a:pPr indent="0" marL="0">
              <a:buNone/>
            </a:pPr>
            <a:r>
              <a:rPr lang="en-US" sz="1600" b="1" dirty="0">
                <a:solidFill>
                  <a:srgbClr val="10202E"/>
                </a:solidFill>
                <a:latin typeface="Calibri" pitchFamily="34" charset="0"/>
                <a:ea typeface="Calibri" pitchFamily="34" charset="-122"/>
                <a:cs typeface="Calibri" pitchFamily="34" charset="-120"/>
              </a:rPr>
              <a:t>Sellers</a:t>
            </a:r>
            <a:endParaRPr lang="en-US" sz="1600" dirty="0"/>
          </a:p>
        </p:txBody>
      </p:sp>
      <p:sp>
        <p:nvSpPr>
          <p:cNvPr id="8" name="Text 6"/>
          <p:cNvSpPr/>
          <p:nvPr/>
        </p:nvSpPr>
        <p:spPr>
          <a:xfrm>
            <a:off x="1527048" y="2167128"/>
            <a:ext cx="9509760" cy="384048"/>
          </a:xfrm>
          <a:prstGeom prst="rect">
            <a:avLst/>
          </a:prstGeom>
          <a:noFill/>
          <a:ln/>
        </p:spPr>
        <p:txBody>
          <a:bodyPr wrap="square" lIns="0" tIns="0" rIns="0" bIns="0" rtlCol="0" anchor="ctr"/>
          <a:lstStyle/>
          <a:p>
            <a:pPr indent="0" marL="0">
              <a:buNone/>
            </a:pPr>
            <a:r>
              <a:rPr lang="en-US" sz="1400" dirty="0">
                <a:solidFill>
                  <a:srgbClr val="56646F"/>
                </a:solidFill>
                <a:latin typeface="Calibri" pitchFamily="34" charset="0"/>
                <a:ea typeface="Calibri" pitchFamily="34" charset="-122"/>
                <a:cs typeface="Calibri" pitchFamily="34" charset="-120"/>
              </a:rPr>
              <a:t>Price too high and the listing goes stale; too low and the money is simply gone.</a:t>
            </a:r>
            <a:endParaRPr lang="en-US" sz="1400" dirty="0"/>
          </a:p>
        </p:txBody>
      </p:sp>
      <p:sp>
        <p:nvSpPr>
          <p:cNvPr id="9" name="Shape 7"/>
          <p:cNvSpPr/>
          <p:nvPr/>
        </p:nvSpPr>
        <p:spPr>
          <a:xfrm>
            <a:off x="566928" y="2880360"/>
            <a:ext cx="11055096" cy="1051560"/>
          </a:xfrm>
          <a:prstGeom prst="roundRect">
            <a:avLst>
              <a:gd name="adj" fmla="val 7826"/>
            </a:avLst>
          </a:prstGeom>
          <a:solidFill>
            <a:srgbClr val="F1F5F8"/>
          </a:solidFill>
          <a:ln w="12700">
            <a:solidFill>
              <a:srgbClr val="F1F5F8"/>
            </a:solidFill>
            <a:prstDash val="solid"/>
          </a:ln>
        </p:spPr>
      </p:sp>
      <p:sp>
        <p:nvSpPr>
          <p:cNvPr id="10" name="Shape 8"/>
          <p:cNvSpPr/>
          <p:nvPr/>
        </p:nvSpPr>
        <p:spPr>
          <a:xfrm>
            <a:off x="877824" y="3209544"/>
            <a:ext cx="402336" cy="402336"/>
          </a:xfrm>
          <a:prstGeom prst="ellipse">
            <a:avLst/>
          </a:prstGeom>
          <a:solidFill>
            <a:srgbClr val="2A78D6"/>
          </a:solidFill>
          <a:ln/>
        </p:spPr>
      </p:sp>
      <p:sp>
        <p:nvSpPr>
          <p:cNvPr id="11" name="Text 9"/>
          <p:cNvSpPr/>
          <p:nvPr/>
        </p:nvSpPr>
        <p:spPr>
          <a:xfrm>
            <a:off x="877824" y="320954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2" name="Text 10"/>
          <p:cNvSpPr/>
          <p:nvPr/>
        </p:nvSpPr>
        <p:spPr>
          <a:xfrm>
            <a:off x="1527048" y="3063240"/>
            <a:ext cx="2926080" cy="384048"/>
          </a:xfrm>
          <a:prstGeom prst="rect">
            <a:avLst/>
          </a:prstGeom>
          <a:noFill/>
          <a:ln/>
        </p:spPr>
        <p:txBody>
          <a:bodyPr wrap="square" lIns="0" tIns="0" rIns="0" bIns="0" rtlCol="0" anchor="ctr"/>
          <a:lstStyle/>
          <a:p>
            <a:pPr indent="0" marL="0">
              <a:buNone/>
            </a:pPr>
            <a:r>
              <a:rPr lang="en-US" sz="1600" b="1" dirty="0">
                <a:solidFill>
                  <a:srgbClr val="10202E"/>
                </a:solidFill>
                <a:latin typeface="Calibri" pitchFamily="34" charset="0"/>
                <a:ea typeface="Calibri" pitchFamily="34" charset="-122"/>
                <a:cs typeface="Calibri" pitchFamily="34" charset="-120"/>
              </a:rPr>
              <a:t>Buyers</a:t>
            </a:r>
            <a:endParaRPr lang="en-US" sz="1600" dirty="0"/>
          </a:p>
        </p:txBody>
      </p:sp>
      <p:sp>
        <p:nvSpPr>
          <p:cNvPr id="13" name="Text 11"/>
          <p:cNvSpPr/>
          <p:nvPr/>
        </p:nvSpPr>
        <p:spPr>
          <a:xfrm>
            <a:off x="1527048" y="3447288"/>
            <a:ext cx="9509760" cy="384048"/>
          </a:xfrm>
          <a:prstGeom prst="rect">
            <a:avLst/>
          </a:prstGeom>
          <a:noFill/>
          <a:ln/>
        </p:spPr>
        <p:txBody>
          <a:bodyPr wrap="square" lIns="0" tIns="0" rIns="0" bIns="0" rtlCol="0" anchor="ctr"/>
          <a:lstStyle/>
          <a:p>
            <a:pPr indent="0" marL="0">
              <a:buNone/>
            </a:pPr>
            <a:r>
              <a:rPr lang="en-US" sz="1400" dirty="0">
                <a:solidFill>
                  <a:srgbClr val="56646F"/>
                </a:solidFill>
                <a:latin typeface="Calibri" pitchFamily="34" charset="0"/>
                <a:ea typeface="Calibri" pitchFamily="34" charset="-122"/>
                <a:cs typeface="Calibri" pitchFamily="34" charset="-120"/>
              </a:rPr>
              <a:t>No way to tell an asking price from a fair price without paying for an appraisal.</a:t>
            </a:r>
            <a:endParaRPr lang="en-US" sz="1400" dirty="0"/>
          </a:p>
        </p:txBody>
      </p:sp>
      <p:sp>
        <p:nvSpPr>
          <p:cNvPr id="14" name="Shape 12"/>
          <p:cNvSpPr/>
          <p:nvPr/>
        </p:nvSpPr>
        <p:spPr>
          <a:xfrm>
            <a:off x="566928" y="4160520"/>
            <a:ext cx="11055096" cy="1051560"/>
          </a:xfrm>
          <a:prstGeom prst="roundRect">
            <a:avLst>
              <a:gd name="adj" fmla="val 7826"/>
            </a:avLst>
          </a:prstGeom>
          <a:solidFill>
            <a:srgbClr val="F1F5F8"/>
          </a:solidFill>
          <a:ln w="12700">
            <a:solidFill>
              <a:srgbClr val="F1F5F8"/>
            </a:solidFill>
            <a:prstDash val="solid"/>
          </a:ln>
        </p:spPr>
      </p:sp>
      <p:sp>
        <p:nvSpPr>
          <p:cNvPr id="15" name="Shape 13"/>
          <p:cNvSpPr/>
          <p:nvPr/>
        </p:nvSpPr>
        <p:spPr>
          <a:xfrm>
            <a:off x="877824" y="4489704"/>
            <a:ext cx="402336" cy="402336"/>
          </a:xfrm>
          <a:prstGeom prst="ellipse">
            <a:avLst/>
          </a:prstGeom>
          <a:solidFill>
            <a:srgbClr val="1BAF7A"/>
          </a:solidFill>
          <a:ln/>
        </p:spPr>
      </p:sp>
      <p:sp>
        <p:nvSpPr>
          <p:cNvPr id="16" name="Text 14"/>
          <p:cNvSpPr/>
          <p:nvPr/>
        </p:nvSpPr>
        <p:spPr>
          <a:xfrm>
            <a:off x="877824" y="448970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7" name="Text 15"/>
          <p:cNvSpPr/>
          <p:nvPr/>
        </p:nvSpPr>
        <p:spPr>
          <a:xfrm>
            <a:off x="1527048" y="4343400"/>
            <a:ext cx="2926080" cy="384048"/>
          </a:xfrm>
          <a:prstGeom prst="rect">
            <a:avLst/>
          </a:prstGeom>
          <a:noFill/>
          <a:ln/>
        </p:spPr>
        <p:txBody>
          <a:bodyPr wrap="square" lIns="0" tIns="0" rIns="0" bIns="0" rtlCol="0" anchor="ctr"/>
          <a:lstStyle/>
          <a:p>
            <a:pPr indent="0" marL="0">
              <a:buNone/>
            </a:pPr>
            <a:r>
              <a:rPr lang="en-US" sz="1600" b="1" dirty="0">
                <a:solidFill>
                  <a:srgbClr val="10202E"/>
                </a:solidFill>
                <a:latin typeface="Calibri" pitchFamily="34" charset="0"/>
                <a:ea typeface="Calibri" pitchFamily="34" charset="-122"/>
                <a:cs typeface="Calibri" pitchFamily="34" charset="-120"/>
              </a:rPr>
              <a:t>Brokers and lenders</a:t>
            </a:r>
            <a:endParaRPr lang="en-US" sz="1600" dirty="0"/>
          </a:p>
        </p:txBody>
      </p:sp>
      <p:sp>
        <p:nvSpPr>
          <p:cNvPr id="18" name="Text 16"/>
          <p:cNvSpPr/>
          <p:nvPr/>
        </p:nvSpPr>
        <p:spPr>
          <a:xfrm>
            <a:off x="1527048" y="4727448"/>
            <a:ext cx="9509760" cy="384048"/>
          </a:xfrm>
          <a:prstGeom prst="rect">
            <a:avLst/>
          </a:prstGeom>
          <a:noFill/>
          <a:ln/>
        </p:spPr>
        <p:txBody>
          <a:bodyPr wrap="square" lIns="0" tIns="0" rIns="0" bIns="0" rtlCol="0" anchor="ctr"/>
          <a:lstStyle/>
          <a:p>
            <a:pPr indent="0" marL="0">
              <a:buNone/>
            </a:pPr>
            <a:r>
              <a:rPr lang="en-US" sz="1400" dirty="0">
                <a:solidFill>
                  <a:srgbClr val="56646F"/>
                </a:solidFill>
                <a:latin typeface="Calibri" pitchFamily="34" charset="0"/>
                <a:ea typeface="Calibri" pitchFamily="34" charset="-122"/>
                <a:cs typeface="Calibri" pitchFamily="34" charset="-120"/>
              </a:rPr>
              <a:t>Need a defensible number in minutes, on hundreds of properties, not one at a time.</a:t>
            </a:r>
            <a:endParaRPr lang="en-US" sz="1400" dirty="0"/>
          </a:p>
        </p:txBody>
      </p:sp>
      <p:sp>
        <p:nvSpPr>
          <p:cNvPr id="19" name="Text 17"/>
          <p:cNvSpPr/>
          <p:nvPr/>
        </p:nvSpPr>
        <p:spPr>
          <a:xfrm>
            <a:off x="566928" y="5623560"/>
            <a:ext cx="11055096" cy="457200"/>
          </a:xfrm>
          <a:prstGeom prst="rect">
            <a:avLst/>
          </a:prstGeom>
          <a:noFill/>
          <a:ln/>
        </p:spPr>
        <p:txBody>
          <a:bodyPr wrap="square" lIns="0" tIns="0" rIns="0" bIns="0" rtlCol="0" anchor="ctr"/>
          <a:lstStyle/>
          <a:p>
            <a:pPr indent="0" marL="0">
              <a:buNone/>
            </a:pPr>
            <a:r>
              <a:rPr lang="en-US" sz="1500" i="1" dirty="0">
                <a:solidFill>
                  <a:srgbClr val="10202E"/>
                </a:solidFill>
                <a:latin typeface="Calibri" pitchFamily="34" charset="0"/>
                <a:ea typeface="Calibri" pitchFamily="34" charset="-122"/>
                <a:cs typeface="Calibri" pitchFamily="34" charset="-120"/>
              </a:rPr>
              <a:t>The gap this project fills: a number, an honest range around it, and a reason — produced in about a second, for free.</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57200"/>
            <a:ext cx="8229600" cy="256032"/>
          </a:xfrm>
          <a:prstGeom prst="rect">
            <a:avLst/>
          </a:prstGeom>
          <a:noFill/>
          <a:ln/>
        </p:spPr>
        <p:txBody>
          <a:bodyPr wrap="square" lIns="0" tIns="0" rIns="0" bIns="0" rtlCol="0" anchor="ctr"/>
          <a:lstStyle/>
          <a:p>
            <a:pPr indent="0" marL="0">
              <a:buNone/>
            </a:pPr>
            <a:r>
              <a:rPr lang="en-US" sz="1150" b="1" spc="160" kern="0" dirty="0">
                <a:solidFill>
                  <a:srgbClr val="1BAF7A"/>
                </a:solidFill>
                <a:latin typeface="Calibri" pitchFamily="34" charset="0"/>
                <a:ea typeface="Calibri" pitchFamily="34" charset="-122"/>
                <a:cs typeface="Calibri" pitchFamily="34" charset="-120"/>
              </a:rPr>
              <a:t>THE DATASET</a:t>
            </a:r>
            <a:endParaRPr lang="en-US" sz="1150" dirty="0"/>
          </a:p>
        </p:txBody>
      </p:sp>
      <p:sp>
        <p:nvSpPr>
          <p:cNvPr id="3" name="Text 1"/>
          <p:cNvSpPr/>
          <p:nvPr/>
        </p:nvSpPr>
        <p:spPr>
          <a:xfrm>
            <a:off x="566928" y="731520"/>
            <a:ext cx="11055096" cy="658368"/>
          </a:xfrm>
          <a:prstGeom prst="rect">
            <a:avLst/>
          </a:prstGeom>
          <a:noFill/>
          <a:ln/>
        </p:spPr>
        <p:txBody>
          <a:bodyPr wrap="square" lIns="0" tIns="0" rIns="0" bIns="0" rtlCol="0" anchor="ctr"/>
          <a:lstStyle/>
          <a:p>
            <a:pPr indent="0" marL="0">
              <a:buNone/>
            </a:pPr>
            <a:r>
              <a:rPr lang="en-US" sz="3000" b="1" dirty="0">
                <a:solidFill>
                  <a:srgbClr val="10202E"/>
                </a:solidFill>
                <a:latin typeface="Cambria" pitchFamily="34" charset="0"/>
                <a:ea typeface="Cambria" pitchFamily="34" charset="-122"/>
                <a:cs typeface="Cambria" pitchFamily="34" charset="-120"/>
              </a:rPr>
              <a:t>4,345 sales, ten weeks, one messy file</a:t>
            </a:r>
            <a:endParaRPr lang="en-US" sz="3000" dirty="0"/>
          </a:p>
        </p:txBody>
      </p:sp>
      <p:sp>
        <p:nvSpPr>
          <p:cNvPr id="4" name="Text 2"/>
          <p:cNvSpPr/>
          <p:nvPr/>
        </p:nvSpPr>
        <p:spPr>
          <a:xfrm>
            <a:off x="566928" y="1600200"/>
            <a:ext cx="2468880" cy="658368"/>
          </a:xfrm>
          <a:prstGeom prst="rect">
            <a:avLst/>
          </a:prstGeom>
          <a:noFill/>
          <a:ln/>
        </p:spPr>
        <p:txBody>
          <a:bodyPr wrap="square" lIns="0" tIns="0" rIns="0" bIns="0" rtlCol="0" anchor="ctr"/>
          <a:lstStyle/>
          <a:p>
            <a:pPr indent="0" marL="0">
              <a:buNone/>
            </a:pPr>
            <a:r>
              <a:rPr lang="en-US" sz="4000" b="1" dirty="0">
                <a:solidFill>
                  <a:srgbClr val="10202E"/>
                </a:solidFill>
                <a:latin typeface="Cambria" pitchFamily="34" charset="0"/>
                <a:ea typeface="Cambria" pitchFamily="34" charset="-122"/>
                <a:cs typeface="Cambria" pitchFamily="34" charset="-120"/>
              </a:rPr>
              <a:t>4,345</a:t>
            </a:r>
            <a:endParaRPr lang="en-US" sz="4000" dirty="0"/>
          </a:p>
        </p:txBody>
      </p:sp>
      <p:sp>
        <p:nvSpPr>
          <p:cNvPr id="5" name="Text 3"/>
          <p:cNvSpPr/>
          <p:nvPr/>
        </p:nvSpPr>
        <p:spPr>
          <a:xfrm>
            <a:off x="566928" y="2276856"/>
            <a:ext cx="2468880" cy="566928"/>
          </a:xfrm>
          <a:prstGeom prst="rect">
            <a:avLst/>
          </a:prstGeom>
          <a:noFill/>
          <a:ln/>
        </p:spPr>
        <p:txBody>
          <a:bodyPr wrap="square" lIns="0" tIns="0" rIns="0" bIns="0" rtlCol="0" anchor="t"/>
          <a:lstStyle/>
          <a:p>
            <a:pPr indent="0" marL="0">
              <a:buNone/>
            </a:pPr>
            <a:r>
              <a:rPr lang="en-US" sz="1250" dirty="0">
                <a:solidFill>
                  <a:srgbClr val="56646F"/>
                </a:solidFill>
                <a:latin typeface="Calibri" pitchFamily="34" charset="0"/>
                <a:ea typeface="Calibri" pitchFamily="34" charset="-122"/>
                <a:cs typeface="Calibri" pitchFamily="34" charset="-120"/>
              </a:rPr>
              <a:t>sales, after cleaning</a:t>
            </a:r>
            <a:endParaRPr lang="en-US" sz="1250" dirty="0"/>
          </a:p>
        </p:txBody>
      </p:sp>
      <p:sp>
        <p:nvSpPr>
          <p:cNvPr id="6" name="Text 4"/>
          <p:cNvSpPr/>
          <p:nvPr/>
        </p:nvSpPr>
        <p:spPr>
          <a:xfrm>
            <a:off x="3429000" y="1600200"/>
            <a:ext cx="2468880" cy="658368"/>
          </a:xfrm>
          <a:prstGeom prst="rect">
            <a:avLst/>
          </a:prstGeom>
          <a:noFill/>
          <a:ln/>
        </p:spPr>
        <p:txBody>
          <a:bodyPr wrap="square" lIns="0" tIns="0" rIns="0" bIns="0" rtlCol="0" anchor="ctr"/>
          <a:lstStyle/>
          <a:p>
            <a:pPr indent="0" marL="0">
              <a:buNone/>
            </a:pPr>
            <a:r>
              <a:rPr lang="en-US" sz="4000" b="1" dirty="0">
                <a:solidFill>
                  <a:srgbClr val="10202E"/>
                </a:solidFill>
                <a:latin typeface="Cambria" pitchFamily="34" charset="0"/>
                <a:ea typeface="Cambria" pitchFamily="34" charset="-122"/>
                <a:cs typeface="Cambria" pitchFamily="34" charset="-120"/>
              </a:rPr>
              <a:t>77</a:t>
            </a:r>
            <a:endParaRPr lang="en-US" sz="4000" dirty="0"/>
          </a:p>
        </p:txBody>
      </p:sp>
      <p:sp>
        <p:nvSpPr>
          <p:cNvPr id="7" name="Text 5"/>
          <p:cNvSpPr/>
          <p:nvPr/>
        </p:nvSpPr>
        <p:spPr>
          <a:xfrm>
            <a:off x="3429000" y="2276856"/>
            <a:ext cx="2468880" cy="566928"/>
          </a:xfrm>
          <a:prstGeom prst="rect">
            <a:avLst/>
          </a:prstGeom>
          <a:noFill/>
          <a:ln/>
        </p:spPr>
        <p:txBody>
          <a:bodyPr wrap="square" lIns="0" tIns="0" rIns="0" bIns="0" rtlCol="0" anchor="t"/>
          <a:lstStyle/>
          <a:p>
            <a:pPr indent="0" marL="0">
              <a:buNone/>
            </a:pPr>
            <a:r>
              <a:rPr lang="en-US" sz="1250" dirty="0">
                <a:solidFill>
                  <a:srgbClr val="56646F"/>
                </a:solidFill>
                <a:latin typeface="Calibri" pitchFamily="34" charset="0"/>
                <a:ea typeface="Calibri" pitchFamily="34" charset="-122"/>
                <a:cs typeface="Calibri" pitchFamily="34" charset="-120"/>
              </a:rPr>
              <a:t>zip codes, 44 cities</a:t>
            </a:r>
            <a:endParaRPr lang="en-US" sz="1250" dirty="0"/>
          </a:p>
        </p:txBody>
      </p:sp>
      <p:sp>
        <p:nvSpPr>
          <p:cNvPr id="8" name="Text 6"/>
          <p:cNvSpPr/>
          <p:nvPr/>
        </p:nvSpPr>
        <p:spPr>
          <a:xfrm>
            <a:off x="6291072" y="1600200"/>
            <a:ext cx="2468880" cy="658368"/>
          </a:xfrm>
          <a:prstGeom prst="rect">
            <a:avLst/>
          </a:prstGeom>
          <a:noFill/>
          <a:ln/>
        </p:spPr>
        <p:txBody>
          <a:bodyPr wrap="square" lIns="0" tIns="0" rIns="0" bIns="0" rtlCol="0" anchor="ctr"/>
          <a:lstStyle/>
          <a:p>
            <a:pPr indent="0" marL="0">
              <a:buNone/>
            </a:pPr>
            <a:r>
              <a:rPr lang="en-US" sz="4000" b="1" dirty="0">
                <a:solidFill>
                  <a:srgbClr val="10202E"/>
                </a:solidFill>
                <a:latin typeface="Cambria" pitchFamily="34" charset="0"/>
                <a:ea typeface="Cambria" pitchFamily="34" charset="-122"/>
                <a:cs typeface="Cambria" pitchFamily="34" charset="-120"/>
              </a:rPr>
              <a:t>10 weeks</a:t>
            </a:r>
            <a:endParaRPr lang="en-US" sz="4000" dirty="0"/>
          </a:p>
        </p:txBody>
      </p:sp>
      <p:sp>
        <p:nvSpPr>
          <p:cNvPr id="9" name="Text 7"/>
          <p:cNvSpPr/>
          <p:nvPr/>
        </p:nvSpPr>
        <p:spPr>
          <a:xfrm>
            <a:off x="6291072" y="2276856"/>
            <a:ext cx="2468880" cy="566928"/>
          </a:xfrm>
          <a:prstGeom prst="rect">
            <a:avLst/>
          </a:prstGeom>
          <a:noFill/>
          <a:ln/>
        </p:spPr>
        <p:txBody>
          <a:bodyPr wrap="square" lIns="0" tIns="0" rIns="0" bIns="0" rtlCol="0" anchor="t"/>
          <a:lstStyle/>
          <a:p>
            <a:pPr indent="0" marL="0">
              <a:buNone/>
            </a:pPr>
            <a:r>
              <a:rPr lang="en-US" sz="1250" dirty="0">
                <a:solidFill>
                  <a:srgbClr val="56646F"/>
                </a:solidFill>
                <a:latin typeface="Calibri" pitchFamily="34" charset="0"/>
                <a:ea typeface="Calibri" pitchFamily="34" charset="-122"/>
                <a:cs typeface="Calibri" pitchFamily="34" charset="-120"/>
              </a:rPr>
              <a:t>2 May – 10 July 2014</a:t>
            </a:r>
            <a:endParaRPr lang="en-US" sz="1250" dirty="0"/>
          </a:p>
        </p:txBody>
      </p:sp>
      <p:sp>
        <p:nvSpPr>
          <p:cNvPr id="10" name="Text 8"/>
          <p:cNvSpPr/>
          <p:nvPr/>
        </p:nvSpPr>
        <p:spPr>
          <a:xfrm>
            <a:off x="9153144" y="1600200"/>
            <a:ext cx="2468880" cy="658368"/>
          </a:xfrm>
          <a:prstGeom prst="rect">
            <a:avLst/>
          </a:prstGeom>
          <a:noFill/>
          <a:ln/>
        </p:spPr>
        <p:txBody>
          <a:bodyPr wrap="square" lIns="0" tIns="0" rIns="0" bIns="0" rtlCol="0" anchor="ctr"/>
          <a:lstStyle/>
          <a:p>
            <a:pPr indent="0" marL="0">
              <a:buNone/>
            </a:pPr>
            <a:r>
              <a:rPr lang="en-US" sz="4000" b="1" dirty="0">
                <a:solidFill>
                  <a:srgbClr val="10202E"/>
                </a:solidFill>
                <a:latin typeface="Cambria" pitchFamily="34" charset="0"/>
                <a:ea typeface="Cambria" pitchFamily="34" charset="-122"/>
                <a:cs typeface="Cambria" pitchFamily="34" charset="-120"/>
              </a:rPr>
              <a:t>21</a:t>
            </a:r>
            <a:endParaRPr lang="en-US" sz="4000" dirty="0"/>
          </a:p>
        </p:txBody>
      </p:sp>
      <p:sp>
        <p:nvSpPr>
          <p:cNvPr id="11" name="Text 9"/>
          <p:cNvSpPr/>
          <p:nvPr/>
        </p:nvSpPr>
        <p:spPr>
          <a:xfrm>
            <a:off x="9153144" y="2276856"/>
            <a:ext cx="2468880" cy="566928"/>
          </a:xfrm>
          <a:prstGeom prst="rect">
            <a:avLst/>
          </a:prstGeom>
          <a:noFill/>
          <a:ln/>
        </p:spPr>
        <p:txBody>
          <a:bodyPr wrap="square" lIns="0" tIns="0" rIns="0" bIns="0" rtlCol="0" anchor="t"/>
          <a:lstStyle/>
          <a:p>
            <a:pPr indent="0" marL="0">
              <a:buNone/>
            </a:pPr>
            <a:r>
              <a:rPr lang="en-US" sz="1250" dirty="0">
                <a:solidFill>
                  <a:srgbClr val="56646F"/>
                </a:solidFill>
                <a:latin typeface="Calibri" pitchFamily="34" charset="0"/>
                <a:ea typeface="Calibri" pitchFamily="34" charset="-122"/>
                <a:cs typeface="Calibri" pitchFamily="34" charset="-120"/>
              </a:rPr>
              <a:t>columns after parsing</a:t>
            </a:r>
            <a:endParaRPr lang="en-US" sz="1250" dirty="0"/>
          </a:p>
        </p:txBody>
      </p:sp>
      <p:sp>
        <p:nvSpPr>
          <p:cNvPr id="12" name="Shape 10"/>
          <p:cNvSpPr/>
          <p:nvPr/>
        </p:nvSpPr>
        <p:spPr>
          <a:xfrm>
            <a:off x="566928" y="3200400"/>
            <a:ext cx="11055096" cy="2148840"/>
          </a:xfrm>
          <a:prstGeom prst="roundRect">
            <a:avLst>
              <a:gd name="adj" fmla="val 3830"/>
            </a:avLst>
          </a:prstGeom>
          <a:solidFill>
            <a:srgbClr val="F1F5F8"/>
          </a:solidFill>
          <a:ln w="12700">
            <a:solidFill>
              <a:srgbClr val="F1F5F8"/>
            </a:solidFill>
            <a:prstDash val="solid"/>
          </a:ln>
        </p:spPr>
      </p:sp>
      <p:sp>
        <p:nvSpPr>
          <p:cNvPr id="13" name="Text 11"/>
          <p:cNvSpPr/>
          <p:nvPr/>
        </p:nvSpPr>
        <p:spPr>
          <a:xfrm>
            <a:off x="932688" y="3429000"/>
            <a:ext cx="5029200" cy="365760"/>
          </a:xfrm>
          <a:prstGeom prst="rect">
            <a:avLst/>
          </a:prstGeom>
          <a:noFill/>
          <a:ln/>
        </p:spPr>
        <p:txBody>
          <a:bodyPr wrap="square" lIns="0" tIns="0" rIns="0" bIns="0" rtlCol="0" anchor="ctr"/>
          <a:lstStyle/>
          <a:p>
            <a:pPr indent="0" marL="0">
              <a:buNone/>
            </a:pPr>
            <a:r>
              <a:rPr lang="en-US" sz="1600" b="1" dirty="0">
                <a:solidFill>
                  <a:srgbClr val="10202E"/>
                </a:solidFill>
                <a:latin typeface="Calibri" pitchFamily="34" charset="0"/>
                <a:ea typeface="Calibri" pitchFamily="34" charset="-122"/>
                <a:cs typeface="Calibri" pitchFamily="34" charset="-120"/>
              </a:rPr>
              <a:t>The file was not a CSV.</a:t>
            </a:r>
            <a:endParaRPr lang="en-US" sz="1600" dirty="0"/>
          </a:p>
        </p:txBody>
      </p:sp>
      <p:sp>
        <p:nvSpPr>
          <p:cNvPr id="14" name="Text 12"/>
          <p:cNvSpPr/>
          <p:nvPr/>
        </p:nvSpPr>
        <p:spPr>
          <a:xfrm>
            <a:off x="932688" y="3840480"/>
            <a:ext cx="10607040" cy="1371600"/>
          </a:xfrm>
          <a:prstGeom prst="rect">
            <a:avLst/>
          </a:prstGeom>
          <a:noFill/>
          <a:ln/>
        </p:spPr>
        <p:txBody>
          <a:bodyPr wrap="square" lIns="0" tIns="0" rIns="0" bIns="0" rtlCol="0" anchor="ctr"/>
          <a:lstStyle/>
          <a:p>
            <a:pPr marL="342900" indent="-342900">
              <a:spcAft>
                <a:spcPts val="500"/>
              </a:spcAft>
              <a:buSzPct val="100000"/>
              <a:buChar char="•"/>
            </a:pPr>
            <a:r>
              <a:rPr lang="en-US" sz="1400" dirty="0">
                <a:solidFill>
                  <a:srgbClr val="56646F"/>
                </a:solidFill>
                <a:latin typeface="Calibri" pitchFamily="34" charset="0"/>
                <a:ea typeface="Calibri" pitchFamily="34" charset="-122"/>
                <a:cs typeface="Calibri" pitchFamily="34" charset="-120"/>
              </a:rPr>
              <a:t>JSON with NaN literals that no JSON parser accepts — repaired before loading.</a:t>
            </a:r>
            <a:endParaRPr lang="en-US" sz="1400" dirty="0"/>
          </a:p>
          <a:p>
            <a:pPr marL="342900" indent="-342900">
              <a:spcAft>
                <a:spcPts val="500"/>
              </a:spcAft>
              <a:buSzPct val="100000"/>
              <a:buChar char="•"/>
            </a:pPr>
            <a:r>
              <a:rPr lang="en-US" sz="1400" dirty="0">
                <a:solidFill>
                  <a:srgbClr val="56646F"/>
                </a:solidFill>
                <a:latin typeface="Calibri" pitchFamily="34" charset="0"/>
                <a:ea typeface="Calibri" pitchFamily="34" charset="-122"/>
                <a:cs typeface="Calibri" pitchFamily="34" charset="-120"/>
              </a:rPr>
              <a:t>"rooms" written as free text, with bedrooms and bathrooms in inconsistent order.</a:t>
            </a:r>
            <a:endParaRPr lang="en-US" sz="1400" dirty="0"/>
          </a:p>
          <a:p>
            <a:pPr marL="342900" indent="-342900">
              <a:spcAft>
                <a:spcPts val="500"/>
              </a:spcAft>
              <a:buSzPct val="100000"/>
              <a:buChar char="•"/>
            </a:pPr>
            <a:r>
              <a:rPr lang="en-US" sz="1400" dirty="0">
                <a:solidFill>
                  <a:srgbClr val="56646F"/>
                </a:solidFill>
                <a:latin typeface="Calibri" pitchFamily="34" charset="0"/>
                <a:ea typeface="Calibri" pitchFamily="34" charset="-122"/>
                <a:cs typeface="Calibri" pitchFamily="34" charset="-120"/>
              </a:rPr>
              <a:t>Address as one string; city and zip code split back out of it.</a:t>
            </a:r>
            <a:endParaRPr lang="en-US" sz="1400" dirty="0"/>
          </a:p>
          <a:p>
            <a:pPr marL="342900" indent="-342900">
              <a:spcAft>
                <a:spcPts val="500"/>
              </a:spcAft>
              <a:buSzPct val="100000"/>
              <a:buChar char="•"/>
            </a:pPr>
            <a:r>
              <a:rPr lang="en-US" sz="1400" dirty="0">
                <a:solidFill>
                  <a:srgbClr val="56646F"/>
                </a:solidFill>
                <a:latin typeface="Calibri" pitchFamily="34" charset="0"/>
                <a:ea typeface="Calibri" pitchFamily="34" charset="-122"/>
                <a:cs typeface="Calibri" pitchFamily="34" charset="-120"/>
              </a:rPr>
              <a:t>Dates in mixed formats, some unparseable.</a:t>
            </a:r>
            <a:endParaRPr lang="en-US" sz="1400" dirty="0"/>
          </a:p>
        </p:txBody>
      </p:sp>
      <p:sp>
        <p:nvSpPr>
          <p:cNvPr id="15" name="Text 13"/>
          <p:cNvSpPr/>
          <p:nvPr/>
        </p:nvSpPr>
        <p:spPr>
          <a:xfrm>
            <a:off x="566928" y="5669280"/>
            <a:ext cx="11055096" cy="365760"/>
          </a:xfrm>
          <a:prstGeom prst="rect">
            <a:avLst/>
          </a:prstGeom>
          <a:noFill/>
          <a:ln/>
        </p:spPr>
        <p:txBody>
          <a:bodyPr wrap="square" lIns="0" tIns="0" rIns="0" bIns="0" rtlCol="0" anchor="ctr"/>
          <a:lstStyle/>
          <a:p>
            <a:pPr indent="0" marL="0">
              <a:buNone/>
            </a:pPr>
            <a:r>
              <a:rPr lang="en-US" sz="1400" i="1" dirty="0">
                <a:solidFill>
                  <a:srgbClr val="56646F"/>
                </a:solidFill>
                <a:latin typeface="Calibri" pitchFamily="34" charset="0"/>
                <a:ea typeface="Calibri" pitchFamily="34" charset="-122"/>
                <a:cs typeface="Calibri" pitchFamily="34" charset="-120"/>
              </a:rPr>
              <a:t>Ten weeks of data means no seasonality and no trend. That limitation is structural, and I state it again at the end.</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57200"/>
            <a:ext cx="8229600" cy="256032"/>
          </a:xfrm>
          <a:prstGeom prst="rect">
            <a:avLst/>
          </a:prstGeom>
          <a:noFill/>
          <a:ln/>
        </p:spPr>
        <p:txBody>
          <a:bodyPr wrap="square" lIns="0" tIns="0" rIns="0" bIns="0" rtlCol="0" anchor="ctr"/>
          <a:lstStyle/>
          <a:p>
            <a:pPr indent="0" marL="0">
              <a:buNone/>
            </a:pPr>
            <a:r>
              <a:rPr lang="en-US" sz="1150" b="1" spc="160" kern="0" dirty="0">
                <a:solidFill>
                  <a:srgbClr val="1BAF7A"/>
                </a:solidFill>
                <a:latin typeface="Calibri" pitchFamily="34" charset="0"/>
                <a:ea typeface="Calibri" pitchFamily="34" charset="-122"/>
                <a:cs typeface="Calibri" pitchFamily="34" charset="-120"/>
              </a:rPr>
              <a:t>DATA QUALITY</a:t>
            </a:r>
            <a:endParaRPr lang="en-US" sz="1150" dirty="0"/>
          </a:p>
        </p:txBody>
      </p:sp>
      <p:sp>
        <p:nvSpPr>
          <p:cNvPr id="3" name="Text 1"/>
          <p:cNvSpPr/>
          <p:nvPr/>
        </p:nvSpPr>
        <p:spPr>
          <a:xfrm>
            <a:off x="566928" y="731520"/>
            <a:ext cx="11055096" cy="658368"/>
          </a:xfrm>
          <a:prstGeom prst="rect">
            <a:avLst/>
          </a:prstGeom>
          <a:noFill/>
          <a:ln/>
        </p:spPr>
        <p:txBody>
          <a:bodyPr wrap="square" lIns="0" tIns="0" rIns="0" bIns="0" rtlCol="0" anchor="ctr"/>
          <a:lstStyle/>
          <a:p>
            <a:pPr indent="0" marL="0">
              <a:buNone/>
            </a:pPr>
            <a:r>
              <a:rPr lang="en-US" sz="3000" b="1" dirty="0">
                <a:solidFill>
                  <a:srgbClr val="10202E"/>
                </a:solidFill>
                <a:latin typeface="Cambria" pitchFamily="34" charset="0"/>
                <a:ea typeface="Cambria" pitchFamily="34" charset="-122"/>
                <a:cs typeface="Cambria" pitchFamily="34" charset="-120"/>
              </a:rPr>
              <a:t>Four cleaning decisions I can defend</a:t>
            </a:r>
            <a:endParaRPr lang="en-US" sz="3000" dirty="0"/>
          </a:p>
        </p:txBody>
      </p:sp>
      <p:sp>
        <p:nvSpPr>
          <p:cNvPr id="4" name="Shape 2"/>
          <p:cNvSpPr/>
          <p:nvPr/>
        </p:nvSpPr>
        <p:spPr>
          <a:xfrm>
            <a:off x="566928" y="1554480"/>
            <a:ext cx="5344668" cy="1965960"/>
          </a:xfrm>
          <a:prstGeom prst="roundRect">
            <a:avLst>
              <a:gd name="adj" fmla="val 4186"/>
            </a:avLst>
          </a:prstGeom>
          <a:solidFill>
            <a:srgbClr val="F1F5F8"/>
          </a:solidFill>
          <a:ln w="12700">
            <a:solidFill>
              <a:srgbClr val="F1F5F8"/>
            </a:solidFill>
            <a:prstDash val="solid"/>
          </a:ln>
        </p:spPr>
      </p:sp>
      <p:sp>
        <p:nvSpPr>
          <p:cNvPr id="5" name="Text 3"/>
          <p:cNvSpPr/>
          <p:nvPr/>
        </p:nvSpPr>
        <p:spPr>
          <a:xfrm>
            <a:off x="859536" y="1755648"/>
            <a:ext cx="4759452" cy="365760"/>
          </a:xfrm>
          <a:prstGeom prst="rect">
            <a:avLst/>
          </a:prstGeom>
          <a:noFill/>
          <a:ln/>
        </p:spPr>
        <p:txBody>
          <a:bodyPr wrap="square" lIns="0" tIns="0" rIns="0" bIns="0" rtlCol="0" anchor="ctr"/>
          <a:lstStyle/>
          <a:p>
            <a:pPr indent="0" marL="0">
              <a:buNone/>
            </a:pPr>
            <a:r>
              <a:rPr lang="en-US" sz="1600" b="1" dirty="0">
                <a:solidFill>
                  <a:srgbClr val="10202E"/>
                </a:solidFill>
                <a:latin typeface="Calibri" pitchFamily="34" charset="0"/>
                <a:ea typeface="Calibri" pitchFamily="34" charset="-122"/>
                <a:cs typeface="Calibri" pitchFamily="34" charset="-120"/>
              </a:rPr>
              <a:t>Deleted 49 rows</a:t>
            </a:r>
            <a:endParaRPr lang="en-US" sz="1600" dirty="0"/>
          </a:p>
        </p:txBody>
      </p:sp>
      <p:sp>
        <p:nvSpPr>
          <p:cNvPr id="6" name="Text 4"/>
          <p:cNvSpPr/>
          <p:nvPr/>
        </p:nvSpPr>
        <p:spPr>
          <a:xfrm>
            <a:off x="859536" y="2176272"/>
            <a:ext cx="4759452" cy="1188720"/>
          </a:xfrm>
          <a:prstGeom prst="rect">
            <a:avLst/>
          </a:prstGeom>
          <a:noFill/>
          <a:ln/>
        </p:spPr>
        <p:txBody>
          <a:bodyPr wrap="square" lIns="0" tIns="0" rIns="0" bIns="0" rtlCol="0" anchor="t"/>
          <a:lstStyle/>
          <a:p>
            <a:pPr indent="0" marL="0">
              <a:buNone/>
            </a:pPr>
            <a:r>
              <a:rPr lang="en-US" sz="1350" dirty="0">
                <a:solidFill>
                  <a:srgbClr val="56646F"/>
                </a:solidFill>
                <a:latin typeface="Calibri" pitchFamily="34" charset="0"/>
                <a:ea typeface="Calibri" pitchFamily="34" charset="-122"/>
                <a:cs typeface="Calibri" pitchFamily="34" charset="-120"/>
              </a:rPr>
              <a:t>Price of zero or a living area of zero. These are not cheap houses, they are missing data wearing a number. 1.1% of the file — small enough to drop, and dropping is honest; imputing a price would invent the target.</a:t>
            </a:r>
            <a:endParaRPr lang="en-US" sz="1350" dirty="0"/>
          </a:p>
        </p:txBody>
      </p:sp>
      <p:sp>
        <p:nvSpPr>
          <p:cNvPr id="7" name="Shape 5"/>
          <p:cNvSpPr/>
          <p:nvPr/>
        </p:nvSpPr>
        <p:spPr>
          <a:xfrm>
            <a:off x="6277356" y="1554480"/>
            <a:ext cx="5344668" cy="1965960"/>
          </a:xfrm>
          <a:prstGeom prst="roundRect">
            <a:avLst>
              <a:gd name="adj" fmla="val 4186"/>
            </a:avLst>
          </a:prstGeom>
          <a:solidFill>
            <a:srgbClr val="F1F5F8"/>
          </a:solidFill>
          <a:ln w="12700">
            <a:solidFill>
              <a:srgbClr val="F1F5F8"/>
            </a:solidFill>
            <a:prstDash val="solid"/>
          </a:ln>
        </p:spPr>
      </p:sp>
      <p:sp>
        <p:nvSpPr>
          <p:cNvPr id="8" name="Text 6"/>
          <p:cNvSpPr/>
          <p:nvPr/>
        </p:nvSpPr>
        <p:spPr>
          <a:xfrm>
            <a:off x="6569964" y="1755648"/>
            <a:ext cx="4759452" cy="365760"/>
          </a:xfrm>
          <a:prstGeom prst="rect">
            <a:avLst/>
          </a:prstGeom>
          <a:noFill/>
          <a:ln/>
        </p:spPr>
        <p:txBody>
          <a:bodyPr wrap="square" lIns="0" tIns="0" rIns="0" bIns="0" rtlCol="0" anchor="ctr"/>
          <a:lstStyle/>
          <a:p>
            <a:pPr indent="0" marL="0">
              <a:buNone/>
            </a:pPr>
            <a:r>
              <a:rPr lang="en-US" sz="1600" b="1" dirty="0">
                <a:solidFill>
                  <a:srgbClr val="10202E"/>
                </a:solidFill>
                <a:latin typeface="Calibri" pitchFamily="34" charset="0"/>
                <a:ea typeface="Calibri" pitchFamily="34" charset="-122"/>
                <a:cs typeface="Calibri" pitchFamily="34" charset="-120"/>
              </a:rPr>
              <a:t>Kept the outliers</a:t>
            </a:r>
            <a:endParaRPr lang="en-US" sz="1600" dirty="0"/>
          </a:p>
        </p:txBody>
      </p:sp>
      <p:sp>
        <p:nvSpPr>
          <p:cNvPr id="9" name="Text 7"/>
          <p:cNvSpPr/>
          <p:nvPr/>
        </p:nvSpPr>
        <p:spPr>
          <a:xfrm>
            <a:off x="6569964" y="2176272"/>
            <a:ext cx="4759452" cy="1188720"/>
          </a:xfrm>
          <a:prstGeom prst="rect">
            <a:avLst/>
          </a:prstGeom>
          <a:noFill/>
          <a:ln/>
        </p:spPr>
        <p:txBody>
          <a:bodyPr wrap="square" lIns="0" tIns="0" rIns="0" bIns="0" rtlCol="0" anchor="t"/>
          <a:lstStyle/>
          <a:p>
            <a:pPr indent="0" marL="0">
              <a:buNone/>
            </a:pPr>
            <a:r>
              <a:rPr lang="en-US" sz="1350" dirty="0">
                <a:solidFill>
                  <a:srgbClr val="56646F"/>
                </a:solidFill>
                <a:latin typeface="Calibri" pitchFamily="34" charset="0"/>
                <a:ea typeface="Calibri" pitchFamily="34" charset="-122"/>
                <a:cs typeface="Calibri" pitchFamily="34" charset="-120"/>
              </a:rPr>
              <a:t>The $26m sale is real. Removing expensive houses because they are hard to predict is how a model gets a flattering error rate and no use.</a:t>
            </a:r>
            <a:endParaRPr lang="en-US" sz="1350" dirty="0"/>
          </a:p>
        </p:txBody>
      </p:sp>
      <p:sp>
        <p:nvSpPr>
          <p:cNvPr id="10" name="Shape 8"/>
          <p:cNvSpPr/>
          <p:nvPr/>
        </p:nvSpPr>
        <p:spPr>
          <a:xfrm>
            <a:off x="566928" y="3840480"/>
            <a:ext cx="5344668" cy="1965960"/>
          </a:xfrm>
          <a:prstGeom prst="roundRect">
            <a:avLst>
              <a:gd name="adj" fmla="val 4186"/>
            </a:avLst>
          </a:prstGeom>
          <a:solidFill>
            <a:srgbClr val="F1F5F8"/>
          </a:solidFill>
          <a:ln w="12700">
            <a:solidFill>
              <a:srgbClr val="F1F5F8"/>
            </a:solidFill>
            <a:prstDash val="solid"/>
          </a:ln>
        </p:spPr>
      </p:sp>
      <p:sp>
        <p:nvSpPr>
          <p:cNvPr id="11" name="Text 9"/>
          <p:cNvSpPr/>
          <p:nvPr/>
        </p:nvSpPr>
        <p:spPr>
          <a:xfrm>
            <a:off x="859536" y="4041648"/>
            <a:ext cx="4759452" cy="365760"/>
          </a:xfrm>
          <a:prstGeom prst="rect">
            <a:avLst/>
          </a:prstGeom>
          <a:noFill/>
          <a:ln/>
        </p:spPr>
        <p:txBody>
          <a:bodyPr wrap="square" lIns="0" tIns="0" rIns="0" bIns="0" rtlCol="0" anchor="ctr"/>
          <a:lstStyle/>
          <a:p>
            <a:pPr indent="0" marL="0">
              <a:buNone/>
            </a:pPr>
            <a:r>
              <a:rPr lang="en-US" sz="1600" b="1" dirty="0">
                <a:solidFill>
                  <a:srgbClr val="10202E"/>
                </a:solidFill>
                <a:latin typeface="Calibri" pitchFamily="34" charset="0"/>
                <a:ea typeface="Calibri" pitchFamily="34" charset="-122"/>
                <a:cs typeface="Calibri" pitchFamily="34" charset="-120"/>
              </a:rPr>
              <a:t>Split address into city and zip</a:t>
            </a:r>
            <a:endParaRPr lang="en-US" sz="1600" dirty="0"/>
          </a:p>
        </p:txBody>
      </p:sp>
      <p:sp>
        <p:nvSpPr>
          <p:cNvPr id="12" name="Text 10"/>
          <p:cNvSpPr/>
          <p:nvPr/>
        </p:nvSpPr>
        <p:spPr>
          <a:xfrm>
            <a:off x="859536" y="4462272"/>
            <a:ext cx="4759452" cy="1188720"/>
          </a:xfrm>
          <a:prstGeom prst="rect">
            <a:avLst/>
          </a:prstGeom>
          <a:noFill/>
          <a:ln/>
        </p:spPr>
        <p:txBody>
          <a:bodyPr wrap="square" lIns="0" tIns="0" rIns="0" bIns="0" rtlCol="0" anchor="t"/>
          <a:lstStyle/>
          <a:p>
            <a:pPr indent="0" marL="0">
              <a:buNone/>
            </a:pPr>
            <a:r>
              <a:rPr lang="en-US" sz="1350" dirty="0">
                <a:solidFill>
                  <a:srgbClr val="56646F"/>
                </a:solidFill>
                <a:latin typeface="Calibri" pitchFamily="34" charset="0"/>
                <a:ea typeface="Calibri" pitchFamily="34" charset="-122"/>
                <a:cs typeface="Calibri" pitchFamily="34" charset="-120"/>
              </a:rPr>
              <a:t>Location is the strongest signal in the data. It arrived as a comma-separated string.</a:t>
            </a:r>
            <a:endParaRPr lang="en-US" sz="1350" dirty="0"/>
          </a:p>
        </p:txBody>
      </p:sp>
      <p:sp>
        <p:nvSpPr>
          <p:cNvPr id="13" name="Shape 11"/>
          <p:cNvSpPr/>
          <p:nvPr/>
        </p:nvSpPr>
        <p:spPr>
          <a:xfrm>
            <a:off x="6277356" y="3840480"/>
            <a:ext cx="5344668" cy="1965960"/>
          </a:xfrm>
          <a:prstGeom prst="roundRect">
            <a:avLst>
              <a:gd name="adj" fmla="val 4186"/>
            </a:avLst>
          </a:prstGeom>
          <a:solidFill>
            <a:srgbClr val="F1F5F8"/>
          </a:solidFill>
          <a:ln w="12700">
            <a:solidFill>
              <a:srgbClr val="F1F5F8"/>
            </a:solidFill>
            <a:prstDash val="solid"/>
          </a:ln>
        </p:spPr>
      </p:sp>
      <p:sp>
        <p:nvSpPr>
          <p:cNvPr id="14" name="Text 12"/>
          <p:cNvSpPr/>
          <p:nvPr/>
        </p:nvSpPr>
        <p:spPr>
          <a:xfrm>
            <a:off x="6569964" y="4041648"/>
            <a:ext cx="4759452" cy="365760"/>
          </a:xfrm>
          <a:prstGeom prst="rect">
            <a:avLst/>
          </a:prstGeom>
          <a:noFill/>
          <a:ln/>
        </p:spPr>
        <p:txBody>
          <a:bodyPr wrap="square" lIns="0" tIns="0" rIns="0" bIns="0" rtlCol="0" anchor="ctr"/>
          <a:lstStyle/>
          <a:p>
            <a:pPr indent="0" marL="0">
              <a:buNone/>
            </a:pPr>
            <a:r>
              <a:rPr lang="en-US" sz="1600" b="1" dirty="0">
                <a:solidFill>
                  <a:srgbClr val="E34948"/>
                </a:solidFill>
                <a:latin typeface="Calibri" pitchFamily="34" charset="0"/>
                <a:ea typeface="Calibri" pitchFamily="34" charset="-122"/>
                <a:cs typeface="Calibri" pitchFamily="34" charset="-120"/>
              </a:rPr>
              <a:t>Never touched price_per_sqft</a:t>
            </a:r>
            <a:endParaRPr lang="en-US" sz="1600" dirty="0"/>
          </a:p>
        </p:txBody>
      </p:sp>
      <p:sp>
        <p:nvSpPr>
          <p:cNvPr id="15" name="Text 13"/>
          <p:cNvSpPr/>
          <p:nvPr/>
        </p:nvSpPr>
        <p:spPr>
          <a:xfrm>
            <a:off x="6569964" y="4462272"/>
            <a:ext cx="4759452" cy="1188720"/>
          </a:xfrm>
          <a:prstGeom prst="rect">
            <a:avLst/>
          </a:prstGeom>
          <a:noFill/>
          <a:ln/>
        </p:spPr>
        <p:txBody>
          <a:bodyPr wrap="square" lIns="0" tIns="0" rIns="0" bIns="0" rtlCol="0" anchor="t"/>
          <a:lstStyle/>
          <a:p>
            <a:pPr indent="0" marL="0">
              <a:buNone/>
            </a:pPr>
            <a:r>
              <a:rPr lang="en-US" sz="1350" dirty="0">
                <a:solidFill>
                  <a:srgbClr val="56646F"/>
                </a:solidFill>
                <a:latin typeface="Calibri" pitchFamily="34" charset="0"/>
                <a:ea typeface="Calibri" pitchFamily="34" charset="-122"/>
                <a:cs typeface="Calibri" pitchFamily="34" charset="-120"/>
              </a:rPr>
              <a:t>It is price divided by size, so it contains the answer. Feeding it to the model gives R² near 0.99 and a model that can only value houses already sold.</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57200"/>
            <a:ext cx="8229600" cy="256032"/>
          </a:xfrm>
          <a:prstGeom prst="rect">
            <a:avLst/>
          </a:prstGeom>
          <a:noFill/>
          <a:ln/>
        </p:spPr>
        <p:txBody>
          <a:bodyPr wrap="square" lIns="0" tIns="0" rIns="0" bIns="0" rtlCol="0" anchor="ctr"/>
          <a:lstStyle/>
          <a:p>
            <a:pPr indent="0" marL="0">
              <a:buNone/>
            </a:pPr>
            <a:r>
              <a:rPr lang="en-US" sz="1150" b="1" spc="160" kern="0" dirty="0">
                <a:solidFill>
                  <a:srgbClr val="1BAF7A"/>
                </a:solidFill>
                <a:latin typeface="Calibri" pitchFamily="34" charset="0"/>
                <a:ea typeface="Calibri" pitchFamily="34" charset="-122"/>
                <a:cs typeface="Calibri" pitchFamily="34" charset="-120"/>
              </a:rPr>
              <a:t>INSIGHT 1 OF 3</a:t>
            </a:r>
            <a:endParaRPr lang="en-US" sz="1150" dirty="0"/>
          </a:p>
        </p:txBody>
      </p:sp>
      <p:sp>
        <p:nvSpPr>
          <p:cNvPr id="3" name="Text 1"/>
          <p:cNvSpPr/>
          <p:nvPr/>
        </p:nvSpPr>
        <p:spPr>
          <a:xfrm>
            <a:off x="566928" y="731520"/>
            <a:ext cx="11055096" cy="658368"/>
          </a:xfrm>
          <a:prstGeom prst="rect">
            <a:avLst/>
          </a:prstGeom>
          <a:noFill/>
          <a:ln/>
        </p:spPr>
        <p:txBody>
          <a:bodyPr wrap="square" lIns="0" tIns="0" rIns="0" bIns="0" rtlCol="0" anchor="ctr"/>
          <a:lstStyle/>
          <a:p>
            <a:pPr indent="0" marL="0">
              <a:buNone/>
            </a:pPr>
            <a:r>
              <a:rPr lang="en-US" sz="3000" b="1" dirty="0">
                <a:solidFill>
                  <a:srgbClr val="10202E"/>
                </a:solidFill>
                <a:latin typeface="Cambria" pitchFamily="34" charset="0"/>
                <a:ea typeface="Cambria" pitchFamily="34" charset="-122"/>
                <a:cs typeface="Cambria" pitchFamily="34" charset="-120"/>
              </a:rPr>
              <a:t>Prices are multiplicative, so the model learns logs</a:t>
            </a:r>
            <a:endParaRPr lang="en-US" sz="3000" dirty="0"/>
          </a:p>
        </p:txBody>
      </p:sp>
      <p:pic>
        <p:nvPicPr>
          <p:cNvPr id="4" name="Image 0" descr="/root/proj/reports/slides/fig_price_skew.png">    </p:cNvPr>
          <p:cNvPicPr>
            <a:picLocks noChangeAspect="1"/>
          </p:cNvPicPr>
          <p:nvPr/>
        </p:nvPicPr>
        <p:blipFill>
          <a:blip r:embed="rId1"/>
          <a:stretch>
            <a:fillRect/>
          </a:stretch>
        </p:blipFill>
        <p:spPr>
          <a:xfrm>
            <a:off x="566928" y="1463040"/>
            <a:ext cx="11064240" cy="3621024"/>
          </a:xfrm>
          <a:prstGeom prst="rect">
            <a:avLst/>
          </a:prstGeom>
        </p:spPr>
      </p:pic>
      <p:sp>
        <p:nvSpPr>
          <p:cNvPr id="5" name="Text 2"/>
          <p:cNvSpPr/>
          <p:nvPr/>
        </p:nvSpPr>
        <p:spPr>
          <a:xfrm>
            <a:off x="566928" y="5257800"/>
            <a:ext cx="11055096" cy="731520"/>
          </a:xfrm>
          <a:prstGeom prst="rect">
            <a:avLst/>
          </a:prstGeom>
          <a:noFill/>
          <a:ln/>
        </p:spPr>
        <p:txBody>
          <a:bodyPr wrap="square" lIns="0" tIns="0" rIns="0" bIns="0" rtlCol="0" anchor="ctr"/>
          <a:lstStyle/>
          <a:p>
            <a:pPr indent="0" marL="0">
              <a:buNone/>
            </a:pPr>
            <a:r>
              <a:rPr lang="en-US" sz="1450" dirty="0">
                <a:solidFill>
                  <a:srgbClr val="56646F"/>
                </a:solidFill>
                <a:latin typeface="Calibri" pitchFamily="34" charset="0"/>
                <a:ea typeface="Calibri" pitchFamily="34" charset="-122"/>
                <a:cs typeface="Calibri" pitchFamily="34" charset="-120"/>
              </a:rPr>
              <a:t>Skew falls from 4.02 to 0.34. An error of 10% then costs the same whether the house is worth $200k or $2m — which is the honest way to measure a valuation, and the reason every headline number in this deck is a percentage.</a:t>
            </a:r>
            <a:endParaRPr lang="en-US" sz="14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57200"/>
            <a:ext cx="8229600" cy="256032"/>
          </a:xfrm>
          <a:prstGeom prst="rect">
            <a:avLst/>
          </a:prstGeom>
          <a:noFill/>
          <a:ln/>
        </p:spPr>
        <p:txBody>
          <a:bodyPr wrap="square" lIns="0" tIns="0" rIns="0" bIns="0" rtlCol="0" anchor="ctr"/>
          <a:lstStyle/>
          <a:p>
            <a:pPr indent="0" marL="0">
              <a:buNone/>
            </a:pPr>
            <a:r>
              <a:rPr lang="en-US" sz="1150" b="1" spc="160" kern="0" dirty="0">
                <a:solidFill>
                  <a:srgbClr val="1BAF7A"/>
                </a:solidFill>
                <a:latin typeface="Calibri" pitchFamily="34" charset="0"/>
                <a:ea typeface="Calibri" pitchFamily="34" charset="-122"/>
                <a:cs typeface="Calibri" pitchFamily="34" charset="-120"/>
              </a:rPr>
              <a:t>INSIGHT 2 OF 3</a:t>
            </a:r>
            <a:endParaRPr lang="en-US" sz="1150" dirty="0"/>
          </a:p>
        </p:txBody>
      </p:sp>
      <p:sp>
        <p:nvSpPr>
          <p:cNvPr id="3" name="Text 1"/>
          <p:cNvSpPr/>
          <p:nvPr/>
        </p:nvSpPr>
        <p:spPr>
          <a:xfrm>
            <a:off x="566928" y="731520"/>
            <a:ext cx="11055096" cy="658368"/>
          </a:xfrm>
          <a:prstGeom prst="rect">
            <a:avLst/>
          </a:prstGeom>
          <a:noFill/>
          <a:ln/>
        </p:spPr>
        <p:txBody>
          <a:bodyPr wrap="square" lIns="0" tIns="0" rIns="0" bIns="0" rtlCol="0" anchor="ctr"/>
          <a:lstStyle/>
          <a:p>
            <a:pPr indent="0" marL="0">
              <a:buNone/>
            </a:pPr>
            <a:r>
              <a:rPr lang="en-US" sz="3000" b="1" dirty="0">
                <a:solidFill>
                  <a:srgbClr val="10202E"/>
                </a:solidFill>
                <a:latin typeface="Cambria" pitchFamily="34" charset="0"/>
                <a:ea typeface="Cambria" pitchFamily="34" charset="-122"/>
                <a:cs typeface="Cambria" pitchFamily="34" charset="-120"/>
              </a:rPr>
              <a:t>Location is not a factor. It is the factor.</a:t>
            </a:r>
            <a:endParaRPr lang="en-US" sz="3000" dirty="0"/>
          </a:p>
        </p:txBody>
      </p:sp>
      <p:pic>
        <p:nvPicPr>
          <p:cNvPr id="4" name="Image 0" descr="/root/proj/reports/slides/fig_zip_spread.png">    </p:cNvPr>
          <p:cNvPicPr>
            <a:picLocks noChangeAspect="1"/>
          </p:cNvPicPr>
          <p:nvPr/>
        </p:nvPicPr>
        <p:blipFill>
          <a:blip r:embed="rId1"/>
          <a:stretch>
            <a:fillRect/>
          </a:stretch>
        </p:blipFill>
        <p:spPr>
          <a:xfrm>
            <a:off x="566928" y="1463040"/>
            <a:ext cx="11064240" cy="3419856"/>
          </a:xfrm>
          <a:prstGeom prst="rect">
            <a:avLst/>
          </a:prstGeom>
        </p:spPr>
      </p:pic>
      <p:sp>
        <p:nvSpPr>
          <p:cNvPr id="5" name="Text 2"/>
          <p:cNvSpPr/>
          <p:nvPr/>
        </p:nvSpPr>
        <p:spPr>
          <a:xfrm>
            <a:off x="566928" y="5074920"/>
            <a:ext cx="11055096" cy="731520"/>
          </a:xfrm>
          <a:prstGeom prst="rect">
            <a:avLst/>
          </a:prstGeom>
          <a:noFill/>
          <a:ln/>
        </p:spPr>
        <p:txBody>
          <a:bodyPr wrap="square" lIns="0" tIns="0" rIns="0" bIns="0" rtlCol="0" anchor="ctr"/>
          <a:lstStyle/>
          <a:p>
            <a:pPr indent="0" marL="0">
              <a:buNone/>
            </a:pPr>
            <a:r>
              <a:rPr lang="en-US" sz="1450" dirty="0">
                <a:solidFill>
                  <a:srgbClr val="56646F"/>
                </a:solidFill>
                <a:latin typeface="Calibri" pitchFamily="34" charset="0"/>
                <a:ea typeface="Calibri" pitchFamily="34" charset="-122"/>
                <a:cs typeface="Calibri" pitchFamily="34" charset="-120"/>
              </a:rPr>
              <a:t>$137 to $577 per square foot across 77 zip codes — a 4.2x spread. The encoded zip code alone carries 46% of the model's importance, more than every structural feature combined.</a:t>
            </a:r>
            <a:endParaRPr lang="en-US" sz="14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57200"/>
            <a:ext cx="8229600" cy="256032"/>
          </a:xfrm>
          <a:prstGeom prst="rect">
            <a:avLst/>
          </a:prstGeom>
          <a:noFill/>
          <a:ln/>
        </p:spPr>
        <p:txBody>
          <a:bodyPr wrap="square" lIns="0" tIns="0" rIns="0" bIns="0" rtlCol="0" anchor="ctr"/>
          <a:lstStyle/>
          <a:p>
            <a:pPr indent="0" marL="0">
              <a:buNone/>
            </a:pPr>
            <a:r>
              <a:rPr lang="en-US" sz="1150" b="1" spc="160" kern="0" dirty="0">
                <a:solidFill>
                  <a:srgbClr val="1BAF7A"/>
                </a:solidFill>
                <a:latin typeface="Calibri" pitchFamily="34" charset="0"/>
                <a:ea typeface="Calibri" pitchFamily="34" charset="-122"/>
                <a:cs typeface="Calibri" pitchFamily="34" charset="-120"/>
              </a:rPr>
              <a:t>INSIGHT 3 OF 3</a:t>
            </a:r>
            <a:endParaRPr lang="en-US" sz="1150" dirty="0"/>
          </a:p>
        </p:txBody>
      </p:sp>
      <p:sp>
        <p:nvSpPr>
          <p:cNvPr id="3" name="Text 1"/>
          <p:cNvSpPr/>
          <p:nvPr/>
        </p:nvSpPr>
        <p:spPr>
          <a:xfrm>
            <a:off x="566928" y="731520"/>
            <a:ext cx="11055096" cy="658368"/>
          </a:xfrm>
          <a:prstGeom prst="rect">
            <a:avLst/>
          </a:prstGeom>
          <a:noFill/>
          <a:ln/>
        </p:spPr>
        <p:txBody>
          <a:bodyPr wrap="square" lIns="0" tIns="0" rIns="0" bIns="0" rtlCol="0" anchor="ctr"/>
          <a:lstStyle/>
          <a:p>
            <a:pPr indent="0" marL="0">
              <a:buNone/>
            </a:pPr>
            <a:r>
              <a:rPr lang="en-US" sz="3000" b="1" dirty="0">
                <a:solidFill>
                  <a:srgbClr val="10202E"/>
                </a:solidFill>
                <a:latin typeface="Cambria" pitchFamily="34" charset="0"/>
                <a:ea typeface="Cambria" pitchFamily="34" charset="-122"/>
                <a:cs typeface="Cambria" pitchFamily="34" charset="-120"/>
              </a:rPr>
              <a:t>The market is four markets</a:t>
            </a:r>
            <a:endParaRPr lang="en-US" sz="3000" dirty="0"/>
          </a:p>
        </p:txBody>
      </p:sp>
      <p:pic>
        <p:nvPicPr>
          <p:cNvPr id="4" name="Image 0" descr="/root/proj/reports/slides/fig_segments.png">    </p:cNvPr>
          <p:cNvPicPr>
            <a:picLocks noChangeAspect="1"/>
          </p:cNvPicPr>
          <p:nvPr/>
        </p:nvPicPr>
        <p:blipFill>
          <a:blip r:embed="rId1"/>
          <a:stretch>
            <a:fillRect/>
          </a:stretch>
        </p:blipFill>
        <p:spPr>
          <a:xfrm>
            <a:off x="566928" y="1417320"/>
            <a:ext cx="11064240" cy="3621024"/>
          </a:xfrm>
          <a:prstGeom prst="rect">
            <a:avLst/>
          </a:prstGeom>
        </p:spPr>
      </p:pic>
      <p:sp>
        <p:nvSpPr>
          <p:cNvPr id="5" name="Text 2"/>
          <p:cNvSpPr/>
          <p:nvPr/>
        </p:nvSpPr>
        <p:spPr>
          <a:xfrm>
            <a:off x="566928" y="5138928"/>
            <a:ext cx="11055096" cy="822960"/>
          </a:xfrm>
          <a:prstGeom prst="rect">
            <a:avLst/>
          </a:prstGeom>
          <a:noFill/>
          <a:ln/>
        </p:spPr>
        <p:txBody>
          <a:bodyPr wrap="square" lIns="0" tIns="0" rIns="0" bIns="0" rtlCol="0" anchor="ctr"/>
          <a:lstStyle/>
          <a:p>
            <a:pPr indent="0" marL="0">
              <a:buNone/>
            </a:pPr>
            <a:r>
              <a:rPr lang="en-US" sz="1450" dirty="0">
                <a:solidFill>
                  <a:srgbClr val="56646F"/>
                </a:solidFill>
                <a:latin typeface="Calibri" pitchFamily="34" charset="0"/>
                <a:ea typeface="Calibri" pitchFamily="34" charset="-122"/>
                <a:cs typeface="Calibri" pitchFamily="34" charset="-120"/>
              </a:rPr>
              <a:t>k = 4 chosen where the elbow and the silhouette curve agreed. The names describe the cluster centres — they were written after looking at them, not decided in advance. Premium View Property is 8% of the market and, as slide 14 shows, the segment the model handles worst.</a:t>
            </a:r>
            <a:endParaRPr lang="en-US" sz="14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57200"/>
            <a:ext cx="8229600" cy="256032"/>
          </a:xfrm>
          <a:prstGeom prst="rect">
            <a:avLst/>
          </a:prstGeom>
          <a:noFill/>
          <a:ln/>
        </p:spPr>
        <p:txBody>
          <a:bodyPr wrap="square" lIns="0" tIns="0" rIns="0" bIns="0" rtlCol="0" anchor="ctr"/>
          <a:lstStyle/>
          <a:p>
            <a:pPr indent="0" marL="0">
              <a:buNone/>
            </a:pPr>
            <a:r>
              <a:rPr lang="en-US" sz="1150" b="1" spc="160" kern="0" dirty="0">
                <a:solidFill>
                  <a:srgbClr val="1BAF7A"/>
                </a:solidFill>
                <a:latin typeface="Calibri" pitchFamily="34" charset="0"/>
                <a:ea typeface="Calibri" pitchFamily="34" charset="-122"/>
                <a:cs typeface="Calibri" pitchFamily="34" charset="-120"/>
              </a:rPr>
              <a:t>RECOMMENDATIONS</a:t>
            </a:r>
            <a:endParaRPr lang="en-US" sz="1150" dirty="0"/>
          </a:p>
        </p:txBody>
      </p:sp>
      <p:sp>
        <p:nvSpPr>
          <p:cNvPr id="3" name="Text 1"/>
          <p:cNvSpPr/>
          <p:nvPr/>
        </p:nvSpPr>
        <p:spPr>
          <a:xfrm>
            <a:off x="566928" y="731520"/>
            <a:ext cx="11055096" cy="658368"/>
          </a:xfrm>
          <a:prstGeom prst="rect">
            <a:avLst/>
          </a:prstGeom>
          <a:noFill/>
          <a:ln/>
        </p:spPr>
        <p:txBody>
          <a:bodyPr wrap="square" lIns="0" tIns="0" rIns="0" bIns="0" rtlCol="0" anchor="ctr"/>
          <a:lstStyle/>
          <a:p>
            <a:pPr indent="0" marL="0">
              <a:buNone/>
            </a:pPr>
            <a:r>
              <a:rPr lang="en-US" sz="3000" b="1" dirty="0">
                <a:solidFill>
                  <a:srgbClr val="10202E"/>
                </a:solidFill>
                <a:latin typeface="Cambria" pitchFamily="34" charset="0"/>
                <a:ea typeface="Cambria" pitchFamily="34" charset="-122"/>
                <a:cs typeface="Cambria" pitchFamily="34" charset="-120"/>
              </a:rPr>
              <a:t>What a broker should actually do with this</a:t>
            </a:r>
            <a:endParaRPr lang="en-US" sz="3000" dirty="0"/>
          </a:p>
        </p:txBody>
      </p:sp>
      <p:sp>
        <p:nvSpPr>
          <p:cNvPr id="4" name="Shape 2"/>
          <p:cNvSpPr/>
          <p:nvPr/>
        </p:nvSpPr>
        <p:spPr>
          <a:xfrm>
            <a:off x="566928" y="1554480"/>
            <a:ext cx="11055096" cy="1234440"/>
          </a:xfrm>
          <a:prstGeom prst="roundRect">
            <a:avLst>
              <a:gd name="adj" fmla="val 6667"/>
            </a:avLst>
          </a:prstGeom>
          <a:solidFill>
            <a:srgbClr val="F1F5F8"/>
          </a:solidFill>
          <a:ln w="12700">
            <a:solidFill>
              <a:srgbClr val="F1F5F8"/>
            </a:solidFill>
            <a:prstDash val="solid"/>
          </a:ln>
        </p:spPr>
      </p:sp>
      <p:sp>
        <p:nvSpPr>
          <p:cNvPr id="5" name="Shape 3"/>
          <p:cNvSpPr/>
          <p:nvPr/>
        </p:nvSpPr>
        <p:spPr>
          <a:xfrm>
            <a:off x="877824" y="1965960"/>
            <a:ext cx="420624" cy="420624"/>
          </a:xfrm>
          <a:prstGeom prst="ellipse">
            <a:avLst/>
          </a:prstGeom>
          <a:solidFill>
            <a:srgbClr val="2A78D6"/>
          </a:solidFill>
          <a:ln/>
        </p:spPr>
      </p:sp>
      <p:sp>
        <p:nvSpPr>
          <p:cNvPr id="6" name="Text 4"/>
          <p:cNvSpPr/>
          <p:nvPr/>
        </p:nvSpPr>
        <p:spPr>
          <a:xfrm>
            <a:off x="877824" y="1965960"/>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5"/>
          <p:cNvSpPr/>
          <p:nvPr/>
        </p:nvSpPr>
        <p:spPr>
          <a:xfrm>
            <a:off x="1572768" y="1755648"/>
            <a:ext cx="9692640" cy="365760"/>
          </a:xfrm>
          <a:prstGeom prst="rect">
            <a:avLst/>
          </a:prstGeom>
          <a:noFill/>
          <a:ln/>
        </p:spPr>
        <p:txBody>
          <a:bodyPr wrap="square" lIns="0" tIns="0" rIns="0" bIns="0" rtlCol="0" anchor="ctr"/>
          <a:lstStyle/>
          <a:p>
            <a:pPr indent="0" marL="0">
              <a:buNone/>
            </a:pPr>
            <a:r>
              <a:rPr lang="en-US" sz="1650" b="1" dirty="0">
                <a:solidFill>
                  <a:srgbClr val="10202E"/>
                </a:solidFill>
                <a:latin typeface="Calibri" pitchFamily="34" charset="0"/>
                <a:ea typeface="Calibri" pitchFamily="34" charset="-122"/>
                <a:cs typeface="Calibri" pitchFamily="34" charset="-120"/>
              </a:rPr>
              <a:t>Price from the range, never the point</a:t>
            </a:r>
            <a:endParaRPr lang="en-US" sz="1650" dirty="0"/>
          </a:p>
        </p:txBody>
      </p:sp>
      <p:sp>
        <p:nvSpPr>
          <p:cNvPr id="8" name="Text 6"/>
          <p:cNvSpPr/>
          <p:nvPr/>
        </p:nvSpPr>
        <p:spPr>
          <a:xfrm>
            <a:off x="1572768" y="2139696"/>
            <a:ext cx="9692640" cy="548640"/>
          </a:xfrm>
          <a:prstGeom prst="rect">
            <a:avLst/>
          </a:prstGeom>
          <a:noFill/>
          <a:ln/>
        </p:spPr>
        <p:txBody>
          <a:bodyPr wrap="square" lIns="0" tIns="0" rIns="0" bIns="0" rtlCol="0" anchor="ctr"/>
          <a:lstStyle/>
          <a:p>
            <a:pPr indent="0" marL="0">
              <a:buNone/>
            </a:pPr>
            <a:r>
              <a:rPr lang="en-US" sz="1400" dirty="0">
                <a:solidFill>
                  <a:srgbClr val="56646F"/>
                </a:solidFill>
                <a:latin typeface="Calibri" pitchFamily="34" charset="0"/>
                <a:ea typeface="Calibri" pitchFamily="34" charset="-122"/>
                <a:cs typeface="Calibri" pitchFamily="34" charset="-120"/>
              </a:rPr>
              <a:t>Quote the 10-90 band. On a $500k house that is roughly $400k to $633k. A single number implies a precision the model does not have.</a:t>
            </a:r>
            <a:endParaRPr lang="en-US" sz="1400" dirty="0"/>
          </a:p>
        </p:txBody>
      </p:sp>
      <p:sp>
        <p:nvSpPr>
          <p:cNvPr id="9" name="Shape 7"/>
          <p:cNvSpPr/>
          <p:nvPr/>
        </p:nvSpPr>
        <p:spPr>
          <a:xfrm>
            <a:off x="566928" y="2971800"/>
            <a:ext cx="11055096" cy="1234440"/>
          </a:xfrm>
          <a:prstGeom prst="roundRect">
            <a:avLst>
              <a:gd name="adj" fmla="val 6667"/>
            </a:avLst>
          </a:prstGeom>
          <a:solidFill>
            <a:srgbClr val="F1F5F8"/>
          </a:solidFill>
          <a:ln w="12700">
            <a:solidFill>
              <a:srgbClr val="F1F5F8"/>
            </a:solidFill>
            <a:prstDash val="solid"/>
          </a:ln>
        </p:spPr>
      </p:sp>
      <p:sp>
        <p:nvSpPr>
          <p:cNvPr id="10" name="Shape 8"/>
          <p:cNvSpPr/>
          <p:nvPr/>
        </p:nvSpPr>
        <p:spPr>
          <a:xfrm>
            <a:off x="877824" y="3383280"/>
            <a:ext cx="420624" cy="420624"/>
          </a:xfrm>
          <a:prstGeom prst="ellipse">
            <a:avLst/>
          </a:prstGeom>
          <a:solidFill>
            <a:srgbClr val="2A78D6"/>
          </a:solidFill>
          <a:ln/>
        </p:spPr>
      </p:sp>
      <p:sp>
        <p:nvSpPr>
          <p:cNvPr id="11" name="Text 9"/>
          <p:cNvSpPr/>
          <p:nvPr/>
        </p:nvSpPr>
        <p:spPr>
          <a:xfrm>
            <a:off x="877824" y="3383280"/>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2" name="Text 10"/>
          <p:cNvSpPr/>
          <p:nvPr/>
        </p:nvSpPr>
        <p:spPr>
          <a:xfrm>
            <a:off x="1572768" y="3172968"/>
            <a:ext cx="9692640" cy="365760"/>
          </a:xfrm>
          <a:prstGeom prst="rect">
            <a:avLst/>
          </a:prstGeom>
          <a:noFill/>
          <a:ln/>
        </p:spPr>
        <p:txBody>
          <a:bodyPr wrap="square" lIns="0" tIns="0" rIns="0" bIns="0" rtlCol="0" anchor="ctr"/>
          <a:lstStyle/>
          <a:p>
            <a:pPr indent="0" marL="0">
              <a:buNone/>
            </a:pPr>
            <a:r>
              <a:rPr lang="en-US" sz="1650" b="1" dirty="0">
                <a:solidFill>
                  <a:srgbClr val="10202E"/>
                </a:solidFill>
                <a:latin typeface="Calibri" pitchFamily="34" charset="0"/>
                <a:ea typeface="Calibri" pitchFamily="34" charset="-122"/>
                <a:cs typeface="Calibri" pitchFamily="34" charset="-120"/>
              </a:rPr>
              <a:t>Screen at scale, appraise selectively</a:t>
            </a:r>
            <a:endParaRPr lang="en-US" sz="1650" dirty="0"/>
          </a:p>
        </p:txBody>
      </p:sp>
      <p:sp>
        <p:nvSpPr>
          <p:cNvPr id="13" name="Text 11"/>
          <p:cNvSpPr/>
          <p:nvPr/>
        </p:nvSpPr>
        <p:spPr>
          <a:xfrm>
            <a:off x="1572768" y="3557016"/>
            <a:ext cx="9692640" cy="548640"/>
          </a:xfrm>
          <a:prstGeom prst="rect">
            <a:avLst/>
          </a:prstGeom>
          <a:noFill/>
          <a:ln/>
        </p:spPr>
        <p:txBody>
          <a:bodyPr wrap="square" lIns="0" tIns="0" rIns="0" bIns="0" rtlCol="0" anchor="ctr"/>
          <a:lstStyle/>
          <a:p>
            <a:pPr indent="0" marL="0">
              <a:buNone/>
            </a:pPr>
            <a:r>
              <a:rPr lang="en-US" sz="1400" dirty="0">
                <a:solidFill>
                  <a:srgbClr val="56646F"/>
                </a:solidFill>
                <a:latin typeface="Calibri" pitchFamily="34" charset="0"/>
                <a:ea typeface="Calibri" pitchFamily="34" charset="-122"/>
                <a:cs typeface="Calibri" pitchFamily="34" charset="-120"/>
              </a:rPr>
              <a:t>Run a portfolio through the model, then send a human to the properties where the model flags low confidence — the top decile, waterfront, and the Premium View segment.</a:t>
            </a:r>
            <a:endParaRPr lang="en-US" sz="1400" dirty="0"/>
          </a:p>
        </p:txBody>
      </p:sp>
      <p:sp>
        <p:nvSpPr>
          <p:cNvPr id="14" name="Shape 12"/>
          <p:cNvSpPr/>
          <p:nvPr/>
        </p:nvSpPr>
        <p:spPr>
          <a:xfrm>
            <a:off x="566928" y="4389120"/>
            <a:ext cx="11055096" cy="1234440"/>
          </a:xfrm>
          <a:prstGeom prst="roundRect">
            <a:avLst>
              <a:gd name="adj" fmla="val 6667"/>
            </a:avLst>
          </a:prstGeom>
          <a:solidFill>
            <a:srgbClr val="F1F5F8"/>
          </a:solidFill>
          <a:ln w="12700">
            <a:solidFill>
              <a:srgbClr val="F1F5F8"/>
            </a:solidFill>
            <a:prstDash val="solid"/>
          </a:ln>
        </p:spPr>
      </p:sp>
      <p:sp>
        <p:nvSpPr>
          <p:cNvPr id="15" name="Shape 13"/>
          <p:cNvSpPr/>
          <p:nvPr/>
        </p:nvSpPr>
        <p:spPr>
          <a:xfrm>
            <a:off x="877824" y="4800600"/>
            <a:ext cx="420624" cy="420624"/>
          </a:xfrm>
          <a:prstGeom prst="ellipse">
            <a:avLst/>
          </a:prstGeom>
          <a:solidFill>
            <a:srgbClr val="1BAF7A"/>
          </a:solidFill>
          <a:ln/>
        </p:spPr>
      </p:sp>
      <p:sp>
        <p:nvSpPr>
          <p:cNvPr id="16" name="Text 14"/>
          <p:cNvSpPr/>
          <p:nvPr/>
        </p:nvSpPr>
        <p:spPr>
          <a:xfrm>
            <a:off x="877824" y="4800600"/>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7" name="Text 15"/>
          <p:cNvSpPr/>
          <p:nvPr/>
        </p:nvSpPr>
        <p:spPr>
          <a:xfrm>
            <a:off x="1572768" y="4590288"/>
            <a:ext cx="9692640" cy="365760"/>
          </a:xfrm>
          <a:prstGeom prst="rect">
            <a:avLst/>
          </a:prstGeom>
          <a:noFill/>
          <a:ln/>
        </p:spPr>
        <p:txBody>
          <a:bodyPr wrap="square" lIns="0" tIns="0" rIns="0" bIns="0" rtlCol="0" anchor="ctr"/>
          <a:lstStyle/>
          <a:p>
            <a:pPr indent="0" marL="0">
              <a:buNone/>
            </a:pPr>
            <a:r>
              <a:rPr lang="en-US" sz="1650" b="1" dirty="0">
                <a:solidFill>
                  <a:srgbClr val="10202E"/>
                </a:solidFill>
                <a:latin typeface="Calibri" pitchFamily="34" charset="0"/>
                <a:ea typeface="Calibri" pitchFamily="34" charset="-122"/>
                <a:cs typeface="Calibri" pitchFamily="34" charset="-120"/>
              </a:rPr>
              <a:t>Treat the warnings as the product</a:t>
            </a:r>
            <a:endParaRPr lang="en-US" sz="1650" dirty="0"/>
          </a:p>
        </p:txBody>
      </p:sp>
      <p:sp>
        <p:nvSpPr>
          <p:cNvPr id="18" name="Text 16"/>
          <p:cNvSpPr/>
          <p:nvPr/>
        </p:nvSpPr>
        <p:spPr>
          <a:xfrm>
            <a:off x="1572768" y="4974336"/>
            <a:ext cx="9692640" cy="548640"/>
          </a:xfrm>
          <a:prstGeom prst="rect">
            <a:avLst/>
          </a:prstGeom>
          <a:noFill/>
          <a:ln/>
        </p:spPr>
        <p:txBody>
          <a:bodyPr wrap="square" lIns="0" tIns="0" rIns="0" bIns="0" rtlCol="0" anchor="ctr"/>
          <a:lstStyle/>
          <a:p>
            <a:pPr indent="0" marL="0">
              <a:buNone/>
            </a:pPr>
            <a:r>
              <a:rPr lang="en-US" sz="1400" dirty="0">
                <a:solidFill>
                  <a:srgbClr val="56646F"/>
                </a:solidFill>
                <a:latin typeface="Calibri" pitchFamily="34" charset="0"/>
                <a:ea typeface="Calibri" pitchFamily="34" charset="-122"/>
                <a:cs typeface="Calibri" pitchFamily="34" charset="-120"/>
              </a:rPr>
              <a:t>Every valuation carries the reasons and the caveats. A number a client cannot argue with is a number they cannot trust either.</a:t>
            </a:r>
            <a:endParaRPr lang="en-US" sz="1400" dirty="0"/>
          </a:p>
        </p:txBody>
      </p:sp>
      <p:sp>
        <p:nvSpPr>
          <p:cNvPr id="19" name="Text 17"/>
          <p:cNvSpPr/>
          <p:nvPr/>
        </p:nvSpPr>
        <p:spPr>
          <a:xfrm>
            <a:off x="566928" y="5806440"/>
            <a:ext cx="11055096" cy="457200"/>
          </a:xfrm>
          <a:prstGeom prst="rect">
            <a:avLst/>
          </a:prstGeom>
          <a:noFill/>
          <a:ln/>
        </p:spPr>
        <p:txBody>
          <a:bodyPr wrap="square" lIns="0" tIns="0" rIns="0" bIns="0" rtlCol="0" anchor="ctr"/>
          <a:lstStyle/>
          <a:p>
            <a:pPr indent="0" marL="0">
              <a:buNone/>
            </a:pPr>
            <a:r>
              <a:rPr lang="en-US" sz="1500" i="1" dirty="0">
                <a:solidFill>
                  <a:srgbClr val="10202E"/>
                </a:solidFill>
                <a:latin typeface="Calibri" pitchFamily="34" charset="0"/>
                <a:ea typeface="Calibri" pitchFamily="34" charset="-122"/>
                <a:cs typeface="Calibri" pitchFamily="34" charset="-120"/>
              </a:rPr>
              <a:t>The commercial case is not accuracy. It is speed plus an honest confidence statement, at a cost of roughly zero per valuation.</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57200"/>
            <a:ext cx="8229600" cy="256032"/>
          </a:xfrm>
          <a:prstGeom prst="rect">
            <a:avLst/>
          </a:prstGeom>
          <a:noFill/>
          <a:ln/>
        </p:spPr>
        <p:txBody>
          <a:bodyPr wrap="square" lIns="0" tIns="0" rIns="0" bIns="0" rtlCol="0" anchor="ctr"/>
          <a:lstStyle/>
          <a:p>
            <a:pPr indent="0" marL="0">
              <a:buNone/>
            </a:pPr>
            <a:r>
              <a:rPr lang="en-US" sz="1150" b="1" spc="160" kern="0" dirty="0">
                <a:solidFill>
                  <a:srgbClr val="1BAF7A"/>
                </a:solidFill>
                <a:latin typeface="Calibri" pitchFamily="34" charset="0"/>
                <a:ea typeface="Calibri" pitchFamily="34" charset="-122"/>
                <a:cs typeface="Calibri" pitchFamily="34" charset="-120"/>
              </a:rPr>
              <a:t>CLASSIFICATION</a:t>
            </a:r>
            <a:endParaRPr lang="en-US" sz="1150" dirty="0"/>
          </a:p>
        </p:txBody>
      </p:sp>
      <p:sp>
        <p:nvSpPr>
          <p:cNvPr id="3" name="Text 1"/>
          <p:cNvSpPr/>
          <p:nvPr/>
        </p:nvSpPr>
        <p:spPr>
          <a:xfrm>
            <a:off x="566928" y="731520"/>
            <a:ext cx="11055096" cy="658368"/>
          </a:xfrm>
          <a:prstGeom prst="rect">
            <a:avLst/>
          </a:prstGeom>
          <a:noFill/>
          <a:ln/>
        </p:spPr>
        <p:txBody>
          <a:bodyPr wrap="square" lIns="0" tIns="0" rIns="0" bIns="0" rtlCol="0" anchor="ctr"/>
          <a:lstStyle/>
          <a:p>
            <a:pPr indent="0" marL="0">
              <a:buNone/>
            </a:pPr>
            <a:r>
              <a:rPr lang="en-US" sz="3000" b="1" dirty="0">
                <a:solidFill>
                  <a:srgbClr val="10202E"/>
                </a:solidFill>
                <a:latin typeface="Cambria" pitchFamily="34" charset="0"/>
                <a:ea typeface="Cambria" pitchFamily="34" charset="-122"/>
                <a:cs typeface="Cambria" pitchFamily="34" charset="-120"/>
              </a:rPr>
              <a:t>Predicting the segment — and why the result is almost too good</a:t>
            </a:r>
            <a:endParaRPr lang="en-US" sz="3000" dirty="0"/>
          </a:p>
        </p:txBody>
      </p:sp>
      <p:sp>
        <p:nvSpPr>
          <p:cNvPr id="4" name="Text 2"/>
          <p:cNvSpPr/>
          <p:nvPr/>
        </p:nvSpPr>
        <p:spPr>
          <a:xfrm>
            <a:off x="566928" y="1600200"/>
            <a:ext cx="3291840" cy="658368"/>
          </a:xfrm>
          <a:prstGeom prst="rect">
            <a:avLst/>
          </a:prstGeom>
          <a:noFill/>
          <a:ln/>
        </p:spPr>
        <p:txBody>
          <a:bodyPr wrap="square" lIns="0" tIns="0" rIns="0" bIns="0" rtlCol="0" anchor="ctr"/>
          <a:lstStyle/>
          <a:p>
            <a:pPr indent="0" marL="0">
              <a:buNone/>
            </a:pPr>
            <a:r>
              <a:rPr lang="en-US" sz="4000" b="1" dirty="0">
                <a:solidFill>
                  <a:srgbClr val="1BAF7A"/>
                </a:solidFill>
                <a:latin typeface="Cambria" pitchFamily="34" charset="0"/>
                <a:ea typeface="Cambria" pitchFamily="34" charset="-122"/>
                <a:cs typeface="Cambria" pitchFamily="34" charset="-120"/>
              </a:rPr>
              <a:t>98.7%</a:t>
            </a:r>
            <a:endParaRPr lang="en-US" sz="4000" dirty="0"/>
          </a:p>
        </p:txBody>
      </p:sp>
      <p:sp>
        <p:nvSpPr>
          <p:cNvPr id="5" name="Text 3"/>
          <p:cNvSpPr/>
          <p:nvPr/>
        </p:nvSpPr>
        <p:spPr>
          <a:xfrm>
            <a:off x="566928" y="2276856"/>
            <a:ext cx="3291840" cy="566928"/>
          </a:xfrm>
          <a:prstGeom prst="rect">
            <a:avLst/>
          </a:prstGeom>
          <a:noFill/>
          <a:ln/>
        </p:spPr>
        <p:txBody>
          <a:bodyPr wrap="square" lIns="0" tIns="0" rIns="0" bIns="0" rtlCol="0" anchor="t"/>
          <a:lstStyle/>
          <a:p>
            <a:pPr indent="0" marL="0">
              <a:buNone/>
            </a:pPr>
            <a:r>
              <a:rPr lang="en-US" sz="1250" dirty="0">
                <a:solidFill>
                  <a:srgbClr val="56646F"/>
                </a:solidFill>
                <a:latin typeface="Calibri" pitchFamily="34" charset="0"/>
                <a:ea typeface="Calibri" pitchFamily="34" charset="-122"/>
                <a:cs typeface="Calibri" pitchFamily="34" charset="-120"/>
              </a:rPr>
              <a:t>Logistic Regression, accuracy</a:t>
            </a:r>
            <a:endParaRPr lang="en-US" sz="1250" dirty="0"/>
          </a:p>
          <a:p>
            <a:pPr indent="0" marL="0">
              <a:buNone/>
            </a:pPr>
            <a:r>
              <a:rPr lang="en-US" sz="1250" dirty="0">
                <a:solidFill>
                  <a:srgbClr val="56646F"/>
                </a:solidFill>
                <a:latin typeface="Calibri" pitchFamily="34" charset="0"/>
                <a:ea typeface="Calibri" pitchFamily="34" charset="-122"/>
                <a:cs typeface="Calibri" pitchFamily="34" charset="-120"/>
              </a:rPr>
              <a:t>on houses it had not seen</a:t>
            </a:r>
            <a:endParaRPr lang="en-US" sz="1250" dirty="0"/>
          </a:p>
        </p:txBody>
      </p:sp>
      <p:sp>
        <p:nvSpPr>
          <p:cNvPr id="6" name="Text 4"/>
          <p:cNvSpPr/>
          <p:nvPr/>
        </p:nvSpPr>
        <p:spPr>
          <a:xfrm>
            <a:off x="4453128" y="1600200"/>
            <a:ext cx="3291840" cy="658368"/>
          </a:xfrm>
          <a:prstGeom prst="rect">
            <a:avLst/>
          </a:prstGeom>
          <a:noFill/>
          <a:ln/>
        </p:spPr>
        <p:txBody>
          <a:bodyPr wrap="square" lIns="0" tIns="0" rIns="0" bIns="0" rtlCol="0" anchor="ctr"/>
          <a:lstStyle/>
          <a:p>
            <a:pPr indent="0" marL="0">
              <a:buNone/>
            </a:pPr>
            <a:r>
              <a:rPr lang="en-US" sz="4000" b="1" dirty="0">
                <a:solidFill>
                  <a:srgbClr val="10202E"/>
                </a:solidFill>
                <a:latin typeface="Cambria" pitchFamily="34" charset="0"/>
                <a:ea typeface="Cambria" pitchFamily="34" charset="-122"/>
                <a:cs typeface="Cambria" pitchFamily="34" charset="-120"/>
              </a:rPr>
              <a:t>96.7%</a:t>
            </a:r>
            <a:endParaRPr lang="en-US" sz="4000" dirty="0"/>
          </a:p>
        </p:txBody>
      </p:sp>
      <p:sp>
        <p:nvSpPr>
          <p:cNvPr id="7" name="Text 5"/>
          <p:cNvSpPr/>
          <p:nvPr/>
        </p:nvSpPr>
        <p:spPr>
          <a:xfrm>
            <a:off x="4453128" y="2276856"/>
            <a:ext cx="3291840" cy="566928"/>
          </a:xfrm>
          <a:prstGeom prst="rect">
            <a:avLst/>
          </a:prstGeom>
          <a:noFill/>
          <a:ln/>
        </p:spPr>
        <p:txBody>
          <a:bodyPr wrap="square" lIns="0" tIns="0" rIns="0" bIns="0" rtlCol="0" anchor="t"/>
          <a:lstStyle/>
          <a:p>
            <a:pPr indent="0" marL="0">
              <a:buNone/>
            </a:pPr>
            <a:r>
              <a:rPr lang="en-US" sz="1250" dirty="0">
                <a:solidFill>
                  <a:srgbClr val="56646F"/>
                </a:solidFill>
                <a:latin typeface="Calibri" pitchFamily="34" charset="0"/>
                <a:ea typeface="Calibri" pitchFamily="34" charset="-122"/>
                <a:cs typeface="Calibri" pitchFamily="34" charset="-120"/>
              </a:rPr>
              <a:t>Random Forest, same test set</a:t>
            </a:r>
            <a:endParaRPr lang="en-US" sz="1250" dirty="0"/>
          </a:p>
        </p:txBody>
      </p:sp>
      <p:sp>
        <p:nvSpPr>
          <p:cNvPr id="8" name="Text 6"/>
          <p:cNvSpPr/>
          <p:nvPr/>
        </p:nvSpPr>
        <p:spPr>
          <a:xfrm>
            <a:off x="8339328" y="1600200"/>
            <a:ext cx="3291840" cy="658368"/>
          </a:xfrm>
          <a:prstGeom prst="rect">
            <a:avLst/>
          </a:prstGeom>
          <a:noFill/>
          <a:ln/>
        </p:spPr>
        <p:txBody>
          <a:bodyPr wrap="square" lIns="0" tIns="0" rIns="0" bIns="0" rtlCol="0" anchor="ctr"/>
          <a:lstStyle/>
          <a:p>
            <a:pPr indent="0" marL="0">
              <a:buNone/>
            </a:pPr>
            <a:r>
              <a:rPr lang="en-US" sz="4000" b="1" dirty="0">
                <a:solidFill>
                  <a:srgbClr val="E34948"/>
                </a:solidFill>
                <a:latin typeface="Cambria" pitchFamily="34" charset="0"/>
                <a:ea typeface="Cambria" pitchFamily="34" charset="-122"/>
                <a:cs typeface="Cambria" pitchFamily="34" charset="-120"/>
              </a:rPr>
              <a:t>37.5%</a:t>
            </a:r>
            <a:endParaRPr lang="en-US" sz="4000" dirty="0"/>
          </a:p>
        </p:txBody>
      </p:sp>
      <p:sp>
        <p:nvSpPr>
          <p:cNvPr id="9" name="Text 7"/>
          <p:cNvSpPr/>
          <p:nvPr/>
        </p:nvSpPr>
        <p:spPr>
          <a:xfrm>
            <a:off x="8339328" y="2276856"/>
            <a:ext cx="3291840" cy="566928"/>
          </a:xfrm>
          <a:prstGeom prst="rect">
            <a:avLst/>
          </a:prstGeom>
          <a:noFill/>
          <a:ln/>
        </p:spPr>
        <p:txBody>
          <a:bodyPr wrap="square" lIns="0" tIns="0" rIns="0" bIns="0" rtlCol="0" anchor="t"/>
          <a:lstStyle/>
          <a:p>
            <a:pPr indent="0" marL="0">
              <a:buNone/>
            </a:pPr>
            <a:r>
              <a:rPr lang="en-US" sz="1250" dirty="0">
                <a:solidFill>
                  <a:srgbClr val="56646F"/>
                </a:solidFill>
                <a:latin typeface="Calibri" pitchFamily="34" charset="0"/>
                <a:ea typeface="Calibri" pitchFamily="34" charset="-122"/>
                <a:cs typeface="Calibri" pitchFamily="34" charset="-120"/>
              </a:rPr>
              <a:t>always guess the biggest</a:t>
            </a:r>
            <a:endParaRPr lang="en-US" sz="1250" dirty="0"/>
          </a:p>
          <a:p>
            <a:pPr indent="0" marL="0">
              <a:buNone/>
            </a:pPr>
            <a:r>
              <a:rPr lang="en-US" sz="1250" dirty="0">
                <a:solidFill>
                  <a:srgbClr val="56646F"/>
                </a:solidFill>
                <a:latin typeface="Calibri" pitchFamily="34" charset="0"/>
                <a:ea typeface="Calibri" pitchFamily="34" charset="-122"/>
                <a:cs typeface="Calibri" pitchFamily="34" charset="-120"/>
              </a:rPr>
              <a:t>segment — the floor</a:t>
            </a:r>
            <a:endParaRPr lang="en-US" sz="1250" dirty="0"/>
          </a:p>
        </p:txBody>
      </p:sp>
      <p:sp>
        <p:nvSpPr>
          <p:cNvPr id="10" name="Shape 8"/>
          <p:cNvSpPr/>
          <p:nvPr/>
        </p:nvSpPr>
        <p:spPr>
          <a:xfrm>
            <a:off x="566928" y="3383280"/>
            <a:ext cx="11055096" cy="2148840"/>
          </a:xfrm>
          <a:prstGeom prst="roundRect">
            <a:avLst>
              <a:gd name="adj" fmla="val 3830"/>
            </a:avLst>
          </a:prstGeom>
          <a:solidFill>
            <a:srgbClr val="F1F5F8"/>
          </a:solidFill>
          <a:ln w="12700">
            <a:solidFill>
              <a:srgbClr val="F1F5F8"/>
            </a:solidFill>
            <a:prstDash val="solid"/>
          </a:ln>
        </p:spPr>
      </p:sp>
      <p:sp>
        <p:nvSpPr>
          <p:cNvPr id="11" name="Text 9"/>
          <p:cNvSpPr/>
          <p:nvPr/>
        </p:nvSpPr>
        <p:spPr>
          <a:xfrm>
            <a:off x="932688" y="3611880"/>
            <a:ext cx="5486400" cy="365760"/>
          </a:xfrm>
          <a:prstGeom prst="rect">
            <a:avLst/>
          </a:prstGeom>
          <a:noFill/>
          <a:ln/>
        </p:spPr>
        <p:txBody>
          <a:bodyPr wrap="square" lIns="0" tIns="0" rIns="0" bIns="0" rtlCol="0" anchor="ctr"/>
          <a:lstStyle/>
          <a:p>
            <a:pPr indent="0" marL="0">
              <a:buNone/>
            </a:pPr>
            <a:r>
              <a:rPr lang="en-US" sz="1600" b="1" dirty="0">
                <a:solidFill>
                  <a:srgbClr val="10202E"/>
                </a:solidFill>
                <a:latin typeface="Calibri" pitchFamily="34" charset="0"/>
                <a:ea typeface="Calibri" pitchFamily="34" charset="-122"/>
                <a:cs typeface="Calibri" pitchFamily="34" charset="-120"/>
              </a:rPr>
              <a:t>The honest caveat</a:t>
            </a:r>
            <a:endParaRPr lang="en-US" sz="1600" dirty="0"/>
          </a:p>
        </p:txBody>
      </p:sp>
      <p:sp>
        <p:nvSpPr>
          <p:cNvPr id="12" name="Text 10"/>
          <p:cNvSpPr/>
          <p:nvPr/>
        </p:nvSpPr>
        <p:spPr>
          <a:xfrm>
            <a:off x="932688" y="4023360"/>
            <a:ext cx="10607040" cy="1371600"/>
          </a:xfrm>
          <a:prstGeom prst="rect">
            <a:avLst/>
          </a:prstGeom>
          <a:noFill/>
          <a:ln/>
        </p:spPr>
        <p:txBody>
          <a:bodyPr wrap="square" lIns="0" tIns="0" rIns="0" bIns="0" rtlCol="0" anchor="ctr"/>
          <a:lstStyle/>
          <a:p>
            <a:pPr marL="342900" indent="-342900">
              <a:spcAft>
                <a:spcPts val="500"/>
              </a:spcAft>
              <a:buSzPct val="100000"/>
              <a:buChar char="•"/>
            </a:pPr>
            <a:r>
              <a:rPr lang="en-US" sz="1350" dirty="0">
                <a:solidFill>
                  <a:srgbClr val="56646F"/>
                </a:solidFill>
                <a:latin typeface="Calibri" pitchFamily="34" charset="0"/>
                <a:ea typeface="Calibri" pitchFamily="34" charset="-122"/>
                <a:cs typeface="Calibri" pitchFamily="34" charset="-120"/>
              </a:rPr>
              <a:t>The labels came from k-means, so the classifier is re-learning a boundary that was drawn by an algorithm — not discovering something about houses. 98.7% measures how learnable that boundary is.</a:t>
            </a:r>
            <a:endParaRPr lang="en-US" sz="1350" dirty="0"/>
          </a:p>
          <a:p>
            <a:pPr marL="342900" indent="-342900">
              <a:spcAft>
                <a:spcPts val="500"/>
              </a:spcAft>
              <a:buSzPct val="100000"/>
              <a:buChar char="•"/>
            </a:pPr>
            <a:r>
              <a:rPr lang="en-US" sz="1350" dirty="0">
                <a:solidFill>
                  <a:srgbClr val="56646F"/>
                </a:solidFill>
                <a:latin typeface="Calibri" pitchFamily="34" charset="0"/>
                <a:ea typeface="Calibri" pitchFamily="34" charset="-122"/>
                <a:cs typeface="Calibri" pitchFamily="34" charset="-120"/>
              </a:rPr>
              <a:t>Logistic Regression beats the Random Forest here, which sounds wrong until you notice that k-means boundaries ARE linear hyperplanes. Matching inductive bias, not a fluke.</a:t>
            </a:r>
            <a:endParaRPr lang="en-US" sz="1350" dirty="0"/>
          </a:p>
          <a:p>
            <a:pPr marL="342900" indent="-342900">
              <a:spcAft>
                <a:spcPts val="500"/>
              </a:spcAft>
              <a:buSzPct val="100000"/>
              <a:buChar char="•"/>
            </a:pPr>
            <a:r>
              <a:rPr lang="en-US" sz="1350" dirty="0">
                <a:solidFill>
                  <a:srgbClr val="56646F"/>
                </a:solidFill>
                <a:latin typeface="Calibri" pitchFamily="34" charset="0"/>
                <a:ea typeface="Calibri" pitchFamily="34" charset="-122"/>
                <a:cs typeface="Calibri" pitchFamily="34" charset="-120"/>
              </a:rPr>
              <a:t>The real test: a forest given only features k-means never saw still recovers the segment about 82% of the time — so the segments do carry information beyond their own definition.</a:t>
            </a:r>
            <a:endParaRPr lang="en-US" sz="13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57200"/>
            <a:ext cx="8229600" cy="256032"/>
          </a:xfrm>
          <a:prstGeom prst="rect">
            <a:avLst/>
          </a:prstGeom>
          <a:noFill/>
          <a:ln/>
        </p:spPr>
        <p:txBody>
          <a:bodyPr wrap="square" lIns="0" tIns="0" rIns="0" bIns="0" rtlCol="0" anchor="ctr"/>
          <a:lstStyle/>
          <a:p>
            <a:pPr indent="0" marL="0">
              <a:buNone/>
            </a:pPr>
            <a:r>
              <a:rPr lang="en-US" sz="1150" b="1" spc="160" kern="0" dirty="0">
                <a:solidFill>
                  <a:srgbClr val="1BAF7A"/>
                </a:solidFill>
                <a:latin typeface="Calibri" pitchFamily="34" charset="0"/>
                <a:ea typeface="Calibri" pitchFamily="34" charset="-122"/>
                <a:cs typeface="Calibri" pitchFamily="34" charset="-120"/>
              </a:rPr>
              <a:t>REGRESSION</a:t>
            </a:r>
            <a:endParaRPr lang="en-US" sz="1150" dirty="0"/>
          </a:p>
        </p:txBody>
      </p:sp>
      <p:sp>
        <p:nvSpPr>
          <p:cNvPr id="3" name="Text 1"/>
          <p:cNvSpPr/>
          <p:nvPr/>
        </p:nvSpPr>
        <p:spPr>
          <a:xfrm>
            <a:off x="566928" y="731520"/>
            <a:ext cx="11055096" cy="658368"/>
          </a:xfrm>
          <a:prstGeom prst="rect">
            <a:avLst/>
          </a:prstGeom>
          <a:noFill/>
          <a:ln/>
        </p:spPr>
        <p:txBody>
          <a:bodyPr wrap="square" lIns="0" tIns="0" rIns="0" bIns="0" rtlCol="0" anchor="ctr"/>
          <a:lstStyle/>
          <a:p>
            <a:pPr indent="0" marL="0">
              <a:buNone/>
            </a:pPr>
            <a:r>
              <a:rPr lang="en-US" sz="3000" b="1" dirty="0">
                <a:solidFill>
                  <a:srgbClr val="10202E"/>
                </a:solidFill>
                <a:latin typeface="Cambria" pitchFamily="34" charset="0"/>
                <a:ea typeface="Cambria" pitchFamily="34" charset="-122"/>
                <a:cs typeface="Cambria" pitchFamily="34" charset="-120"/>
              </a:rPr>
              <a:t>Four models, one baseline that is not zero</a:t>
            </a:r>
            <a:endParaRPr lang="en-US" sz="3000" dirty="0"/>
          </a:p>
        </p:txBody>
      </p:sp>
      <p:pic>
        <p:nvPicPr>
          <p:cNvPr id="4" name="Image 0" descr="/root/proj/reports/slides/fig_model_comparison.png">    </p:cNvPr>
          <p:cNvPicPr>
            <a:picLocks noChangeAspect="1"/>
          </p:cNvPicPr>
          <p:nvPr/>
        </p:nvPicPr>
        <p:blipFill>
          <a:blip r:embed="rId1"/>
          <a:stretch>
            <a:fillRect/>
          </a:stretch>
        </p:blipFill>
        <p:spPr>
          <a:xfrm>
            <a:off x="566928" y="1417320"/>
            <a:ext cx="11064240" cy="3822192"/>
          </a:xfrm>
          <a:prstGeom prst="rect">
            <a:avLst/>
          </a:prstGeom>
        </p:spPr>
      </p:pic>
      <p:sp>
        <p:nvSpPr>
          <p:cNvPr id="5" name="Text 2"/>
          <p:cNvSpPr/>
          <p:nvPr/>
        </p:nvSpPr>
        <p:spPr>
          <a:xfrm>
            <a:off x="566928" y="5349240"/>
            <a:ext cx="11055096" cy="640080"/>
          </a:xfrm>
          <a:prstGeom prst="rect">
            <a:avLst/>
          </a:prstGeom>
          <a:noFill/>
          <a:ln/>
        </p:spPr>
        <p:txBody>
          <a:bodyPr wrap="square" lIns="0" tIns="0" rIns="0" bIns="0" rtlCol="0" anchor="ctr"/>
          <a:lstStyle/>
          <a:p>
            <a:pPr indent="0" marL="0">
              <a:buNone/>
            </a:pPr>
            <a:r>
              <a:rPr lang="en-US" sz="1450" dirty="0">
                <a:solidFill>
                  <a:srgbClr val="56646F"/>
                </a:solidFill>
                <a:latin typeface="Calibri" pitchFamily="34" charset="0"/>
                <a:ea typeface="Calibri" pitchFamily="34" charset="-122"/>
                <a:cs typeface="Calibri" pitchFamily="34" charset="-120"/>
              </a:rPr>
              <a:t>Trained on 3,476 houses, scored on the same 869 the models never saw. A zip-code median lookup — no model at all — scores 21.0%; every model here beats it, which is the least it should do.</a:t>
            </a:r>
            <a:endParaRPr lang="en-US" sz="14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57200"/>
            <a:ext cx="8229600" cy="256032"/>
          </a:xfrm>
          <a:prstGeom prst="rect">
            <a:avLst/>
          </a:prstGeom>
          <a:noFill/>
          <a:ln/>
        </p:spPr>
        <p:txBody>
          <a:bodyPr wrap="square" lIns="0" tIns="0" rIns="0" bIns="0" rtlCol="0" anchor="ctr"/>
          <a:lstStyle/>
          <a:p>
            <a:pPr indent="0" marL="0">
              <a:buNone/>
            </a:pPr>
            <a:r>
              <a:rPr lang="en-US" sz="1150" b="1" spc="160" kern="0" dirty="0">
                <a:solidFill>
                  <a:srgbClr val="1BAF7A"/>
                </a:solidFill>
                <a:latin typeface="Calibri" pitchFamily="34" charset="0"/>
                <a:ea typeface="Calibri" pitchFamily="34" charset="-122"/>
                <a:cs typeface="Calibri" pitchFamily="34" charset="-120"/>
              </a:rPr>
              <a:t>THE TEST</a:t>
            </a:r>
            <a:endParaRPr lang="en-US" sz="1150" dirty="0"/>
          </a:p>
        </p:txBody>
      </p:sp>
      <p:sp>
        <p:nvSpPr>
          <p:cNvPr id="3" name="Text 1"/>
          <p:cNvSpPr/>
          <p:nvPr/>
        </p:nvSpPr>
        <p:spPr>
          <a:xfrm>
            <a:off x="566928" y="731520"/>
            <a:ext cx="11055096" cy="658368"/>
          </a:xfrm>
          <a:prstGeom prst="rect">
            <a:avLst/>
          </a:prstGeom>
          <a:noFill/>
          <a:ln/>
        </p:spPr>
        <p:txBody>
          <a:bodyPr wrap="square" lIns="0" tIns="0" rIns="0" bIns="0" rtlCol="0" anchor="ctr"/>
          <a:lstStyle/>
          <a:p>
            <a:pPr indent="0" marL="0">
              <a:buNone/>
            </a:pPr>
            <a:r>
              <a:rPr lang="en-US" sz="3000" b="1" dirty="0">
                <a:solidFill>
                  <a:srgbClr val="10202E"/>
                </a:solidFill>
                <a:latin typeface="Cambria" pitchFamily="34" charset="0"/>
                <a:ea typeface="Cambria" pitchFamily="34" charset="-122"/>
                <a:cs typeface="Cambria" pitchFamily="34" charset="-120"/>
              </a:rPr>
              <a:t>Is the winner actually better, or just luckier?</a:t>
            </a:r>
            <a:endParaRPr lang="en-US" sz="3000" dirty="0"/>
          </a:p>
        </p:txBody>
      </p:sp>
      <p:sp>
        <p:nvSpPr>
          <p:cNvPr id="4" name="Shape 2"/>
          <p:cNvSpPr/>
          <p:nvPr/>
        </p:nvSpPr>
        <p:spPr>
          <a:xfrm>
            <a:off x="566928" y="1481328"/>
            <a:ext cx="5394960" cy="2286000"/>
          </a:xfrm>
          <a:prstGeom prst="roundRect">
            <a:avLst>
              <a:gd name="adj" fmla="val 3600"/>
            </a:avLst>
          </a:prstGeom>
          <a:solidFill>
            <a:srgbClr val="F1F5F8"/>
          </a:solidFill>
          <a:ln w="12700">
            <a:solidFill>
              <a:srgbClr val="F1F5F8"/>
            </a:solidFill>
            <a:prstDash val="solid"/>
          </a:ln>
        </p:spPr>
      </p:sp>
      <p:sp>
        <p:nvSpPr>
          <p:cNvPr id="5" name="Text 3"/>
          <p:cNvSpPr/>
          <p:nvPr/>
        </p:nvSpPr>
        <p:spPr>
          <a:xfrm>
            <a:off x="886968" y="1691640"/>
            <a:ext cx="4754880" cy="320040"/>
          </a:xfrm>
          <a:prstGeom prst="rect">
            <a:avLst/>
          </a:prstGeom>
          <a:noFill/>
          <a:ln/>
        </p:spPr>
        <p:txBody>
          <a:bodyPr wrap="square" lIns="0" tIns="0" rIns="0" bIns="0" rtlCol="0" anchor="ctr"/>
          <a:lstStyle/>
          <a:p>
            <a:pPr indent="0" marL="0">
              <a:buNone/>
            </a:pPr>
            <a:r>
              <a:rPr lang="en-US" sz="1400" b="1" dirty="0">
                <a:solidFill>
                  <a:srgbClr val="56646F"/>
                </a:solidFill>
                <a:latin typeface="Calibri" pitchFamily="34" charset="0"/>
                <a:ea typeface="Calibri" pitchFamily="34" charset="-122"/>
                <a:cs typeface="Calibri" pitchFamily="34" charset="-120"/>
              </a:rPr>
              <a:t>vs the Ridge baseline</a:t>
            </a:r>
            <a:endParaRPr lang="en-US" sz="1400" dirty="0"/>
          </a:p>
        </p:txBody>
      </p:sp>
      <p:sp>
        <p:nvSpPr>
          <p:cNvPr id="6" name="Text 4"/>
          <p:cNvSpPr/>
          <p:nvPr/>
        </p:nvSpPr>
        <p:spPr>
          <a:xfrm>
            <a:off x="886968" y="2011680"/>
            <a:ext cx="4754880" cy="658368"/>
          </a:xfrm>
          <a:prstGeom prst="rect">
            <a:avLst/>
          </a:prstGeom>
          <a:noFill/>
          <a:ln/>
        </p:spPr>
        <p:txBody>
          <a:bodyPr wrap="square" lIns="0" tIns="0" rIns="0" bIns="0" rtlCol="0" anchor="ctr"/>
          <a:lstStyle/>
          <a:p>
            <a:pPr indent="0" marL="0">
              <a:buNone/>
            </a:pPr>
            <a:r>
              <a:rPr lang="en-US" sz="3800" b="1" dirty="0">
                <a:solidFill>
                  <a:srgbClr val="1BAF7A"/>
                </a:solidFill>
                <a:latin typeface="Cambria" pitchFamily="34" charset="0"/>
                <a:ea typeface="Cambria" pitchFamily="34" charset="-122"/>
                <a:cs typeface="Cambria" pitchFamily="34" charset="-120"/>
              </a:rPr>
              <a:t>−1.98 pp</a:t>
            </a:r>
            <a:endParaRPr lang="en-US" sz="3800" dirty="0"/>
          </a:p>
        </p:txBody>
      </p:sp>
      <p:sp>
        <p:nvSpPr>
          <p:cNvPr id="7" name="Text 5"/>
          <p:cNvSpPr/>
          <p:nvPr/>
        </p:nvSpPr>
        <p:spPr>
          <a:xfrm>
            <a:off x="886968" y="2697480"/>
            <a:ext cx="4754880" cy="822960"/>
          </a:xfrm>
          <a:prstGeom prst="rect">
            <a:avLst/>
          </a:prstGeom>
          <a:noFill/>
          <a:ln/>
        </p:spPr>
        <p:txBody>
          <a:bodyPr wrap="square" lIns="0" tIns="0" rIns="0" bIns="0" rtlCol="0" anchor="ctr"/>
          <a:lstStyle/>
          <a:p>
            <a:pPr indent="0" marL="0">
              <a:buNone/>
            </a:pPr>
            <a:r>
              <a:rPr lang="en-US" sz="1350" dirty="0">
                <a:solidFill>
                  <a:srgbClr val="56646F"/>
                </a:solidFill>
                <a:latin typeface="Calibri" pitchFamily="34" charset="0"/>
                <a:ea typeface="Calibri" pitchFamily="34" charset="-122"/>
                <a:cs typeface="Calibri" pitchFamily="34" charset="-120"/>
              </a:rPr>
              <a:t>95% bootstrap CI [−3.06, −0.89]</a:t>
            </a:r>
            <a:endParaRPr lang="en-US" sz="1350" dirty="0"/>
          </a:p>
          <a:p>
            <a:pPr indent="0" marL="0">
              <a:buNone/>
            </a:pPr>
            <a:r>
              <a:rPr lang="en-US" sz="1350" dirty="0">
                <a:solidFill>
                  <a:srgbClr val="56646F"/>
                </a:solidFill>
                <a:latin typeface="Calibri" pitchFamily="34" charset="0"/>
                <a:ea typeface="Calibri" pitchFamily="34" charset="-122"/>
                <a:cs typeface="Calibri" pitchFamily="34" charset="-120"/>
              </a:rPr>
              <a:t>Wilcoxon signed-rank p ≈ 1e−7   →   real</a:t>
            </a:r>
            <a:endParaRPr lang="en-US" sz="1350" dirty="0"/>
          </a:p>
        </p:txBody>
      </p:sp>
      <p:sp>
        <p:nvSpPr>
          <p:cNvPr id="8" name="Shape 6"/>
          <p:cNvSpPr/>
          <p:nvPr/>
        </p:nvSpPr>
        <p:spPr>
          <a:xfrm>
            <a:off x="6236208" y="1481328"/>
            <a:ext cx="5394960" cy="2286000"/>
          </a:xfrm>
          <a:prstGeom prst="roundRect">
            <a:avLst>
              <a:gd name="adj" fmla="val 3600"/>
            </a:avLst>
          </a:prstGeom>
          <a:solidFill>
            <a:srgbClr val="F1F5F8"/>
          </a:solidFill>
          <a:ln w="12700">
            <a:solidFill>
              <a:srgbClr val="F1F5F8"/>
            </a:solidFill>
            <a:prstDash val="solid"/>
          </a:ln>
        </p:spPr>
      </p:sp>
      <p:sp>
        <p:nvSpPr>
          <p:cNvPr id="9" name="Text 7"/>
          <p:cNvSpPr/>
          <p:nvPr/>
        </p:nvSpPr>
        <p:spPr>
          <a:xfrm>
            <a:off x="6556248" y="1691640"/>
            <a:ext cx="4754880" cy="320040"/>
          </a:xfrm>
          <a:prstGeom prst="rect">
            <a:avLst/>
          </a:prstGeom>
          <a:noFill/>
          <a:ln/>
        </p:spPr>
        <p:txBody>
          <a:bodyPr wrap="square" lIns="0" tIns="0" rIns="0" bIns="0" rtlCol="0" anchor="ctr"/>
          <a:lstStyle/>
          <a:p>
            <a:pPr indent="0" marL="0">
              <a:buNone/>
            </a:pPr>
            <a:r>
              <a:rPr lang="en-US" sz="1400" b="1" dirty="0">
                <a:solidFill>
                  <a:srgbClr val="56646F"/>
                </a:solidFill>
                <a:latin typeface="Calibri" pitchFamily="34" charset="0"/>
                <a:ea typeface="Calibri" pitchFamily="34" charset="-122"/>
                <a:cs typeface="Calibri" pitchFamily="34" charset="-120"/>
              </a:rPr>
              <a:t>vs tuned XGBoost</a:t>
            </a:r>
            <a:endParaRPr lang="en-US" sz="1400" dirty="0"/>
          </a:p>
        </p:txBody>
      </p:sp>
      <p:sp>
        <p:nvSpPr>
          <p:cNvPr id="10" name="Text 8"/>
          <p:cNvSpPr/>
          <p:nvPr/>
        </p:nvSpPr>
        <p:spPr>
          <a:xfrm>
            <a:off x="6556248" y="2011680"/>
            <a:ext cx="4754880" cy="658368"/>
          </a:xfrm>
          <a:prstGeom prst="rect">
            <a:avLst/>
          </a:prstGeom>
          <a:noFill/>
          <a:ln/>
        </p:spPr>
        <p:txBody>
          <a:bodyPr wrap="square" lIns="0" tIns="0" rIns="0" bIns="0" rtlCol="0" anchor="ctr"/>
          <a:lstStyle/>
          <a:p>
            <a:pPr indent="0" marL="0">
              <a:buNone/>
            </a:pPr>
            <a:r>
              <a:rPr lang="en-US" sz="3800" b="1" dirty="0">
                <a:solidFill>
                  <a:srgbClr val="56646F"/>
                </a:solidFill>
                <a:latin typeface="Cambria" pitchFamily="34" charset="0"/>
                <a:ea typeface="Cambria" pitchFamily="34" charset="-122"/>
                <a:cs typeface="Cambria" pitchFamily="34" charset="-120"/>
              </a:rPr>
              <a:t>−0.18 pp</a:t>
            </a:r>
            <a:endParaRPr lang="en-US" sz="3800" dirty="0"/>
          </a:p>
        </p:txBody>
      </p:sp>
      <p:sp>
        <p:nvSpPr>
          <p:cNvPr id="11" name="Text 9"/>
          <p:cNvSpPr/>
          <p:nvPr/>
        </p:nvSpPr>
        <p:spPr>
          <a:xfrm>
            <a:off x="6556248" y="2697480"/>
            <a:ext cx="4754880" cy="822960"/>
          </a:xfrm>
          <a:prstGeom prst="rect">
            <a:avLst/>
          </a:prstGeom>
          <a:noFill/>
          <a:ln/>
        </p:spPr>
        <p:txBody>
          <a:bodyPr wrap="square" lIns="0" tIns="0" rIns="0" bIns="0" rtlCol="0" anchor="ctr"/>
          <a:lstStyle/>
          <a:p>
            <a:pPr indent="0" marL="0">
              <a:buNone/>
            </a:pPr>
            <a:r>
              <a:rPr lang="en-US" sz="1350" dirty="0">
                <a:solidFill>
                  <a:srgbClr val="56646F"/>
                </a:solidFill>
                <a:latin typeface="Calibri" pitchFamily="34" charset="0"/>
                <a:ea typeface="Calibri" pitchFamily="34" charset="-122"/>
                <a:cs typeface="Calibri" pitchFamily="34" charset="-120"/>
              </a:rPr>
              <a:t>95% bootstrap CI [−0.72, +0.49]</a:t>
            </a:r>
            <a:endParaRPr lang="en-US" sz="1350" dirty="0"/>
          </a:p>
          <a:p>
            <a:pPr indent="0" marL="0">
              <a:buNone/>
            </a:pPr>
            <a:r>
              <a:rPr lang="en-US" sz="1350" dirty="0">
                <a:solidFill>
                  <a:srgbClr val="56646F"/>
                </a:solidFill>
                <a:latin typeface="Calibri" pitchFamily="34" charset="0"/>
                <a:ea typeface="Calibri" pitchFamily="34" charset="-122"/>
                <a:cs typeface="Calibri" pitchFamily="34" charset="-120"/>
              </a:rPr>
              <a:t>p = 0.20   →   not distinguishable</a:t>
            </a:r>
            <a:endParaRPr lang="en-US" sz="1350" dirty="0"/>
          </a:p>
        </p:txBody>
      </p:sp>
      <p:sp>
        <p:nvSpPr>
          <p:cNvPr id="12" name="Text 10"/>
          <p:cNvSpPr/>
          <p:nvPr/>
        </p:nvSpPr>
        <p:spPr>
          <a:xfrm>
            <a:off x="566928" y="3977640"/>
            <a:ext cx="11055096" cy="457200"/>
          </a:xfrm>
          <a:prstGeom prst="rect">
            <a:avLst/>
          </a:prstGeom>
          <a:noFill/>
          <a:ln/>
        </p:spPr>
        <p:txBody>
          <a:bodyPr wrap="square" lIns="0" tIns="0" rIns="0" bIns="0" rtlCol="0" anchor="ctr"/>
          <a:lstStyle/>
          <a:p>
            <a:pPr indent="0" marL="0">
              <a:buNone/>
            </a:pPr>
            <a:r>
              <a:rPr lang="en-US" sz="1450" dirty="0">
                <a:solidFill>
                  <a:srgbClr val="56646F"/>
                </a:solidFill>
                <a:latin typeface="Calibri" pitchFamily="34" charset="0"/>
                <a:ea typeface="Calibri" pitchFamily="34" charset="-122"/>
                <a:cs typeface="Calibri" pitchFamily="34" charset="-120"/>
              </a:rPr>
              <a:t>Both comparisons are paired — same 869 houses, both models — using a Wilcoxon signed-rank test and a 2,000-sample bootstrap on the difference in median error.</a:t>
            </a:r>
            <a:endParaRPr lang="en-US" sz="1450" dirty="0"/>
          </a:p>
        </p:txBody>
      </p:sp>
      <p:sp>
        <p:nvSpPr>
          <p:cNvPr id="13" name="Shape 11"/>
          <p:cNvSpPr/>
          <p:nvPr/>
        </p:nvSpPr>
        <p:spPr>
          <a:xfrm>
            <a:off x="566928" y="4572000"/>
            <a:ext cx="11055096" cy="1371600"/>
          </a:xfrm>
          <a:prstGeom prst="roundRect">
            <a:avLst>
              <a:gd name="adj" fmla="val 6000"/>
            </a:avLst>
          </a:prstGeom>
          <a:solidFill>
            <a:srgbClr val="EAF6F0"/>
          </a:solidFill>
          <a:ln w="12700">
            <a:solidFill>
              <a:srgbClr val="EAF6F0"/>
            </a:solidFill>
            <a:prstDash val="solid"/>
          </a:ln>
        </p:spPr>
      </p:sp>
      <p:sp>
        <p:nvSpPr>
          <p:cNvPr id="14" name="Text 12"/>
          <p:cNvSpPr/>
          <p:nvPr/>
        </p:nvSpPr>
        <p:spPr>
          <a:xfrm>
            <a:off x="932688" y="4800600"/>
            <a:ext cx="10515600" cy="411480"/>
          </a:xfrm>
          <a:prstGeom prst="rect">
            <a:avLst/>
          </a:prstGeom>
          <a:noFill/>
          <a:ln/>
        </p:spPr>
        <p:txBody>
          <a:bodyPr wrap="square" lIns="0" tIns="0" rIns="0" bIns="0" rtlCol="0" anchor="ctr"/>
          <a:lstStyle/>
          <a:p>
            <a:pPr indent="0" marL="0">
              <a:buNone/>
            </a:pPr>
            <a:r>
              <a:rPr lang="en-US" sz="1700" b="1" dirty="0">
                <a:solidFill>
                  <a:srgbClr val="10202E"/>
                </a:solidFill>
                <a:latin typeface="Calibri" pitchFamily="34" charset="0"/>
                <a:ea typeface="Calibri" pitchFamily="34" charset="-122"/>
                <a:cs typeface="Calibri" pitchFamily="34" charset="-120"/>
              </a:rPr>
              <a:t>So the accuracy metric does not pick the winner. Something else has to.</a:t>
            </a:r>
            <a:endParaRPr lang="en-US" sz="1700" dirty="0"/>
          </a:p>
        </p:txBody>
      </p:sp>
      <p:sp>
        <p:nvSpPr>
          <p:cNvPr id="15" name="Text 13"/>
          <p:cNvSpPr/>
          <p:nvPr/>
        </p:nvSpPr>
        <p:spPr>
          <a:xfrm>
            <a:off x="932688" y="5230368"/>
            <a:ext cx="10515600" cy="457200"/>
          </a:xfrm>
          <a:prstGeom prst="rect">
            <a:avLst/>
          </a:prstGeom>
          <a:noFill/>
          <a:ln/>
        </p:spPr>
        <p:txBody>
          <a:bodyPr wrap="square" lIns="0" tIns="0" rIns="0" bIns="0" rtlCol="0" anchor="ctr"/>
          <a:lstStyle/>
          <a:p>
            <a:pPr indent="0" marL="0">
              <a:buNone/>
            </a:pPr>
            <a:r>
              <a:rPr lang="en-US" sz="1400" dirty="0">
                <a:solidFill>
                  <a:srgbClr val="56646F"/>
                </a:solidFill>
                <a:latin typeface="Calibri" pitchFamily="34" charset="0"/>
                <a:ea typeface="Calibri" pitchFamily="34" charset="-122"/>
                <a:cs typeface="Calibri" pitchFamily="34" charset="-120"/>
              </a:rPr>
              <a:t>Two models I cannot tell apart on error are not two equally good models. The tie-break comes from the assessment industry, not from machine learning — next slide.</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57200"/>
            <a:ext cx="8229600" cy="256032"/>
          </a:xfrm>
          <a:prstGeom prst="rect">
            <a:avLst/>
          </a:prstGeom>
          <a:noFill/>
          <a:ln/>
        </p:spPr>
        <p:txBody>
          <a:bodyPr wrap="square" lIns="0" tIns="0" rIns="0" bIns="0" rtlCol="0" anchor="ctr"/>
          <a:lstStyle/>
          <a:p>
            <a:pPr indent="0" marL="0">
              <a:buNone/>
            </a:pPr>
            <a:r>
              <a:rPr lang="en-US" sz="1150" b="1" spc="160" kern="0" dirty="0">
                <a:solidFill>
                  <a:srgbClr val="1BAF7A"/>
                </a:solidFill>
                <a:latin typeface="Calibri" pitchFamily="34" charset="0"/>
                <a:ea typeface="Calibri" pitchFamily="34" charset="-122"/>
                <a:cs typeface="Calibri" pitchFamily="34" charset="-120"/>
              </a:rPr>
              <a:t>FAIRNESS</a:t>
            </a:r>
            <a:endParaRPr lang="en-US" sz="1150" dirty="0"/>
          </a:p>
        </p:txBody>
      </p:sp>
      <p:sp>
        <p:nvSpPr>
          <p:cNvPr id="3" name="Text 1"/>
          <p:cNvSpPr/>
          <p:nvPr/>
        </p:nvSpPr>
        <p:spPr>
          <a:xfrm>
            <a:off x="566928" y="731520"/>
            <a:ext cx="11055096" cy="658368"/>
          </a:xfrm>
          <a:prstGeom prst="rect">
            <a:avLst/>
          </a:prstGeom>
          <a:noFill/>
          <a:ln/>
        </p:spPr>
        <p:txBody>
          <a:bodyPr wrap="square" lIns="0" tIns="0" rIns="0" bIns="0" rtlCol="0" anchor="ctr"/>
          <a:lstStyle/>
          <a:p>
            <a:pPr indent="0" marL="0">
              <a:buNone/>
            </a:pPr>
            <a:r>
              <a:rPr lang="en-US" sz="3000" b="1" dirty="0">
                <a:solidFill>
                  <a:srgbClr val="10202E"/>
                </a:solidFill>
                <a:latin typeface="Cambria" pitchFamily="34" charset="0"/>
                <a:ea typeface="Cambria" pitchFamily="34" charset="-122"/>
                <a:cs typeface="Cambria" pitchFamily="34" charset="-120"/>
              </a:rPr>
              <a:t>The tie-break: how assessors judge a valuation model</a:t>
            </a:r>
            <a:endParaRPr lang="en-US" sz="3000" dirty="0"/>
          </a:p>
        </p:txBody>
      </p:sp>
      <p:pic>
        <p:nvPicPr>
          <p:cNvPr id="4" name="Image 0" descr="/root/proj/reports/slides/fig_iaao.png">    </p:cNvPr>
          <p:cNvPicPr>
            <a:picLocks noChangeAspect="1"/>
          </p:cNvPicPr>
          <p:nvPr/>
        </p:nvPicPr>
        <p:blipFill>
          <a:blip r:embed="rId1"/>
          <a:stretch>
            <a:fillRect/>
          </a:stretch>
        </p:blipFill>
        <p:spPr>
          <a:xfrm>
            <a:off x="566928" y="1371600"/>
            <a:ext cx="11064240" cy="3127248"/>
          </a:xfrm>
          <a:prstGeom prst="rect">
            <a:avLst/>
          </a:prstGeom>
        </p:spPr>
      </p:pic>
      <p:sp>
        <p:nvSpPr>
          <p:cNvPr id="5" name="Shape 2"/>
          <p:cNvSpPr/>
          <p:nvPr/>
        </p:nvSpPr>
        <p:spPr>
          <a:xfrm>
            <a:off x="566928" y="4663440"/>
            <a:ext cx="11055096" cy="1371600"/>
          </a:xfrm>
          <a:prstGeom prst="roundRect">
            <a:avLst>
              <a:gd name="adj" fmla="val 6000"/>
            </a:avLst>
          </a:prstGeom>
          <a:solidFill>
            <a:srgbClr val="F1F5F8"/>
          </a:solidFill>
          <a:ln w="12700">
            <a:solidFill>
              <a:srgbClr val="F1F5F8"/>
            </a:solidFill>
            <a:prstDash val="solid"/>
          </a:ln>
        </p:spPr>
      </p:sp>
      <p:sp>
        <p:nvSpPr>
          <p:cNvPr id="6" name="Text 3"/>
          <p:cNvSpPr/>
          <p:nvPr/>
        </p:nvSpPr>
        <p:spPr>
          <a:xfrm>
            <a:off x="932688" y="4864608"/>
            <a:ext cx="10515600" cy="365760"/>
          </a:xfrm>
          <a:prstGeom prst="rect">
            <a:avLst/>
          </a:prstGeom>
          <a:noFill/>
          <a:ln/>
        </p:spPr>
        <p:txBody>
          <a:bodyPr wrap="square" lIns="0" tIns="0" rIns="0" bIns="0" rtlCol="0" anchor="ctr"/>
          <a:lstStyle/>
          <a:p>
            <a:pPr indent="0" marL="0">
              <a:buNone/>
            </a:pPr>
            <a:r>
              <a:rPr lang="en-US" sz="1600" b="1" dirty="0">
                <a:solidFill>
                  <a:srgbClr val="10202E"/>
                </a:solidFill>
                <a:latin typeface="Calibri" pitchFamily="34" charset="0"/>
                <a:ea typeface="Calibri" pitchFamily="34" charset="-122"/>
                <a:cs typeface="Calibri" pitchFamily="34" charset="-120"/>
              </a:rPr>
              <a:t>PRD is a fairness test, not an accuracy test.</a:t>
            </a:r>
            <a:endParaRPr lang="en-US" sz="1600" dirty="0"/>
          </a:p>
        </p:txBody>
      </p:sp>
      <p:sp>
        <p:nvSpPr>
          <p:cNvPr id="7" name="Text 4"/>
          <p:cNvSpPr/>
          <p:nvPr/>
        </p:nvSpPr>
        <p:spPr>
          <a:xfrm>
            <a:off x="932688" y="5230368"/>
            <a:ext cx="10515600" cy="731520"/>
          </a:xfrm>
          <a:prstGeom prst="rect">
            <a:avLst/>
          </a:prstGeom>
          <a:noFill/>
          <a:ln/>
        </p:spPr>
        <p:txBody>
          <a:bodyPr wrap="square" lIns="0" tIns="0" rIns="0" bIns="0" rtlCol="0" anchor="ctr"/>
          <a:lstStyle/>
          <a:p>
            <a:pPr indent="0" marL="0">
              <a:buNone/>
            </a:pPr>
            <a:r>
              <a:rPr lang="en-US" sz="1350" dirty="0">
                <a:solidFill>
                  <a:srgbClr val="56646F"/>
                </a:solidFill>
                <a:latin typeface="Calibri" pitchFamily="34" charset="0"/>
                <a:ea typeface="Calibri" pitchFamily="34" charset="-122"/>
                <a:cs typeface="Calibri" pitchFamily="34" charset="-120"/>
              </a:rPr>
              <a:t>A model can be accurate on average while over-valuing cheap homes and under-valuing expensive ones — in a tax assessment, that means poor owners subsidise rich ones. Ridge fails COD at 16.9; Random Forest fails PRD at 1.042; XGBoost sits on the line. The gradient booster is the only one of the four that passes all three, and that is why it ships.</a:t>
            </a:r>
            <a:endParaRPr lang="en-US" sz="13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57200"/>
            <a:ext cx="8229600" cy="256032"/>
          </a:xfrm>
          <a:prstGeom prst="rect">
            <a:avLst/>
          </a:prstGeom>
          <a:noFill/>
          <a:ln/>
        </p:spPr>
        <p:txBody>
          <a:bodyPr wrap="square" lIns="0" tIns="0" rIns="0" bIns="0" rtlCol="0" anchor="ctr"/>
          <a:lstStyle/>
          <a:p>
            <a:pPr indent="0" marL="0">
              <a:buNone/>
            </a:pPr>
            <a:r>
              <a:rPr lang="en-US" sz="1150" b="1" spc="160" kern="0" dirty="0">
                <a:solidFill>
                  <a:srgbClr val="1BAF7A"/>
                </a:solidFill>
                <a:latin typeface="Calibri" pitchFamily="34" charset="0"/>
                <a:ea typeface="Calibri" pitchFamily="34" charset="-122"/>
                <a:cs typeface="Calibri" pitchFamily="34" charset="-120"/>
              </a:rPr>
              <a:t>BENCHMARK</a:t>
            </a:r>
            <a:endParaRPr lang="en-US" sz="1150" dirty="0"/>
          </a:p>
        </p:txBody>
      </p:sp>
      <p:sp>
        <p:nvSpPr>
          <p:cNvPr id="3" name="Text 1"/>
          <p:cNvSpPr/>
          <p:nvPr/>
        </p:nvSpPr>
        <p:spPr>
          <a:xfrm>
            <a:off x="566928" y="731520"/>
            <a:ext cx="11055096" cy="658368"/>
          </a:xfrm>
          <a:prstGeom prst="rect">
            <a:avLst/>
          </a:prstGeom>
          <a:noFill/>
          <a:ln/>
        </p:spPr>
        <p:txBody>
          <a:bodyPr wrap="square" lIns="0" tIns="0" rIns="0" bIns="0" rtlCol="0" anchor="ctr"/>
          <a:lstStyle/>
          <a:p>
            <a:pPr indent="0" marL="0">
              <a:buNone/>
            </a:pPr>
            <a:r>
              <a:rPr lang="en-US" sz="3000" b="1" dirty="0">
                <a:solidFill>
                  <a:srgbClr val="10202E"/>
                </a:solidFill>
                <a:latin typeface="Cambria" pitchFamily="34" charset="0"/>
                <a:ea typeface="Cambria" pitchFamily="34" charset="-122"/>
                <a:cs typeface="Cambria" pitchFamily="34" charset="-120"/>
              </a:rPr>
              <a:t>10.5% — good, bad, or neither?</a:t>
            </a:r>
            <a:endParaRPr lang="en-US" sz="3000" dirty="0"/>
          </a:p>
        </p:txBody>
      </p:sp>
      <p:pic>
        <p:nvPicPr>
          <p:cNvPr id="4" name="Image 0" descr="/root/proj/reports/slides/fig_benchmark.png">    </p:cNvPr>
          <p:cNvPicPr>
            <a:picLocks noChangeAspect="1"/>
          </p:cNvPicPr>
          <p:nvPr/>
        </p:nvPicPr>
        <p:blipFill>
          <a:blip r:embed="rId1"/>
          <a:stretch>
            <a:fillRect/>
          </a:stretch>
        </p:blipFill>
        <p:spPr>
          <a:xfrm>
            <a:off x="566928" y="1463040"/>
            <a:ext cx="11064240" cy="3621024"/>
          </a:xfrm>
          <a:prstGeom prst="rect">
            <a:avLst/>
          </a:prstGeom>
        </p:spPr>
      </p:pic>
      <p:sp>
        <p:nvSpPr>
          <p:cNvPr id="5" name="Text 2"/>
          <p:cNvSpPr/>
          <p:nvPr/>
        </p:nvSpPr>
        <p:spPr>
          <a:xfrm>
            <a:off x="566928" y="5257800"/>
            <a:ext cx="11055096" cy="822960"/>
          </a:xfrm>
          <a:prstGeom prst="rect">
            <a:avLst/>
          </a:prstGeom>
          <a:noFill/>
          <a:ln/>
        </p:spPr>
        <p:txBody>
          <a:bodyPr wrap="square" lIns="0" tIns="0" rIns="0" bIns="0" rtlCol="0" anchor="ctr"/>
          <a:lstStyle/>
          <a:p>
            <a:pPr indent="0" marL="0">
              <a:buNone/>
            </a:pPr>
            <a:r>
              <a:rPr lang="en-US" sz="1450" dirty="0">
                <a:solidFill>
                  <a:srgbClr val="56646F"/>
                </a:solidFill>
                <a:latin typeface="Calibri" pitchFamily="34" charset="0"/>
                <a:ea typeface="Calibri" pitchFamily="34" charset="-122"/>
                <a:cs typeface="Calibri" pitchFamily="34" charset="-120"/>
              </a:rPr>
              <a:t>Zillow's off-market Zestimate is around 7.5% and institutional AVMs target under 5%, on far richer data — property tax records, sale histories, coordinates, photographs. This model has 20 columns and ten weeks. Half the distance to a commercial product, from a student dataset, is the honest reading.</a:t>
            </a:r>
            <a:endParaRPr lang="en-US" sz="14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57200"/>
            <a:ext cx="8229600" cy="256032"/>
          </a:xfrm>
          <a:prstGeom prst="rect">
            <a:avLst/>
          </a:prstGeom>
          <a:noFill/>
          <a:ln/>
        </p:spPr>
        <p:txBody>
          <a:bodyPr wrap="square" lIns="0" tIns="0" rIns="0" bIns="0" rtlCol="0" anchor="ctr"/>
          <a:lstStyle/>
          <a:p>
            <a:pPr indent="0" marL="0">
              <a:buNone/>
            </a:pPr>
            <a:r>
              <a:rPr lang="en-US" sz="1150" b="1" spc="160" kern="0" dirty="0">
                <a:solidFill>
                  <a:srgbClr val="1BAF7A"/>
                </a:solidFill>
                <a:latin typeface="Calibri" pitchFamily="34" charset="0"/>
                <a:ea typeface="Calibri" pitchFamily="34" charset="-122"/>
                <a:cs typeface="Calibri" pitchFamily="34" charset="-120"/>
              </a:rPr>
              <a:t>LIMITATIONS, MEASURED</a:t>
            </a:r>
            <a:endParaRPr lang="en-US" sz="1150" dirty="0"/>
          </a:p>
        </p:txBody>
      </p:sp>
      <p:sp>
        <p:nvSpPr>
          <p:cNvPr id="3" name="Text 1"/>
          <p:cNvSpPr/>
          <p:nvPr/>
        </p:nvSpPr>
        <p:spPr>
          <a:xfrm>
            <a:off x="566928" y="731520"/>
            <a:ext cx="11055096" cy="658368"/>
          </a:xfrm>
          <a:prstGeom prst="rect">
            <a:avLst/>
          </a:prstGeom>
          <a:noFill/>
          <a:ln/>
        </p:spPr>
        <p:txBody>
          <a:bodyPr wrap="square" lIns="0" tIns="0" rIns="0" bIns="0" rtlCol="0" anchor="ctr"/>
          <a:lstStyle/>
          <a:p>
            <a:pPr indent="0" marL="0">
              <a:buNone/>
            </a:pPr>
            <a:r>
              <a:rPr lang="en-US" sz="3000" b="1" dirty="0">
                <a:solidFill>
                  <a:srgbClr val="10202E"/>
                </a:solidFill>
                <a:latin typeface="Cambria" pitchFamily="34" charset="0"/>
                <a:ea typeface="Cambria" pitchFamily="34" charset="-122"/>
                <a:cs typeface="Cambria" pitchFamily="34" charset="-120"/>
              </a:rPr>
              <a:t>Where it is wrong — said before anyone asks</a:t>
            </a:r>
            <a:endParaRPr lang="en-US" sz="3000" dirty="0"/>
          </a:p>
        </p:txBody>
      </p:sp>
      <p:pic>
        <p:nvPicPr>
          <p:cNvPr id="4" name="Image 0" descr="/root/proj/reports/slides/fig_error_by_decile.png">    </p:cNvPr>
          <p:cNvPicPr>
            <a:picLocks noChangeAspect="1"/>
          </p:cNvPicPr>
          <p:nvPr/>
        </p:nvPicPr>
        <p:blipFill>
          <a:blip r:embed="rId1"/>
          <a:stretch>
            <a:fillRect/>
          </a:stretch>
        </p:blipFill>
        <p:spPr>
          <a:xfrm>
            <a:off x="566928" y="1371600"/>
            <a:ext cx="11064240" cy="3822192"/>
          </a:xfrm>
          <a:prstGeom prst="rect">
            <a:avLst/>
          </a:prstGeom>
        </p:spPr>
      </p:pic>
      <p:sp>
        <p:nvSpPr>
          <p:cNvPr id="5" name="Text 2"/>
          <p:cNvSpPr/>
          <p:nvPr/>
        </p:nvSpPr>
        <p:spPr>
          <a:xfrm>
            <a:off x="566928" y="5285232"/>
            <a:ext cx="11055096" cy="822960"/>
          </a:xfrm>
          <a:prstGeom prst="rect">
            <a:avLst/>
          </a:prstGeom>
          <a:noFill/>
          <a:ln/>
        </p:spPr>
        <p:txBody>
          <a:bodyPr wrap="square" lIns="0" tIns="0" rIns="0" bIns="0" rtlCol="0" anchor="ctr"/>
          <a:lstStyle/>
          <a:p>
            <a:pPr indent="0" marL="0">
              <a:buNone/>
            </a:pPr>
            <a:r>
              <a:rPr lang="en-US" sz="1400" dirty="0">
                <a:solidFill>
                  <a:srgbClr val="56646F"/>
                </a:solidFill>
                <a:latin typeface="Calibri" pitchFamily="34" charset="0"/>
                <a:ea typeface="Calibri" pitchFamily="34" charset="-122"/>
                <a:cs typeface="Calibri" pitchFamily="34" charset="-120"/>
              </a:rPr>
              <a:t>The cheapest tenth is over-valued by 12%; the most expensive tenth is under-valued by 11.5%. The second one is structural: a tree can never predict above the highest value it saw in training, so the top of the market is capped by construction. That is also what strains PRD. The Premium View segment runs at 17.9% error against 9-11% for the rest.</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57200"/>
            <a:ext cx="8229600" cy="256032"/>
          </a:xfrm>
          <a:prstGeom prst="rect">
            <a:avLst/>
          </a:prstGeom>
          <a:noFill/>
          <a:ln/>
        </p:spPr>
        <p:txBody>
          <a:bodyPr wrap="square" lIns="0" tIns="0" rIns="0" bIns="0" rtlCol="0" anchor="ctr"/>
          <a:lstStyle/>
          <a:p>
            <a:pPr indent="0" marL="0">
              <a:buNone/>
            </a:pPr>
            <a:r>
              <a:rPr lang="en-US" sz="1150" b="1" spc="160" kern="0" dirty="0">
                <a:solidFill>
                  <a:srgbClr val="1BAF7A"/>
                </a:solidFill>
                <a:latin typeface="Calibri" pitchFamily="34" charset="0"/>
                <a:ea typeface="Calibri" pitchFamily="34" charset="-122"/>
                <a:cs typeface="Calibri" pitchFamily="34" charset="-120"/>
              </a:rPr>
              <a:t>LIVE DEMO</a:t>
            </a:r>
            <a:endParaRPr lang="en-US" sz="1150" dirty="0"/>
          </a:p>
        </p:txBody>
      </p:sp>
      <p:sp>
        <p:nvSpPr>
          <p:cNvPr id="3" name="Text 1"/>
          <p:cNvSpPr/>
          <p:nvPr/>
        </p:nvSpPr>
        <p:spPr>
          <a:xfrm>
            <a:off x="566928" y="731520"/>
            <a:ext cx="11055096" cy="658368"/>
          </a:xfrm>
          <a:prstGeom prst="rect">
            <a:avLst/>
          </a:prstGeom>
          <a:noFill/>
          <a:ln/>
        </p:spPr>
        <p:txBody>
          <a:bodyPr wrap="square" lIns="0" tIns="0" rIns="0" bIns="0" rtlCol="0" anchor="ctr"/>
          <a:lstStyle/>
          <a:p>
            <a:pPr indent="0" marL="0">
              <a:buNone/>
            </a:pPr>
            <a:r>
              <a:rPr lang="en-US" sz="3000" b="1" dirty="0">
                <a:solidFill>
                  <a:srgbClr val="10202E"/>
                </a:solidFill>
                <a:latin typeface="Cambria" pitchFamily="34" charset="0"/>
                <a:ea typeface="Cambria" pitchFamily="34" charset="-122"/>
                <a:cs typeface="Cambria" pitchFamily="34" charset="-120"/>
              </a:rPr>
              <a:t>The product: a number, a range, a reason, a warning</a:t>
            </a:r>
            <a:endParaRPr lang="en-US" sz="3000" dirty="0"/>
          </a:p>
        </p:txBody>
      </p:sp>
      <p:pic>
        <p:nvPicPr>
          <p:cNvPr id="4" name="Image 0" descr="/root/proj/reports/slides/app_panel.png">    </p:cNvPr>
          <p:cNvPicPr>
            <a:picLocks noChangeAspect="1"/>
          </p:cNvPicPr>
          <p:nvPr/>
        </p:nvPicPr>
        <p:blipFill>
          <a:blip r:embed="rId1"/>
          <a:stretch>
            <a:fillRect/>
          </a:stretch>
        </p:blipFill>
        <p:spPr>
          <a:xfrm>
            <a:off x="566928" y="1417320"/>
            <a:ext cx="4572000" cy="4535424"/>
          </a:xfrm>
          <a:prstGeom prst="rect">
            <a:avLst/>
          </a:prstGeom>
        </p:spPr>
      </p:pic>
      <p:sp>
        <p:nvSpPr>
          <p:cNvPr id="5" name="Shape 2"/>
          <p:cNvSpPr/>
          <p:nvPr/>
        </p:nvSpPr>
        <p:spPr>
          <a:xfrm>
            <a:off x="5431536" y="1463040"/>
            <a:ext cx="6190488" cy="960120"/>
          </a:xfrm>
          <a:prstGeom prst="roundRect">
            <a:avLst>
              <a:gd name="adj" fmla="val 8571"/>
            </a:avLst>
          </a:prstGeom>
          <a:solidFill>
            <a:srgbClr val="F1F5F8"/>
          </a:solidFill>
          <a:ln w="12700">
            <a:solidFill>
              <a:srgbClr val="F1F5F8"/>
            </a:solidFill>
            <a:prstDash val="solid"/>
          </a:ln>
        </p:spPr>
      </p:sp>
      <p:sp>
        <p:nvSpPr>
          <p:cNvPr id="6" name="Text 3"/>
          <p:cNvSpPr/>
          <p:nvPr/>
        </p:nvSpPr>
        <p:spPr>
          <a:xfrm>
            <a:off x="5705856" y="1609344"/>
            <a:ext cx="5641848" cy="329184"/>
          </a:xfrm>
          <a:prstGeom prst="rect">
            <a:avLst/>
          </a:prstGeom>
          <a:noFill/>
          <a:ln/>
        </p:spPr>
        <p:txBody>
          <a:bodyPr wrap="square" lIns="0" tIns="0" rIns="0" bIns="0" rtlCol="0" anchor="ctr"/>
          <a:lstStyle/>
          <a:p>
            <a:pPr indent="0" marL="0">
              <a:buNone/>
            </a:pPr>
            <a:r>
              <a:rPr lang="en-US" sz="1500" b="1" dirty="0">
                <a:solidFill>
                  <a:srgbClr val="10202E"/>
                </a:solidFill>
                <a:latin typeface="Calibri" pitchFamily="34" charset="0"/>
                <a:ea typeface="Calibri" pitchFamily="34" charset="-122"/>
                <a:cs typeface="Calibri" pitchFamily="34" charset="-120"/>
              </a:rPr>
              <a:t>Range, not a point</a:t>
            </a:r>
            <a:endParaRPr lang="en-US" sz="1500" dirty="0"/>
          </a:p>
        </p:txBody>
      </p:sp>
      <p:sp>
        <p:nvSpPr>
          <p:cNvPr id="7" name="Text 4"/>
          <p:cNvSpPr/>
          <p:nvPr/>
        </p:nvSpPr>
        <p:spPr>
          <a:xfrm>
            <a:off x="5705856" y="1947672"/>
            <a:ext cx="5641848" cy="365760"/>
          </a:xfrm>
          <a:prstGeom prst="rect">
            <a:avLst/>
          </a:prstGeom>
          <a:noFill/>
          <a:ln/>
        </p:spPr>
        <p:txBody>
          <a:bodyPr wrap="square" lIns="0" tIns="0" rIns="0" bIns="0" rtlCol="0" anchor="t"/>
          <a:lstStyle/>
          <a:p>
            <a:pPr indent="0" marL="0">
              <a:buNone/>
            </a:pPr>
            <a:r>
              <a:rPr lang="en-US" sz="1300" dirty="0">
                <a:solidFill>
                  <a:srgbClr val="56646F"/>
                </a:solidFill>
                <a:latin typeface="Calibri" pitchFamily="34" charset="0"/>
                <a:ea typeface="Calibri" pitchFamily="34" charset="-122"/>
                <a:cs typeface="Calibri" pitchFamily="34" charset="-120"/>
              </a:rPr>
              <a:t>8 of 10 houses fall inside it</a:t>
            </a:r>
            <a:endParaRPr lang="en-US" sz="1300" dirty="0"/>
          </a:p>
        </p:txBody>
      </p:sp>
      <p:sp>
        <p:nvSpPr>
          <p:cNvPr id="8" name="Shape 5"/>
          <p:cNvSpPr/>
          <p:nvPr/>
        </p:nvSpPr>
        <p:spPr>
          <a:xfrm>
            <a:off x="5431536" y="2651760"/>
            <a:ext cx="6190488" cy="960120"/>
          </a:xfrm>
          <a:prstGeom prst="roundRect">
            <a:avLst>
              <a:gd name="adj" fmla="val 8571"/>
            </a:avLst>
          </a:prstGeom>
          <a:solidFill>
            <a:srgbClr val="F1F5F8"/>
          </a:solidFill>
          <a:ln w="12700">
            <a:solidFill>
              <a:srgbClr val="F1F5F8"/>
            </a:solidFill>
            <a:prstDash val="solid"/>
          </a:ln>
        </p:spPr>
      </p:sp>
      <p:sp>
        <p:nvSpPr>
          <p:cNvPr id="9" name="Text 6"/>
          <p:cNvSpPr/>
          <p:nvPr/>
        </p:nvSpPr>
        <p:spPr>
          <a:xfrm>
            <a:off x="5705856" y="2798064"/>
            <a:ext cx="5641848" cy="329184"/>
          </a:xfrm>
          <a:prstGeom prst="rect">
            <a:avLst/>
          </a:prstGeom>
          <a:noFill/>
          <a:ln/>
        </p:spPr>
        <p:txBody>
          <a:bodyPr wrap="square" lIns="0" tIns="0" rIns="0" bIns="0" rtlCol="0" anchor="ctr"/>
          <a:lstStyle/>
          <a:p>
            <a:pPr indent="0" marL="0">
              <a:buNone/>
            </a:pPr>
            <a:r>
              <a:rPr lang="en-US" sz="1500" b="1" dirty="0">
                <a:solidFill>
                  <a:srgbClr val="10202E"/>
                </a:solidFill>
                <a:latin typeface="Calibri" pitchFamily="34" charset="0"/>
                <a:ea typeface="Calibri" pitchFamily="34" charset="-122"/>
                <a:cs typeface="Calibri" pitchFamily="34" charset="-120"/>
              </a:rPr>
              <a:t>SHAP drivers</a:t>
            </a:r>
            <a:endParaRPr lang="en-US" sz="1500" dirty="0"/>
          </a:p>
        </p:txBody>
      </p:sp>
      <p:sp>
        <p:nvSpPr>
          <p:cNvPr id="10" name="Text 7"/>
          <p:cNvSpPr/>
          <p:nvPr/>
        </p:nvSpPr>
        <p:spPr>
          <a:xfrm>
            <a:off x="5705856" y="3136392"/>
            <a:ext cx="5641848" cy="365760"/>
          </a:xfrm>
          <a:prstGeom prst="rect">
            <a:avLst/>
          </a:prstGeom>
          <a:noFill/>
          <a:ln/>
        </p:spPr>
        <p:txBody>
          <a:bodyPr wrap="square" lIns="0" tIns="0" rIns="0" bIns="0" rtlCol="0" anchor="t"/>
          <a:lstStyle/>
          <a:p>
            <a:pPr indent="0" marL="0">
              <a:buNone/>
            </a:pPr>
            <a:r>
              <a:rPr lang="en-US" sz="1300" dirty="0">
                <a:solidFill>
                  <a:srgbClr val="56646F"/>
                </a:solidFill>
                <a:latin typeface="Calibri" pitchFamily="34" charset="0"/>
                <a:ea typeface="Calibri" pitchFamily="34" charset="-122"/>
                <a:cs typeface="Calibri" pitchFamily="34" charset="-120"/>
              </a:rPr>
              <a:t>what moved THIS valuation</a:t>
            </a:r>
            <a:endParaRPr lang="en-US" sz="1300" dirty="0"/>
          </a:p>
        </p:txBody>
      </p:sp>
      <p:sp>
        <p:nvSpPr>
          <p:cNvPr id="11" name="Shape 8"/>
          <p:cNvSpPr/>
          <p:nvPr/>
        </p:nvSpPr>
        <p:spPr>
          <a:xfrm>
            <a:off x="5431536" y="3840480"/>
            <a:ext cx="6190488" cy="960120"/>
          </a:xfrm>
          <a:prstGeom prst="roundRect">
            <a:avLst>
              <a:gd name="adj" fmla="val 8571"/>
            </a:avLst>
          </a:prstGeom>
          <a:solidFill>
            <a:srgbClr val="F1F5F8"/>
          </a:solidFill>
          <a:ln w="12700">
            <a:solidFill>
              <a:srgbClr val="F1F5F8"/>
            </a:solidFill>
            <a:prstDash val="solid"/>
          </a:ln>
        </p:spPr>
      </p:sp>
      <p:sp>
        <p:nvSpPr>
          <p:cNvPr id="12" name="Text 9"/>
          <p:cNvSpPr/>
          <p:nvPr/>
        </p:nvSpPr>
        <p:spPr>
          <a:xfrm>
            <a:off x="5705856" y="3986784"/>
            <a:ext cx="5641848" cy="329184"/>
          </a:xfrm>
          <a:prstGeom prst="rect">
            <a:avLst/>
          </a:prstGeom>
          <a:noFill/>
          <a:ln/>
        </p:spPr>
        <p:txBody>
          <a:bodyPr wrap="square" lIns="0" tIns="0" rIns="0" bIns="0" rtlCol="0" anchor="ctr"/>
          <a:lstStyle/>
          <a:p>
            <a:pPr indent="0" marL="0">
              <a:buNone/>
            </a:pPr>
            <a:r>
              <a:rPr lang="en-US" sz="1500" b="1" dirty="0">
                <a:solidFill>
                  <a:srgbClr val="10202E"/>
                </a:solidFill>
                <a:latin typeface="Calibri" pitchFamily="34" charset="0"/>
                <a:ea typeface="Calibri" pitchFamily="34" charset="-122"/>
                <a:cs typeface="Calibri" pitchFamily="34" charset="-120"/>
              </a:rPr>
              <a:t>Deterministic warnings</a:t>
            </a:r>
            <a:endParaRPr lang="en-US" sz="1500" dirty="0"/>
          </a:p>
        </p:txBody>
      </p:sp>
      <p:sp>
        <p:nvSpPr>
          <p:cNvPr id="13" name="Text 10"/>
          <p:cNvSpPr/>
          <p:nvPr/>
        </p:nvSpPr>
        <p:spPr>
          <a:xfrm>
            <a:off x="5705856" y="4325112"/>
            <a:ext cx="5641848" cy="365760"/>
          </a:xfrm>
          <a:prstGeom prst="rect">
            <a:avLst/>
          </a:prstGeom>
          <a:noFill/>
          <a:ln/>
        </p:spPr>
        <p:txBody>
          <a:bodyPr wrap="square" lIns="0" tIns="0" rIns="0" bIns="0" rtlCol="0" anchor="t"/>
          <a:lstStyle/>
          <a:p>
            <a:pPr indent="0" marL="0">
              <a:buNone/>
            </a:pPr>
            <a:r>
              <a:rPr lang="en-US" sz="1300" dirty="0">
                <a:solidFill>
                  <a:srgbClr val="56646F"/>
                </a:solidFill>
                <a:latin typeface="Calibri" pitchFamily="34" charset="0"/>
                <a:ea typeface="Calibri" pitchFamily="34" charset="-122"/>
                <a:cs typeface="Calibri" pitchFamily="34" charset="-120"/>
              </a:rPr>
              <a:t>unknown zip, waterfront, top decile</a:t>
            </a:r>
            <a:endParaRPr lang="en-US" sz="1300" dirty="0"/>
          </a:p>
        </p:txBody>
      </p:sp>
      <p:sp>
        <p:nvSpPr>
          <p:cNvPr id="14" name="Shape 11"/>
          <p:cNvSpPr/>
          <p:nvPr/>
        </p:nvSpPr>
        <p:spPr>
          <a:xfrm>
            <a:off x="5431536" y="5029200"/>
            <a:ext cx="6190488" cy="960120"/>
          </a:xfrm>
          <a:prstGeom prst="roundRect">
            <a:avLst>
              <a:gd name="adj" fmla="val 8571"/>
            </a:avLst>
          </a:prstGeom>
          <a:solidFill>
            <a:srgbClr val="F1F5F8"/>
          </a:solidFill>
          <a:ln w="12700">
            <a:solidFill>
              <a:srgbClr val="F1F5F8"/>
            </a:solidFill>
            <a:prstDash val="solid"/>
          </a:ln>
        </p:spPr>
      </p:sp>
      <p:sp>
        <p:nvSpPr>
          <p:cNvPr id="15" name="Text 12"/>
          <p:cNvSpPr/>
          <p:nvPr/>
        </p:nvSpPr>
        <p:spPr>
          <a:xfrm>
            <a:off x="5705856" y="5175504"/>
            <a:ext cx="5641848" cy="329184"/>
          </a:xfrm>
          <a:prstGeom prst="rect">
            <a:avLst/>
          </a:prstGeom>
          <a:noFill/>
          <a:ln/>
        </p:spPr>
        <p:txBody>
          <a:bodyPr wrap="square" lIns="0" tIns="0" rIns="0" bIns="0" rtlCol="0" anchor="ctr"/>
          <a:lstStyle/>
          <a:p>
            <a:pPr indent="0" marL="0">
              <a:buNone/>
            </a:pPr>
            <a:r>
              <a:rPr lang="en-US" sz="1500" b="1" dirty="0">
                <a:solidFill>
                  <a:srgbClr val="10202E"/>
                </a:solidFill>
                <a:latin typeface="Calibri" pitchFamily="34" charset="0"/>
                <a:ea typeface="Calibri" pitchFamily="34" charset="-122"/>
                <a:cs typeface="Calibri" pitchFamily="34" charset="-120"/>
              </a:rPr>
              <a:t>A written explanation</a:t>
            </a:r>
            <a:endParaRPr lang="en-US" sz="1500" dirty="0"/>
          </a:p>
        </p:txBody>
      </p:sp>
      <p:sp>
        <p:nvSpPr>
          <p:cNvPr id="16" name="Text 13"/>
          <p:cNvSpPr/>
          <p:nvPr/>
        </p:nvSpPr>
        <p:spPr>
          <a:xfrm>
            <a:off x="5705856" y="5513832"/>
            <a:ext cx="5641848" cy="365760"/>
          </a:xfrm>
          <a:prstGeom prst="rect">
            <a:avLst/>
          </a:prstGeom>
          <a:noFill/>
          <a:ln/>
        </p:spPr>
        <p:txBody>
          <a:bodyPr wrap="square" lIns="0" tIns="0" rIns="0" bIns="0" rtlCol="0" anchor="t"/>
          <a:lstStyle/>
          <a:p>
            <a:pPr indent="0" marL="0">
              <a:buNone/>
            </a:pPr>
            <a:r>
              <a:rPr lang="en-US" sz="1300" dirty="0">
                <a:solidFill>
                  <a:srgbClr val="56646F"/>
                </a:solidFill>
                <a:latin typeface="Calibri" pitchFamily="34" charset="0"/>
                <a:ea typeface="Calibri" pitchFamily="34" charset="-122"/>
                <a:cs typeface="Calibri" pitchFamily="34" charset="-120"/>
              </a:rPr>
              <a:t>grounded in the numbers above</a:t>
            </a:r>
            <a:endParaRPr lang="en-US" sz="1300" dirty="0"/>
          </a:p>
        </p:txBody>
      </p:sp>
      <p:sp>
        <p:nvSpPr>
          <p:cNvPr id="17" name="Text 14"/>
          <p:cNvSpPr/>
          <p:nvPr/>
        </p:nvSpPr>
        <p:spPr>
          <a:xfrm>
            <a:off x="566928" y="6080760"/>
            <a:ext cx="11055096" cy="365760"/>
          </a:xfrm>
          <a:prstGeom prst="rect">
            <a:avLst/>
          </a:prstGeom>
          <a:noFill/>
          <a:ln/>
        </p:spPr>
        <p:txBody>
          <a:bodyPr wrap="square" lIns="0" tIns="0" rIns="0" bIns="0" rtlCol="0" anchor="ctr"/>
          <a:lstStyle/>
          <a:p>
            <a:pPr indent="0" marL="0">
              <a:buNone/>
            </a:pPr>
            <a:r>
              <a:rPr lang="en-US" sz="1250" i="1" dirty="0">
                <a:solidFill>
                  <a:srgbClr val="56646F"/>
                </a:solidFill>
                <a:latin typeface="Calibri" pitchFamily="34" charset="0"/>
                <a:ea typeface="Calibri" pitchFamily="34" charset="-122"/>
                <a:cs typeface="Calibri" pitchFamily="34" charset="-120"/>
              </a:rPr>
              <a:t>The app imports the same preprocessing module that trained the model — a training/serving mismatch is impossible by construction.</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57200"/>
            <a:ext cx="8229600" cy="256032"/>
          </a:xfrm>
          <a:prstGeom prst="rect">
            <a:avLst/>
          </a:prstGeom>
          <a:noFill/>
          <a:ln/>
        </p:spPr>
        <p:txBody>
          <a:bodyPr wrap="square" lIns="0" tIns="0" rIns="0" bIns="0" rtlCol="0" anchor="ctr"/>
          <a:lstStyle/>
          <a:p>
            <a:pPr indent="0" marL="0">
              <a:buNone/>
            </a:pPr>
            <a:r>
              <a:rPr lang="en-US" sz="1150" b="1" spc="160" kern="0" dirty="0">
                <a:solidFill>
                  <a:srgbClr val="1BAF7A"/>
                </a:solidFill>
                <a:latin typeface="Calibri" pitchFamily="34" charset="0"/>
                <a:ea typeface="Calibri" pitchFamily="34" charset="-122"/>
                <a:cs typeface="Calibri" pitchFamily="34" charset="-120"/>
              </a:rPr>
              <a:t>THE AI LAYER</a:t>
            </a:r>
            <a:endParaRPr lang="en-US" sz="1150" dirty="0"/>
          </a:p>
        </p:txBody>
      </p:sp>
      <p:sp>
        <p:nvSpPr>
          <p:cNvPr id="3" name="Text 1"/>
          <p:cNvSpPr/>
          <p:nvPr/>
        </p:nvSpPr>
        <p:spPr>
          <a:xfrm>
            <a:off x="566928" y="731520"/>
            <a:ext cx="11055096" cy="658368"/>
          </a:xfrm>
          <a:prstGeom prst="rect">
            <a:avLst/>
          </a:prstGeom>
          <a:noFill/>
          <a:ln/>
        </p:spPr>
        <p:txBody>
          <a:bodyPr wrap="square" lIns="0" tIns="0" rIns="0" bIns="0" rtlCol="0" anchor="ctr"/>
          <a:lstStyle/>
          <a:p>
            <a:pPr indent="0" marL="0">
              <a:buNone/>
            </a:pPr>
            <a:r>
              <a:rPr lang="en-US" sz="3000" b="1" dirty="0">
                <a:solidFill>
                  <a:srgbClr val="10202E"/>
                </a:solidFill>
                <a:latin typeface="Cambria" pitchFamily="34" charset="0"/>
                <a:ea typeface="Cambria" pitchFamily="34" charset="-122"/>
                <a:cs typeface="Cambria" pitchFamily="34" charset="-120"/>
              </a:rPr>
              <a:t>The AI writes the sentences. It does not do the maths.</a:t>
            </a:r>
            <a:endParaRPr lang="en-US" sz="3000" dirty="0"/>
          </a:p>
        </p:txBody>
      </p:sp>
      <p:sp>
        <p:nvSpPr>
          <p:cNvPr id="4" name="Shape 2"/>
          <p:cNvSpPr/>
          <p:nvPr/>
        </p:nvSpPr>
        <p:spPr>
          <a:xfrm>
            <a:off x="566928" y="1691640"/>
            <a:ext cx="1962302" cy="1737360"/>
          </a:xfrm>
          <a:prstGeom prst="roundRect">
            <a:avLst>
              <a:gd name="adj" fmla="val 4737"/>
            </a:avLst>
          </a:prstGeom>
          <a:solidFill>
            <a:srgbClr val="F1F5F8"/>
          </a:solidFill>
          <a:ln w="12700">
            <a:solidFill>
              <a:srgbClr val="F1F5F8"/>
            </a:solidFill>
            <a:prstDash val="solid"/>
          </a:ln>
        </p:spPr>
      </p:sp>
      <p:sp>
        <p:nvSpPr>
          <p:cNvPr id="5" name="Shape 3"/>
          <p:cNvSpPr/>
          <p:nvPr/>
        </p:nvSpPr>
        <p:spPr>
          <a:xfrm>
            <a:off x="795528" y="1874520"/>
            <a:ext cx="365760" cy="365760"/>
          </a:xfrm>
          <a:prstGeom prst="ellipse">
            <a:avLst/>
          </a:prstGeom>
          <a:solidFill>
            <a:srgbClr val="1BAF7A"/>
          </a:solidFill>
          <a:ln/>
        </p:spPr>
      </p:sp>
      <p:sp>
        <p:nvSpPr>
          <p:cNvPr id="6" name="Text 4"/>
          <p:cNvSpPr/>
          <p:nvPr/>
        </p:nvSpPr>
        <p:spPr>
          <a:xfrm>
            <a:off x="795528" y="18745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5"/>
          <p:cNvSpPr/>
          <p:nvPr/>
        </p:nvSpPr>
        <p:spPr>
          <a:xfrm>
            <a:off x="795528" y="2331720"/>
            <a:ext cx="1505102" cy="320040"/>
          </a:xfrm>
          <a:prstGeom prst="rect">
            <a:avLst/>
          </a:prstGeom>
          <a:noFill/>
          <a:ln/>
        </p:spPr>
        <p:txBody>
          <a:bodyPr wrap="square" lIns="0" tIns="0" rIns="0" bIns="0" rtlCol="0" anchor="ctr"/>
          <a:lstStyle/>
          <a:p>
            <a:pPr indent="0" marL="0">
              <a:buNone/>
            </a:pPr>
            <a:r>
              <a:rPr lang="en-US" sz="1500" b="1" dirty="0">
                <a:solidFill>
                  <a:srgbClr val="10202E"/>
                </a:solidFill>
                <a:latin typeface="Calibri" pitchFamily="34" charset="0"/>
                <a:ea typeface="Calibri" pitchFamily="34" charset="-122"/>
                <a:cs typeface="Calibri" pitchFamily="34" charset="-120"/>
              </a:rPr>
              <a:t>Model</a:t>
            </a:r>
            <a:endParaRPr lang="en-US" sz="1500" dirty="0"/>
          </a:p>
        </p:txBody>
      </p:sp>
      <p:sp>
        <p:nvSpPr>
          <p:cNvPr id="8" name="Text 6"/>
          <p:cNvSpPr/>
          <p:nvPr/>
        </p:nvSpPr>
        <p:spPr>
          <a:xfrm>
            <a:off x="795528" y="2651760"/>
            <a:ext cx="1505102" cy="685800"/>
          </a:xfrm>
          <a:prstGeom prst="rect">
            <a:avLst/>
          </a:prstGeom>
          <a:noFill/>
          <a:ln/>
        </p:spPr>
        <p:txBody>
          <a:bodyPr wrap="square" lIns="0" tIns="0" rIns="0" bIns="0" rtlCol="0" anchor="ctr"/>
          <a:lstStyle/>
          <a:p>
            <a:pPr indent="0" marL="0">
              <a:buNone/>
            </a:pPr>
            <a:r>
              <a:rPr lang="en-US" sz="1200" dirty="0">
                <a:solidFill>
                  <a:srgbClr val="56646F"/>
                </a:solidFill>
                <a:latin typeface="Calibri" pitchFamily="34" charset="0"/>
                <a:ea typeface="Calibri" pitchFamily="34" charset="-122"/>
                <a:cs typeface="Calibri" pitchFamily="34" charset="-120"/>
              </a:rPr>
              <a:t>gradient booster</a:t>
            </a:r>
            <a:endParaRPr lang="en-US" sz="1200" dirty="0"/>
          </a:p>
          <a:p>
            <a:pPr indent="0" marL="0">
              <a:buNone/>
            </a:pPr>
            <a:r>
              <a:rPr lang="en-US" sz="1200" dirty="0">
                <a:solidFill>
                  <a:srgbClr val="56646F"/>
                </a:solidFill>
                <a:latin typeface="Calibri" pitchFamily="34" charset="0"/>
                <a:ea typeface="Calibri" pitchFamily="34" charset="-122"/>
                <a:cs typeface="Calibri" pitchFamily="34" charset="-120"/>
              </a:rPr>
              <a:t>predicts the price</a:t>
            </a:r>
            <a:endParaRPr lang="en-US" sz="1200" dirty="0"/>
          </a:p>
        </p:txBody>
      </p:sp>
      <p:sp>
        <p:nvSpPr>
          <p:cNvPr id="9" name="Text 7"/>
          <p:cNvSpPr/>
          <p:nvPr/>
        </p:nvSpPr>
        <p:spPr>
          <a:xfrm>
            <a:off x="2529230" y="2331720"/>
            <a:ext cx="310896" cy="320040"/>
          </a:xfrm>
          <a:prstGeom prst="rect">
            <a:avLst/>
          </a:prstGeom>
          <a:noFill/>
          <a:ln/>
        </p:spPr>
        <p:txBody>
          <a:bodyPr wrap="square" lIns="0" tIns="0" rIns="0" bIns="0" rtlCol="0" anchor="ctr"/>
          <a:lstStyle/>
          <a:p>
            <a:pPr algn="ctr" indent="0" marL="0">
              <a:buNone/>
            </a:pPr>
            <a:r>
              <a:rPr lang="en-US" sz="1600" dirty="0">
                <a:solidFill>
                  <a:srgbClr val="56646F"/>
                </a:solidFill>
                <a:latin typeface="Calibri" pitchFamily="34" charset="0"/>
                <a:ea typeface="Calibri" pitchFamily="34" charset="-122"/>
                <a:cs typeface="Calibri" pitchFamily="34" charset="-120"/>
              </a:rPr>
              <a:t>→</a:t>
            </a:r>
            <a:endParaRPr lang="en-US" sz="1600" dirty="0"/>
          </a:p>
        </p:txBody>
      </p:sp>
      <p:sp>
        <p:nvSpPr>
          <p:cNvPr id="10" name="Shape 8"/>
          <p:cNvSpPr/>
          <p:nvPr/>
        </p:nvSpPr>
        <p:spPr>
          <a:xfrm>
            <a:off x="2840126" y="1691640"/>
            <a:ext cx="1962302" cy="1737360"/>
          </a:xfrm>
          <a:prstGeom prst="roundRect">
            <a:avLst>
              <a:gd name="adj" fmla="val 4737"/>
            </a:avLst>
          </a:prstGeom>
          <a:solidFill>
            <a:srgbClr val="F1F5F8"/>
          </a:solidFill>
          <a:ln w="12700">
            <a:solidFill>
              <a:srgbClr val="F1F5F8"/>
            </a:solidFill>
            <a:prstDash val="solid"/>
          </a:ln>
        </p:spPr>
      </p:sp>
      <p:sp>
        <p:nvSpPr>
          <p:cNvPr id="11" name="Shape 9"/>
          <p:cNvSpPr/>
          <p:nvPr/>
        </p:nvSpPr>
        <p:spPr>
          <a:xfrm>
            <a:off x="3068726" y="1874520"/>
            <a:ext cx="365760" cy="365760"/>
          </a:xfrm>
          <a:prstGeom prst="ellipse">
            <a:avLst/>
          </a:prstGeom>
          <a:solidFill>
            <a:srgbClr val="1BAF7A"/>
          </a:solidFill>
          <a:ln/>
        </p:spPr>
      </p:sp>
      <p:sp>
        <p:nvSpPr>
          <p:cNvPr id="12" name="Text 10"/>
          <p:cNvSpPr/>
          <p:nvPr/>
        </p:nvSpPr>
        <p:spPr>
          <a:xfrm>
            <a:off x="3068726" y="18745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3" name="Text 11"/>
          <p:cNvSpPr/>
          <p:nvPr/>
        </p:nvSpPr>
        <p:spPr>
          <a:xfrm>
            <a:off x="3068726" y="2331720"/>
            <a:ext cx="1505102" cy="320040"/>
          </a:xfrm>
          <a:prstGeom prst="rect">
            <a:avLst/>
          </a:prstGeom>
          <a:noFill/>
          <a:ln/>
        </p:spPr>
        <p:txBody>
          <a:bodyPr wrap="square" lIns="0" tIns="0" rIns="0" bIns="0" rtlCol="0" anchor="ctr"/>
          <a:lstStyle/>
          <a:p>
            <a:pPr indent="0" marL="0">
              <a:buNone/>
            </a:pPr>
            <a:r>
              <a:rPr lang="en-US" sz="1500" b="1" dirty="0">
                <a:solidFill>
                  <a:srgbClr val="10202E"/>
                </a:solidFill>
                <a:latin typeface="Calibri" pitchFamily="34" charset="0"/>
                <a:ea typeface="Calibri" pitchFamily="34" charset="-122"/>
                <a:cs typeface="Calibri" pitchFamily="34" charset="-120"/>
              </a:rPr>
              <a:t>SHAP</a:t>
            </a:r>
            <a:endParaRPr lang="en-US" sz="1500" dirty="0"/>
          </a:p>
        </p:txBody>
      </p:sp>
      <p:sp>
        <p:nvSpPr>
          <p:cNvPr id="14" name="Text 12"/>
          <p:cNvSpPr/>
          <p:nvPr/>
        </p:nvSpPr>
        <p:spPr>
          <a:xfrm>
            <a:off x="3068726" y="2651760"/>
            <a:ext cx="1505102" cy="685800"/>
          </a:xfrm>
          <a:prstGeom prst="rect">
            <a:avLst/>
          </a:prstGeom>
          <a:noFill/>
          <a:ln/>
        </p:spPr>
        <p:txBody>
          <a:bodyPr wrap="square" lIns="0" tIns="0" rIns="0" bIns="0" rtlCol="0" anchor="ctr"/>
          <a:lstStyle/>
          <a:p>
            <a:pPr indent="0" marL="0">
              <a:buNone/>
            </a:pPr>
            <a:r>
              <a:rPr lang="en-US" sz="1200" dirty="0">
                <a:solidFill>
                  <a:srgbClr val="56646F"/>
                </a:solidFill>
                <a:latin typeface="Calibri" pitchFamily="34" charset="0"/>
                <a:ea typeface="Calibri" pitchFamily="34" charset="-122"/>
                <a:cs typeface="Calibri" pitchFamily="34" charset="-120"/>
              </a:rPr>
              <a:t>computes what moved</a:t>
            </a:r>
            <a:endParaRPr lang="en-US" sz="1200" dirty="0"/>
          </a:p>
          <a:p>
            <a:pPr indent="0" marL="0">
              <a:buNone/>
            </a:pPr>
            <a:r>
              <a:rPr lang="en-US" sz="1200" dirty="0">
                <a:solidFill>
                  <a:srgbClr val="56646F"/>
                </a:solidFill>
                <a:latin typeface="Calibri" pitchFamily="34" charset="0"/>
                <a:ea typeface="Calibri" pitchFamily="34" charset="-122"/>
                <a:cs typeface="Calibri" pitchFamily="34" charset="-120"/>
              </a:rPr>
              <a:t>this prediction</a:t>
            </a:r>
            <a:endParaRPr lang="en-US" sz="1200" dirty="0"/>
          </a:p>
        </p:txBody>
      </p:sp>
      <p:sp>
        <p:nvSpPr>
          <p:cNvPr id="15" name="Text 13"/>
          <p:cNvSpPr/>
          <p:nvPr/>
        </p:nvSpPr>
        <p:spPr>
          <a:xfrm>
            <a:off x="4802429" y="2331720"/>
            <a:ext cx="310896" cy="320040"/>
          </a:xfrm>
          <a:prstGeom prst="rect">
            <a:avLst/>
          </a:prstGeom>
          <a:noFill/>
          <a:ln/>
        </p:spPr>
        <p:txBody>
          <a:bodyPr wrap="square" lIns="0" tIns="0" rIns="0" bIns="0" rtlCol="0" anchor="ctr"/>
          <a:lstStyle/>
          <a:p>
            <a:pPr algn="ctr" indent="0" marL="0">
              <a:buNone/>
            </a:pPr>
            <a:r>
              <a:rPr lang="en-US" sz="1600" dirty="0">
                <a:solidFill>
                  <a:srgbClr val="56646F"/>
                </a:solidFill>
                <a:latin typeface="Calibri" pitchFamily="34" charset="0"/>
                <a:ea typeface="Calibri" pitchFamily="34" charset="-122"/>
                <a:cs typeface="Calibri" pitchFamily="34" charset="-120"/>
              </a:rPr>
              <a:t>→</a:t>
            </a:r>
            <a:endParaRPr lang="en-US" sz="1600" dirty="0"/>
          </a:p>
        </p:txBody>
      </p:sp>
      <p:sp>
        <p:nvSpPr>
          <p:cNvPr id="16" name="Shape 14"/>
          <p:cNvSpPr/>
          <p:nvPr/>
        </p:nvSpPr>
        <p:spPr>
          <a:xfrm>
            <a:off x="5113325" y="1691640"/>
            <a:ext cx="1962302" cy="1737360"/>
          </a:xfrm>
          <a:prstGeom prst="roundRect">
            <a:avLst>
              <a:gd name="adj" fmla="val 4737"/>
            </a:avLst>
          </a:prstGeom>
          <a:solidFill>
            <a:srgbClr val="F1F5F8"/>
          </a:solidFill>
          <a:ln w="12700">
            <a:solidFill>
              <a:srgbClr val="F1F5F8"/>
            </a:solidFill>
            <a:prstDash val="solid"/>
          </a:ln>
        </p:spPr>
      </p:sp>
      <p:sp>
        <p:nvSpPr>
          <p:cNvPr id="17" name="Shape 15"/>
          <p:cNvSpPr/>
          <p:nvPr/>
        </p:nvSpPr>
        <p:spPr>
          <a:xfrm>
            <a:off x="5341925" y="1874520"/>
            <a:ext cx="365760" cy="365760"/>
          </a:xfrm>
          <a:prstGeom prst="ellipse">
            <a:avLst/>
          </a:prstGeom>
          <a:solidFill>
            <a:srgbClr val="1BAF7A"/>
          </a:solidFill>
          <a:ln/>
        </p:spPr>
      </p:sp>
      <p:sp>
        <p:nvSpPr>
          <p:cNvPr id="18" name="Text 16"/>
          <p:cNvSpPr/>
          <p:nvPr/>
        </p:nvSpPr>
        <p:spPr>
          <a:xfrm>
            <a:off x="5341925" y="18745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9" name="Text 17"/>
          <p:cNvSpPr/>
          <p:nvPr/>
        </p:nvSpPr>
        <p:spPr>
          <a:xfrm>
            <a:off x="5341925" y="2331720"/>
            <a:ext cx="1505102" cy="320040"/>
          </a:xfrm>
          <a:prstGeom prst="rect">
            <a:avLst/>
          </a:prstGeom>
          <a:noFill/>
          <a:ln/>
        </p:spPr>
        <p:txBody>
          <a:bodyPr wrap="square" lIns="0" tIns="0" rIns="0" bIns="0" rtlCol="0" anchor="ctr"/>
          <a:lstStyle/>
          <a:p>
            <a:pPr indent="0" marL="0">
              <a:buNone/>
            </a:pPr>
            <a:r>
              <a:rPr lang="en-US" sz="1500" b="1" dirty="0">
                <a:solidFill>
                  <a:srgbClr val="10202E"/>
                </a:solidFill>
                <a:latin typeface="Calibri" pitchFamily="34" charset="0"/>
                <a:ea typeface="Calibri" pitchFamily="34" charset="-122"/>
                <a:cs typeface="Calibri" pitchFamily="34" charset="-120"/>
              </a:rPr>
              <a:t>Rules</a:t>
            </a:r>
            <a:endParaRPr lang="en-US" sz="1500" dirty="0"/>
          </a:p>
        </p:txBody>
      </p:sp>
      <p:sp>
        <p:nvSpPr>
          <p:cNvPr id="20" name="Text 18"/>
          <p:cNvSpPr/>
          <p:nvPr/>
        </p:nvSpPr>
        <p:spPr>
          <a:xfrm>
            <a:off x="5341925" y="2651760"/>
            <a:ext cx="1505102" cy="685800"/>
          </a:xfrm>
          <a:prstGeom prst="rect">
            <a:avLst/>
          </a:prstGeom>
          <a:noFill/>
          <a:ln/>
        </p:spPr>
        <p:txBody>
          <a:bodyPr wrap="square" lIns="0" tIns="0" rIns="0" bIns="0" rtlCol="0" anchor="ctr"/>
          <a:lstStyle/>
          <a:p>
            <a:pPr indent="0" marL="0">
              <a:buNone/>
            </a:pPr>
            <a:r>
              <a:rPr lang="en-US" sz="1200" dirty="0">
                <a:solidFill>
                  <a:srgbClr val="56646F"/>
                </a:solidFill>
                <a:latin typeface="Calibri" pitchFamily="34" charset="0"/>
                <a:ea typeface="Calibri" pitchFamily="34" charset="-122"/>
                <a:cs typeface="Calibri" pitchFamily="34" charset="-120"/>
              </a:rPr>
              <a:t>deterministic checks</a:t>
            </a:r>
            <a:endParaRPr lang="en-US" sz="1200" dirty="0"/>
          </a:p>
          <a:p>
            <a:pPr indent="0" marL="0">
              <a:buNone/>
            </a:pPr>
            <a:r>
              <a:rPr lang="en-US" sz="1200" dirty="0">
                <a:solidFill>
                  <a:srgbClr val="56646F"/>
                </a:solidFill>
                <a:latin typeface="Calibri" pitchFamily="34" charset="0"/>
                <a:ea typeface="Calibri" pitchFamily="34" charset="-122"/>
                <a:cs typeface="Calibri" pitchFamily="34" charset="-120"/>
              </a:rPr>
              <a:t>fire the warnings</a:t>
            </a:r>
            <a:endParaRPr lang="en-US" sz="1200" dirty="0"/>
          </a:p>
        </p:txBody>
      </p:sp>
      <p:sp>
        <p:nvSpPr>
          <p:cNvPr id="21" name="Text 19"/>
          <p:cNvSpPr/>
          <p:nvPr/>
        </p:nvSpPr>
        <p:spPr>
          <a:xfrm>
            <a:off x="7075627" y="2331720"/>
            <a:ext cx="310896" cy="320040"/>
          </a:xfrm>
          <a:prstGeom prst="rect">
            <a:avLst/>
          </a:prstGeom>
          <a:noFill/>
          <a:ln/>
        </p:spPr>
        <p:txBody>
          <a:bodyPr wrap="square" lIns="0" tIns="0" rIns="0" bIns="0" rtlCol="0" anchor="ctr"/>
          <a:lstStyle/>
          <a:p>
            <a:pPr algn="ctr" indent="0" marL="0">
              <a:buNone/>
            </a:pPr>
            <a:r>
              <a:rPr lang="en-US" sz="1600" dirty="0">
                <a:solidFill>
                  <a:srgbClr val="56646F"/>
                </a:solidFill>
                <a:latin typeface="Calibri" pitchFamily="34" charset="0"/>
                <a:ea typeface="Calibri" pitchFamily="34" charset="-122"/>
                <a:cs typeface="Calibri" pitchFamily="34" charset="-120"/>
              </a:rPr>
              <a:t>→</a:t>
            </a:r>
            <a:endParaRPr lang="en-US" sz="1600" dirty="0"/>
          </a:p>
        </p:txBody>
      </p:sp>
      <p:sp>
        <p:nvSpPr>
          <p:cNvPr id="22" name="Shape 20"/>
          <p:cNvSpPr/>
          <p:nvPr/>
        </p:nvSpPr>
        <p:spPr>
          <a:xfrm>
            <a:off x="7386523" y="1691640"/>
            <a:ext cx="1962302" cy="1737360"/>
          </a:xfrm>
          <a:prstGeom prst="roundRect">
            <a:avLst>
              <a:gd name="adj" fmla="val 4737"/>
            </a:avLst>
          </a:prstGeom>
          <a:solidFill>
            <a:srgbClr val="F1F5F8"/>
          </a:solidFill>
          <a:ln w="12700">
            <a:solidFill>
              <a:srgbClr val="F1F5F8"/>
            </a:solidFill>
            <a:prstDash val="solid"/>
          </a:ln>
        </p:spPr>
      </p:sp>
      <p:sp>
        <p:nvSpPr>
          <p:cNvPr id="23" name="Shape 21"/>
          <p:cNvSpPr/>
          <p:nvPr/>
        </p:nvSpPr>
        <p:spPr>
          <a:xfrm>
            <a:off x="7615123" y="1874520"/>
            <a:ext cx="365760" cy="365760"/>
          </a:xfrm>
          <a:prstGeom prst="ellipse">
            <a:avLst/>
          </a:prstGeom>
          <a:solidFill>
            <a:srgbClr val="1BAF7A"/>
          </a:solidFill>
          <a:ln/>
        </p:spPr>
      </p:sp>
      <p:sp>
        <p:nvSpPr>
          <p:cNvPr id="24" name="Text 22"/>
          <p:cNvSpPr/>
          <p:nvPr/>
        </p:nvSpPr>
        <p:spPr>
          <a:xfrm>
            <a:off x="7615123" y="18745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5" name="Text 23"/>
          <p:cNvSpPr/>
          <p:nvPr/>
        </p:nvSpPr>
        <p:spPr>
          <a:xfrm>
            <a:off x="7615123" y="2331720"/>
            <a:ext cx="1505102" cy="320040"/>
          </a:xfrm>
          <a:prstGeom prst="rect">
            <a:avLst/>
          </a:prstGeom>
          <a:noFill/>
          <a:ln/>
        </p:spPr>
        <p:txBody>
          <a:bodyPr wrap="square" lIns="0" tIns="0" rIns="0" bIns="0" rtlCol="0" anchor="ctr"/>
          <a:lstStyle/>
          <a:p>
            <a:pPr indent="0" marL="0">
              <a:buNone/>
            </a:pPr>
            <a:r>
              <a:rPr lang="en-US" sz="1500" b="1" dirty="0">
                <a:solidFill>
                  <a:srgbClr val="10202E"/>
                </a:solidFill>
                <a:latin typeface="Calibri" pitchFamily="34" charset="0"/>
                <a:ea typeface="Calibri" pitchFamily="34" charset="-122"/>
                <a:cs typeface="Calibri" pitchFamily="34" charset="-120"/>
              </a:rPr>
              <a:t>LLM</a:t>
            </a:r>
            <a:endParaRPr lang="en-US" sz="1500" dirty="0"/>
          </a:p>
        </p:txBody>
      </p:sp>
      <p:sp>
        <p:nvSpPr>
          <p:cNvPr id="26" name="Text 24"/>
          <p:cNvSpPr/>
          <p:nvPr/>
        </p:nvSpPr>
        <p:spPr>
          <a:xfrm>
            <a:off x="7615123" y="2651760"/>
            <a:ext cx="1505102" cy="685800"/>
          </a:xfrm>
          <a:prstGeom prst="rect">
            <a:avLst/>
          </a:prstGeom>
          <a:noFill/>
          <a:ln/>
        </p:spPr>
        <p:txBody>
          <a:bodyPr wrap="square" lIns="0" tIns="0" rIns="0" bIns="0" rtlCol="0" anchor="ctr"/>
          <a:lstStyle/>
          <a:p>
            <a:pPr indent="0" marL="0">
              <a:buNone/>
            </a:pPr>
            <a:r>
              <a:rPr lang="en-US" sz="1200" dirty="0">
                <a:solidFill>
                  <a:srgbClr val="56646F"/>
                </a:solidFill>
                <a:latin typeface="Calibri" pitchFamily="34" charset="0"/>
                <a:ea typeface="Calibri" pitchFamily="34" charset="-122"/>
                <a:cs typeface="Calibri" pitchFamily="34" charset="-120"/>
              </a:rPr>
              <a:t>turns the evidence</a:t>
            </a:r>
            <a:endParaRPr lang="en-US" sz="1200" dirty="0"/>
          </a:p>
          <a:p>
            <a:pPr indent="0" marL="0">
              <a:buNone/>
            </a:pPr>
            <a:r>
              <a:rPr lang="en-US" sz="1200" dirty="0">
                <a:solidFill>
                  <a:srgbClr val="56646F"/>
                </a:solidFill>
                <a:latin typeface="Calibri" pitchFamily="34" charset="0"/>
                <a:ea typeface="Calibri" pitchFamily="34" charset="-122"/>
                <a:cs typeface="Calibri" pitchFamily="34" charset="-120"/>
              </a:rPr>
              <a:t>into a paragraph</a:t>
            </a:r>
            <a:endParaRPr lang="en-US" sz="1200" dirty="0"/>
          </a:p>
        </p:txBody>
      </p:sp>
      <p:sp>
        <p:nvSpPr>
          <p:cNvPr id="27" name="Text 25"/>
          <p:cNvSpPr/>
          <p:nvPr/>
        </p:nvSpPr>
        <p:spPr>
          <a:xfrm>
            <a:off x="9348826" y="2331720"/>
            <a:ext cx="310896" cy="320040"/>
          </a:xfrm>
          <a:prstGeom prst="rect">
            <a:avLst/>
          </a:prstGeom>
          <a:noFill/>
          <a:ln/>
        </p:spPr>
        <p:txBody>
          <a:bodyPr wrap="square" lIns="0" tIns="0" rIns="0" bIns="0" rtlCol="0" anchor="ctr"/>
          <a:lstStyle/>
          <a:p>
            <a:pPr algn="ctr" indent="0" marL="0">
              <a:buNone/>
            </a:pPr>
            <a:r>
              <a:rPr lang="en-US" sz="1600" dirty="0">
                <a:solidFill>
                  <a:srgbClr val="56646F"/>
                </a:solidFill>
                <a:latin typeface="Calibri" pitchFamily="34" charset="0"/>
                <a:ea typeface="Calibri" pitchFamily="34" charset="-122"/>
                <a:cs typeface="Calibri" pitchFamily="34" charset="-120"/>
              </a:rPr>
              <a:t>→</a:t>
            </a:r>
            <a:endParaRPr lang="en-US" sz="1600" dirty="0"/>
          </a:p>
        </p:txBody>
      </p:sp>
      <p:sp>
        <p:nvSpPr>
          <p:cNvPr id="28" name="Shape 26"/>
          <p:cNvSpPr/>
          <p:nvPr/>
        </p:nvSpPr>
        <p:spPr>
          <a:xfrm>
            <a:off x="9659722" y="1691640"/>
            <a:ext cx="1962302" cy="1737360"/>
          </a:xfrm>
          <a:prstGeom prst="roundRect">
            <a:avLst>
              <a:gd name="adj" fmla="val 4737"/>
            </a:avLst>
          </a:prstGeom>
          <a:solidFill>
            <a:srgbClr val="EAF6F0"/>
          </a:solidFill>
          <a:ln w="12700">
            <a:solidFill>
              <a:srgbClr val="EAF6F0"/>
            </a:solidFill>
            <a:prstDash val="solid"/>
          </a:ln>
        </p:spPr>
      </p:sp>
      <p:sp>
        <p:nvSpPr>
          <p:cNvPr id="29" name="Shape 27"/>
          <p:cNvSpPr/>
          <p:nvPr/>
        </p:nvSpPr>
        <p:spPr>
          <a:xfrm>
            <a:off x="9888322" y="1874520"/>
            <a:ext cx="365760" cy="365760"/>
          </a:xfrm>
          <a:prstGeom prst="ellipse">
            <a:avLst/>
          </a:prstGeom>
          <a:solidFill>
            <a:srgbClr val="1BAF7A"/>
          </a:solidFill>
          <a:ln/>
        </p:spPr>
      </p:sp>
      <p:sp>
        <p:nvSpPr>
          <p:cNvPr id="30" name="Text 28"/>
          <p:cNvSpPr/>
          <p:nvPr/>
        </p:nvSpPr>
        <p:spPr>
          <a:xfrm>
            <a:off x="9888322" y="18745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31" name="Text 29"/>
          <p:cNvSpPr/>
          <p:nvPr/>
        </p:nvSpPr>
        <p:spPr>
          <a:xfrm>
            <a:off x="9888322" y="2331720"/>
            <a:ext cx="1505102" cy="320040"/>
          </a:xfrm>
          <a:prstGeom prst="rect">
            <a:avLst/>
          </a:prstGeom>
          <a:noFill/>
          <a:ln/>
        </p:spPr>
        <p:txBody>
          <a:bodyPr wrap="square" lIns="0" tIns="0" rIns="0" bIns="0" rtlCol="0" anchor="ctr"/>
          <a:lstStyle/>
          <a:p>
            <a:pPr indent="0" marL="0">
              <a:buNone/>
            </a:pPr>
            <a:r>
              <a:rPr lang="en-US" sz="1500" b="1" dirty="0">
                <a:solidFill>
                  <a:srgbClr val="10202E"/>
                </a:solidFill>
                <a:latin typeface="Calibri" pitchFamily="34" charset="0"/>
                <a:ea typeface="Calibri" pitchFamily="34" charset="-122"/>
                <a:cs typeface="Calibri" pitchFamily="34" charset="-120"/>
              </a:rPr>
              <a:t>Grounding</a:t>
            </a:r>
            <a:endParaRPr lang="en-US" sz="1500" dirty="0"/>
          </a:p>
        </p:txBody>
      </p:sp>
      <p:sp>
        <p:nvSpPr>
          <p:cNvPr id="32" name="Text 30"/>
          <p:cNvSpPr/>
          <p:nvPr/>
        </p:nvSpPr>
        <p:spPr>
          <a:xfrm>
            <a:off x="9888322" y="2651760"/>
            <a:ext cx="1505102" cy="685800"/>
          </a:xfrm>
          <a:prstGeom prst="rect">
            <a:avLst/>
          </a:prstGeom>
          <a:noFill/>
          <a:ln/>
        </p:spPr>
        <p:txBody>
          <a:bodyPr wrap="square" lIns="0" tIns="0" rIns="0" bIns="0" rtlCol="0" anchor="ctr"/>
          <a:lstStyle/>
          <a:p>
            <a:pPr indent="0" marL="0">
              <a:buNone/>
            </a:pPr>
            <a:r>
              <a:rPr lang="en-US" sz="1200" dirty="0">
                <a:solidFill>
                  <a:srgbClr val="56646F"/>
                </a:solidFill>
                <a:latin typeface="Calibri" pitchFamily="34" charset="0"/>
                <a:ea typeface="Calibri" pitchFamily="34" charset="-122"/>
                <a:cs typeface="Calibri" pitchFamily="34" charset="-120"/>
              </a:rPr>
              <a:t>every number checked</a:t>
            </a:r>
            <a:endParaRPr lang="en-US" sz="1200" dirty="0"/>
          </a:p>
          <a:p>
            <a:pPr indent="0" marL="0">
              <a:buNone/>
            </a:pPr>
            <a:r>
              <a:rPr lang="en-US" sz="1200" dirty="0">
                <a:solidFill>
                  <a:srgbClr val="56646F"/>
                </a:solidFill>
                <a:latin typeface="Calibri" pitchFamily="34" charset="0"/>
                <a:ea typeface="Calibri" pitchFamily="34" charset="-122"/>
                <a:cs typeface="Calibri" pitchFamily="34" charset="-120"/>
              </a:rPr>
              <a:t>against the evidence</a:t>
            </a:r>
            <a:endParaRPr lang="en-US" sz="1200" dirty="0"/>
          </a:p>
        </p:txBody>
      </p:sp>
      <p:sp>
        <p:nvSpPr>
          <p:cNvPr id="33" name="Text 31"/>
          <p:cNvSpPr/>
          <p:nvPr/>
        </p:nvSpPr>
        <p:spPr>
          <a:xfrm>
            <a:off x="566928" y="3749040"/>
            <a:ext cx="11055096" cy="365760"/>
          </a:xfrm>
          <a:prstGeom prst="rect">
            <a:avLst/>
          </a:prstGeom>
          <a:noFill/>
          <a:ln/>
        </p:spPr>
        <p:txBody>
          <a:bodyPr wrap="square" lIns="0" tIns="0" rIns="0" bIns="0" rtlCol="0" anchor="ctr"/>
          <a:lstStyle/>
          <a:p>
            <a:pPr indent="0" marL="0">
              <a:buNone/>
            </a:pPr>
            <a:r>
              <a:rPr lang="en-US" sz="1600" b="1" dirty="0">
                <a:solidFill>
                  <a:srgbClr val="10202E"/>
                </a:solidFill>
                <a:latin typeface="Calibri" pitchFamily="34" charset="0"/>
                <a:ea typeface="Calibri" pitchFamily="34" charset="-122"/>
                <a:cs typeface="Calibri" pitchFamily="34" charset="-120"/>
              </a:rPr>
              <a:t>Four defences, because "we called an LLM" is not an engineering answer</a:t>
            </a:r>
            <a:endParaRPr lang="en-US" sz="1600" dirty="0"/>
          </a:p>
        </p:txBody>
      </p:sp>
      <p:sp>
        <p:nvSpPr>
          <p:cNvPr id="34" name="Text 32"/>
          <p:cNvSpPr/>
          <p:nvPr/>
        </p:nvSpPr>
        <p:spPr>
          <a:xfrm>
            <a:off x="566928" y="4160520"/>
            <a:ext cx="11055096" cy="1645920"/>
          </a:xfrm>
          <a:prstGeom prst="rect">
            <a:avLst/>
          </a:prstGeom>
          <a:noFill/>
          <a:ln/>
        </p:spPr>
        <p:txBody>
          <a:bodyPr wrap="square" lIns="0" tIns="0" rIns="0" bIns="0" rtlCol="0" anchor="ctr"/>
          <a:lstStyle/>
          <a:p>
            <a:pPr marL="342900" indent="-342900">
              <a:spcAft>
                <a:spcPts val="600"/>
              </a:spcAft>
              <a:buSzPct val="100000"/>
              <a:buChar char="•"/>
            </a:pPr>
            <a:r>
              <a:rPr lang="en-US" sz="1400" dirty="0">
                <a:solidFill>
                  <a:srgbClr val="56646F"/>
                </a:solidFill>
                <a:latin typeface="Calibri" pitchFamily="34" charset="0"/>
                <a:ea typeface="Calibri" pitchFamily="34" charset="-122"/>
                <a:cs typeface="Calibri" pitchFamily="34" charset="-120"/>
              </a:rPr>
              <a:t>Evidence only — every figure it may use is placed in the prompt, and inventing others is forbidden.</a:t>
            </a:r>
            <a:endParaRPr lang="en-US" sz="1400" dirty="0"/>
          </a:p>
          <a:p>
            <a:pPr marL="342900" indent="-342900">
              <a:spcAft>
                <a:spcPts val="600"/>
              </a:spcAft>
              <a:buSzPct val="100000"/>
              <a:buChar char="•"/>
            </a:pPr>
            <a:r>
              <a:rPr lang="en-US" sz="1400" dirty="0">
                <a:solidFill>
                  <a:srgbClr val="56646F"/>
                </a:solidFill>
                <a:latin typeface="Calibri" pitchFamily="34" charset="0"/>
                <a:ea typeface="Calibri" pitchFamily="34" charset="-122"/>
                <a:cs typeface="Calibri" pitchFamily="34" charset="-120"/>
              </a:rPr>
              <a:t>A grounding check reads back every number in the generated text and rejects the whole answer if one is not in the evidence.</a:t>
            </a:r>
            <a:endParaRPr lang="en-US" sz="1400" dirty="0"/>
          </a:p>
          <a:p>
            <a:pPr marL="342900" indent="-342900">
              <a:spcAft>
                <a:spcPts val="600"/>
              </a:spcAft>
              <a:buSzPct val="100000"/>
              <a:buChar char="•"/>
            </a:pPr>
            <a:r>
              <a:rPr lang="en-US" sz="1400" dirty="0">
                <a:solidFill>
                  <a:srgbClr val="56646F"/>
                </a:solidFill>
                <a:latin typeface="Calibri" pitchFamily="34" charset="0"/>
                <a:ea typeface="Calibri" pitchFamily="34" charset="-122"/>
                <a:cs typeface="Calibri" pitchFamily="34" charset="-120"/>
              </a:rPr>
              <a:t>A deterministic fallback paragraph, so no key, no network and no quota still produces an explanation.</a:t>
            </a:r>
            <a:endParaRPr lang="en-US" sz="1400" dirty="0"/>
          </a:p>
          <a:p>
            <a:pPr marL="342900" indent="-342900">
              <a:spcAft>
                <a:spcPts val="600"/>
              </a:spcAft>
              <a:buSzPct val="100000"/>
              <a:buChar char="•"/>
            </a:pPr>
            <a:r>
              <a:rPr lang="en-US" sz="1400" dirty="0">
                <a:solidFill>
                  <a:srgbClr val="56646F"/>
                </a:solidFill>
                <a:latin typeface="Calibri" pitchFamily="34" charset="0"/>
                <a:ea typeface="Calibri" pitchFamily="34" charset="-122"/>
                <a:cs typeface="Calibri" pitchFamily="34" charset="-120"/>
              </a:rPr>
              <a:t>An on-disk cache, so the demo can run with no internet at all.</a:t>
            </a:r>
            <a:endParaRPr lang="en-US" sz="1400" dirty="0"/>
          </a:p>
        </p:txBody>
      </p:sp>
      <p:sp>
        <p:nvSpPr>
          <p:cNvPr id="35" name="Shape 33"/>
          <p:cNvSpPr/>
          <p:nvPr/>
        </p:nvSpPr>
        <p:spPr>
          <a:xfrm>
            <a:off x="566928" y="5687568"/>
            <a:ext cx="11055096" cy="640080"/>
          </a:xfrm>
          <a:prstGeom prst="roundRect">
            <a:avLst>
              <a:gd name="adj" fmla="val 12857"/>
            </a:avLst>
          </a:prstGeom>
          <a:solidFill>
            <a:srgbClr val="EAF6F0"/>
          </a:solidFill>
          <a:ln w="12700">
            <a:solidFill>
              <a:srgbClr val="EAF6F0"/>
            </a:solidFill>
            <a:prstDash val="solid"/>
          </a:ln>
        </p:spPr>
      </p:sp>
      <p:sp>
        <p:nvSpPr>
          <p:cNvPr id="36" name="Text 34"/>
          <p:cNvSpPr/>
          <p:nvPr/>
        </p:nvSpPr>
        <p:spPr>
          <a:xfrm>
            <a:off x="932688" y="5824728"/>
            <a:ext cx="10515600" cy="384048"/>
          </a:xfrm>
          <a:prstGeom prst="rect">
            <a:avLst/>
          </a:prstGeom>
          <a:noFill/>
          <a:ln/>
        </p:spPr>
        <p:txBody>
          <a:bodyPr wrap="square" lIns="0" tIns="0" rIns="0" bIns="0" rtlCol="0" anchor="ctr"/>
          <a:lstStyle/>
          <a:p>
            <a:pPr indent="0" marL="0">
              <a:buNone/>
            </a:pPr>
            <a:r>
              <a:rPr lang="en-US" sz="1400" b="1" dirty="0">
                <a:solidFill>
                  <a:srgbClr val="10202E"/>
                </a:solidFill>
                <a:latin typeface="Calibri" pitchFamily="34" charset="0"/>
                <a:ea typeface="Calibri" pitchFamily="34" charset="-122"/>
                <a:cs typeface="Calibri" pitchFamily="34" charset="-120"/>
              </a:rPr>
              <a:t>There is a tick-box in the app that turns the language model off. The price, the range, the drivers and the warnings are identical with it off.</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F2740"/>
        </a:solidFill>
      </p:bgPr>
    </p:bg>
    <p:spTree>
      <p:nvGrpSpPr>
        <p:cNvPr id="1" name=""/>
        <p:cNvGrpSpPr/>
        <p:nvPr/>
      </p:nvGrpSpPr>
      <p:grpSpPr>
        <a:xfrm>
          <a:off x="0" y="0"/>
          <a:ext cx="0" cy="0"/>
          <a:chOff x="0" y="0"/>
          <a:chExt cx="0" cy="0"/>
        </a:xfrm>
      </p:grpSpPr>
      <p:sp>
        <p:nvSpPr>
          <p:cNvPr id="2" name="Shape 0"/>
          <p:cNvSpPr/>
          <p:nvPr/>
        </p:nvSpPr>
        <p:spPr>
          <a:xfrm>
            <a:off x="-54864" y="-54864"/>
            <a:ext cx="12298680" cy="6967728"/>
          </a:xfrm>
          <a:prstGeom prst="rect">
            <a:avLst/>
          </a:prstGeom>
          <a:solidFill>
            <a:srgbClr val="0F2740"/>
          </a:solidFill>
          <a:ln w="12700">
            <a:solidFill>
              <a:srgbClr val="0F2740"/>
            </a:solidFill>
            <a:prstDash val="solid"/>
          </a:ln>
        </p:spPr>
      </p:sp>
      <p:sp>
        <p:nvSpPr>
          <p:cNvPr id="3" name="Text 1"/>
          <p:cNvSpPr/>
          <p:nvPr/>
        </p:nvSpPr>
        <p:spPr>
          <a:xfrm>
            <a:off x="566928" y="502920"/>
            <a:ext cx="7315200" cy="274320"/>
          </a:xfrm>
          <a:prstGeom prst="rect">
            <a:avLst/>
          </a:prstGeom>
          <a:noFill/>
          <a:ln/>
        </p:spPr>
        <p:txBody>
          <a:bodyPr wrap="square" lIns="0" tIns="0" rIns="0" bIns="0" rtlCol="0" anchor="ctr"/>
          <a:lstStyle/>
          <a:p>
            <a:pPr indent="0" marL="0">
              <a:buNone/>
            </a:pPr>
            <a:r>
              <a:rPr lang="en-US" sz="1150" b="1" spc="160" kern="0" dirty="0">
                <a:solidFill>
                  <a:srgbClr val="1BAF7A"/>
                </a:solidFill>
                <a:latin typeface="Calibri" pitchFamily="34" charset="0"/>
                <a:ea typeface="Calibri" pitchFamily="34" charset="-122"/>
                <a:cs typeface="Calibri" pitchFamily="34" charset="-120"/>
              </a:rPr>
              <a:t>LIMITATIONS</a:t>
            </a:r>
            <a:endParaRPr lang="en-US" sz="1150" dirty="0"/>
          </a:p>
        </p:txBody>
      </p:sp>
      <p:sp>
        <p:nvSpPr>
          <p:cNvPr id="4" name="Text 2"/>
          <p:cNvSpPr/>
          <p:nvPr/>
        </p:nvSpPr>
        <p:spPr>
          <a:xfrm>
            <a:off x="566928" y="822960"/>
            <a:ext cx="10058400" cy="64008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What this model cannot do</a:t>
            </a:r>
            <a:endParaRPr lang="en-US" sz="3000" dirty="0"/>
          </a:p>
        </p:txBody>
      </p:sp>
      <p:sp>
        <p:nvSpPr>
          <p:cNvPr id="5" name="Shape 3"/>
          <p:cNvSpPr/>
          <p:nvPr/>
        </p:nvSpPr>
        <p:spPr>
          <a:xfrm>
            <a:off x="566928" y="1645920"/>
            <a:ext cx="11055096" cy="713232"/>
          </a:xfrm>
          <a:prstGeom prst="roundRect">
            <a:avLst>
              <a:gd name="adj" fmla="val 10256"/>
            </a:avLst>
          </a:prstGeom>
          <a:solidFill>
            <a:srgbClr val="1B3B5A"/>
          </a:solidFill>
          <a:ln w="12700">
            <a:solidFill>
              <a:srgbClr val="1B3B5A"/>
            </a:solidFill>
            <a:prstDash val="solid"/>
          </a:ln>
        </p:spPr>
      </p:sp>
      <p:sp>
        <p:nvSpPr>
          <p:cNvPr id="6" name="Text 4"/>
          <p:cNvSpPr/>
          <p:nvPr/>
        </p:nvSpPr>
        <p:spPr>
          <a:xfrm>
            <a:off x="886968" y="1709928"/>
            <a:ext cx="3840480" cy="310896"/>
          </a:xfrm>
          <a:prstGeom prst="rect">
            <a:avLst/>
          </a:prstGeom>
          <a:noFill/>
          <a:ln/>
        </p:spPr>
        <p:txBody>
          <a:bodyPr wrap="square" lIns="0" tIns="0" rIns="0" bIns="0" rtlCol="0" anchor="ctr"/>
          <a:lstStyle/>
          <a:p>
            <a:pPr indent="0" marL="0">
              <a:buNone/>
            </a:pPr>
            <a:r>
              <a:rPr lang="en-US" sz="1450" b="1" dirty="0">
                <a:solidFill>
                  <a:srgbClr val="5FD6A6"/>
                </a:solidFill>
                <a:latin typeface="Calibri" pitchFamily="34" charset="0"/>
                <a:ea typeface="Calibri" pitchFamily="34" charset="-122"/>
                <a:cs typeface="Calibri" pitchFamily="34" charset="-120"/>
              </a:rPr>
              <a:t>Ten weeks of 2014</a:t>
            </a:r>
            <a:endParaRPr lang="en-US" sz="1450" dirty="0"/>
          </a:p>
        </p:txBody>
      </p:sp>
      <p:sp>
        <p:nvSpPr>
          <p:cNvPr id="7" name="Text 5"/>
          <p:cNvSpPr/>
          <p:nvPr/>
        </p:nvSpPr>
        <p:spPr>
          <a:xfrm>
            <a:off x="886968" y="2020824"/>
            <a:ext cx="10241280" cy="292608"/>
          </a:xfrm>
          <a:prstGeom prst="rect">
            <a:avLst/>
          </a:prstGeom>
          <a:noFill/>
          <a:ln/>
        </p:spPr>
        <p:txBody>
          <a:bodyPr wrap="square" lIns="0" tIns="0" rIns="0" bIns="0" rtlCol="0" anchor="ctr"/>
          <a:lstStyle/>
          <a:p>
            <a:pPr indent="0" marL="0">
              <a:buNone/>
            </a:pPr>
            <a:r>
              <a:rPr lang="en-US" sz="1300" dirty="0">
                <a:solidFill>
                  <a:srgbClr val="CFE0F0"/>
                </a:solidFill>
                <a:latin typeface="Calibri" pitchFamily="34" charset="0"/>
                <a:ea typeface="Calibri" pitchFamily="34" charset="-122"/>
                <a:cs typeface="Calibri" pitchFamily="34" charset="-120"/>
              </a:rPr>
              <a:t>No seasonality, no market trend, and a price level eleven years out of date.</a:t>
            </a:r>
            <a:endParaRPr lang="en-US" sz="1300" dirty="0"/>
          </a:p>
        </p:txBody>
      </p:sp>
      <p:sp>
        <p:nvSpPr>
          <p:cNvPr id="8" name="Shape 6"/>
          <p:cNvSpPr/>
          <p:nvPr/>
        </p:nvSpPr>
        <p:spPr>
          <a:xfrm>
            <a:off x="566928" y="2542032"/>
            <a:ext cx="11055096" cy="713232"/>
          </a:xfrm>
          <a:prstGeom prst="roundRect">
            <a:avLst>
              <a:gd name="adj" fmla="val 10256"/>
            </a:avLst>
          </a:prstGeom>
          <a:solidFill>
            <a:srgbClr val="1B3B5A"/>
          </a:solidFill>
          <a:ln w="12700">
            <a:solidFill>
              <a:srgbClr val="1B3B5A"/>
            </a:solidFill>
            <a:prstDash val="solid"/>
          </a:ln>
        </p:spPr>
      </p:sp>
      <p:sp>
        <p:nvSpPr>
          <p:cNvPr id="9" name="Text 7"/>
          <p:cNvSpPr/>
          <p:nvPr/>
        </p:nvSpPr>
        <p:spPr>
          <a:xfrm>
            <a:off x="886968" y="2606040"/>
            <a:ext cx="3840480" cy="310896"/>
          </a:xfrm>
          <a:prstGeom prst="rect">
            <a:avLst/>
          </a:prstGeom>
          <a:noFill/>
          <a:ln/>
        </p:spPr>
        <p:txBody>
          <a:bodyPr wrap="square" lIns="0" tIns="0" rIns="0" bIns="0" rtlCol="0" anchor="ctr"/>
          <a:lstStyle/>
          <a:p>
            <a:pPr indent="0" marL="0">
              <a:buNone/>
            </a:pPr>
            <a:r>
              <a:rPr lang="en-US" sz="1450" b="1" dirty="0">
                <a:solidFill>
                  <a:srgbClr val="5FD6A6"/>
                </a:solidFill>
                <a:latin typeface="Calibri" pitchFamily="34" charset="0"/>
                <a:ea typeface="Calibri" pitchFamily="34" charset="-122"/>
                <a:cs typeface="Calibri" pitchFamily="34" charset="-120"/>
              </a:rPr>
              <a:t>Washington State only</a:t>
            </a:r>
            <a:endParaRPr lang="en-US" sz="1450" dirty="0"/>
          </a:p>
        </p:txBody>
      </p:sp>
      <p:sp>
        <p:nvSpPr>
          <p:cNvPr id="10" name="Text 8"/>
          <p:cNvSpPr/>
          <p:nvPr/>
        </p:nvSpPr>
        <p:spPr>
          <a:xfrm>
            <a:off x="886968" y="2916936"/>
            <a:ext cx="10241280" cy="292608"/>
          </a:xfrm>
          <a:prstGeom prst="rect">
            <a:avLst/>
          </a:prstGeom>
          <a:noFill/>
          <a:ln/>
        </p:spPr>
        <p:txBody>
          <a:bodyPr wrap="square" lIns="0" tIns="0" rIns="0" bIns="0" rtlCol="0" anchor="ctr"/>
          <a:lstStyle/>
          <a:p>
            <a:pPr indent="0" marL="0">
              <a:buNone/>
            </a:pPr>
            <a:r>
              <a:rPr lang="en-US" sz="1300" dirty="0">
                <a:solidFill>
                  <a:srgbClr val="CFE0F0"/>
                </a:solidFill>
                <a:latin typeface="Calibri" pitchFamily="34" charset="0"/>
                <a:ea typeface="Calibri" pitchFamily="34" charset="-122"/>
                <a:cs typeface="Calibri" pitchFamily="34" charset="-120"/>
              </a:rPr>
              <a:t>It will not transfer to another market without retraining.</a:t>
            </a:r>
            <a:endParaRPr lang="en-US" sz="1300" dirty="0"/>
          </a:p>
        </p:txBody>
      </p:sp>
      <p:sp>
        <p:nvSpPr>
          <p:cNvPr id="11" name="Shape 9"/>
          <p:cNvSpPr/>
          <p:nvPr/>
        </p:nvSpPr>
        <p:spPr>
          <a:xfrm>
            <a:off x="566928" y="3438144"/>
            <a:ext cx="11055096" cy="713232"/>
          </a:xfrm>
          <a:prstGeom prst="roundRect">
            <a:avLst>
              <a:gd name="adj" fmla="val 10256"/>
            </a:avLst>
          </a:prstGeom>
          <a:solidFill>
            <a:srgbClr val="1B3B5A"/>
          </a:solidFill>
          <a:ln w="12700">
            <a:solidFill>
              <a:srgbClr val="1B3B5A"/>
            </a:solidFill>
            <a:prstDash val="solid"/>
          </a:ln>
        </p:spPr>
      </p:sp>
      <p:sp>
        <p:nvSpPr>
          <p:cNvPr id="12" name="Text 10"/>
          <p:cNvSpPr/>
          <p:nvPr/>
        </p:nvSpPr>
        <p:spPr>
          <a:xfrm>
            <a:off x="886968" y="3502152"/>
            <a:ext cx="3840480" cy="310896"/>
          </a:xfrm>
          <a:prstGeom prst="rect">
            <a:avLst/>
          </a:prstGeom>
          <a:noFill/>
          <a:ln/>
        </p:spPr>
        <p:txBody>
          <a:bodyPr wrap="square" lIns="0" tIns="0" rIns="0" bIns="0" rtlCol="0" anchor="ctr"/>
          <a:lstStyle/>
          <a:p>
            <a:pPr indent="0" marL="0">
              <a:buNone/>
            </a:pPr>
            <a:r>
              <a:rPr lang="en-US" sz="1450" b="1" dirty="0">
                <a:solidFill>
                  <a:srgbClr val="5FD6A6"/>
                </a:solidFill>
                <a:latin typeface="Calibri" pitchFamily="34" charset="0"/>
                <a:ea typeface="Calibri" pitchFamily="34" charset="-122"/>
                <a:cs typeface="Calibri" pitchFamily="34" charset="-120"/>
              </a:rPr>
              <a:t>Location is coarse</a:t>
            </a:r>
            <a:endParaRPr lang="en-US" sz="1450" dirty="0"/>
          </a:p>
        </p:txBody>
      </p:sp>
      <p:sp>
        <p:nvSpPr>
          <p:cNvPr id="13" name="Text 11"/>
          <p:cNvSpPr/>
          <p:nvPr/>
        </p:nvSpPr>
        <p:spPr>
          <a:xfrm>
            <a:off x="886968" y="3813048"/>
            <a:ext cx="10241280" cy="292608"/>
          </a:xfrm>
          <a:prstGeom prst="rect">
            <a:avLst/>
          </a:prstGeom>
          <a:noFill/>
          <a:ln/>
        </p:spPr>
        <p:txBody>
          <a:bodyPr wrap="square" lIns="0" tIns="0" rIns="0" bIns="0" rtlCol="0" anchor="ctr"/>
          <a:lstStyle/>
          <a:p>
            <a:pPr indent="0" marL="0">
              <a:buNone/>
            </a:pPr>
            <a:r>
              <a:rPr lang="en-US" sz="1300" dirty="0">
                <a:solidFill>
                  <a:srgbClr val="CFE0F0"/>
                </a:solidFill>
                <a:latin typeface="Calibri" pitchFamily="34" charset="0"/>
                <a:ea typeface="Calibri" pitchFamily="34" charset="-122"/>
                <a:cs typeface="Calibri" pitchFamily="34" charset="-120"/>
              </a:rPr>
              <a:t>No building grade and no coordinates, so a zip code stands in for a neighbourhood.</a:t>
            </a:r>
            <a:endParaRPr lang="en-US" sz="1300" dirty="0"/>
          </a:p>
        </p:txBody>
      </p:sp>
      <p:sp>
        <p:nvSpPr>
          <p:cNvPr id="14" name="Shape 12"/>
          <p:cNvSpPr/>
          <p:nvPr/>
        </p:nvSpPr>
        <p:spPr>
          <a:xfrm>
            <a:off x="566928" y="4334256"/>
            <a:ext cx="11055096" cy="713232"/>
          </a:xfrm>
          <a:prstGeom prst="roundRect">
            <a:avLst>
              <a:gd name="adj" fmla="val 10256"/>
            </a:avLst>
          </a:prstGeom>
          <a:solidFill>
            <a:srgbClr val="1B3B5A"/>
          </a:solidFill>
          <a:ln w="12700">
            <a:solidFill>
              <a:srgbClr val="1B3B5A"/>
            </a:solidFill>
            <a:prstDash val="solid"/>
          </a:ln>
        </p:spPr>
      </p:sp>
      <p:sp>
        <p:nvSpPr>
          <p:cNvPr id="15" name="Text 13"/>
          <p:cNvSpPr/>
          <p:nvPr/>
        </p:nvSpPr>
        <p:spPr>
          <a:xfrm>
            <a:off x="886968" y="4398264"/>
            <a:ext cx="3840480" cy="310896"/>
          </a:xfrm>
          <a:prstGeom prst="rect">
            <a:avLst/>
          </a:prstGeom>
          <a:noFill/>
          <a:ln/>
        </p:spPr>
        <p:txBody>
          <a:bodyPr wrap="square" lIns="0" tIns="0" rIns="0" bIns="0" rtlCol="0" anchor="ctr"/>
          <a:lstStyle/>
          <a:p>
            <a:pPr indent="0" marL="0">
              <a:buNone/>
            </a:pPr>
            <a:r>
              <a:rPr lang="en-US" sz="1450" b="1" dirty="0">
                <a:solidFill>
                  <a:srgbClr val="5FD6A6"/>
                </a:solidFill>
                <a:latin typeface="Calibri" pitchFamily="34" charset="0"/>
                <a:ea typeface="Calibri" pitchFamily="34" charset="-122"/>
                <a:cs typeface="Calibri" pitchFamily="34" charset="-120"/>
              </a:rPr>
              <a:t>29 waterfront homes</a:t>
            </a:r>
            <a:endParaRPr lang="en-US" sz="1450" dirty="0"/>
          </a:p>
        </p:txBody>
      </p:sp>
      <p:sp>
        <p:nvSpPr>
          <p:cNvPr id="16" name="Text 14"/>
          <p:cNvSpPr/>
          <p:nvPr/>
        </p:nvSpPr>
        <p:spPr>
          <a:xfrm>
            <a:off x="886968" y="4709160"/>
            <a:ext cx="10241280" cy="292608"/>
          </a:xfrm>
          <a:prstGeom prst="rect">
            <a:avLst/>
          </a:prstGeom>
          <a:noFill/>
          <a:ln/>
        </p:spPr>
        <p:txBody>
          <a:bodyPr wrap="square" lIns="0" tIns="0" rIns="0" bIns="0" rtlCol="0" anchor="ctr"/>
          <a:lstStyle/>
          <a:p>
            <a:pPr indent="0" marL="0">
              <a:buNone/>
            </a:pPr>
            <a:r>
              <a:rPr lang="en-US" sz="1300" dirty="0">
                <a:solidFill>
                  <a:srgbClr val="CFE0F0"/>
                </a:solidFill>
                <a:latin typeface="Calibri" pitchFamily="34" charset="0"/>
                <a:ea typeface="Calibri" pitchFamily="34" charset="-122"/>
                <a:cs typeface="Calibri" pitchFamily="34" charset="-120"/>
              </a:rPr>
              <a:t>Far too few for any confident claim about waterfront property.</a:t>
            </a:r>
            <a:endParaRPr lang="en-US" sz="1300" dirty="0"/>
          </a:p>
        </p:txBody>
      </p:sp>
      <p:sp>
        <p:nvSpPr>
          <p:cNvPr id="17" name="Shape 15"/>
          <p:cNvSpPr/>
          <p:nvPr/>
        </p:nvSpPr>
        <p:spPr>
          <a:xfrm>
            <a:off x="566928" y="5230368"/>
            <a:ext cx="11055096" cy="713232"/>
          </a:xfrm>
          <a:prstGeom prst="roundRect">
            <a:avLst>
              <a:gd name="adj" fmla="val 10256"/>
            </a:avLst>
          </a:prstGeom>
          <a:solidFill>
            <a:srgbClr val="1B3B5A"/>
          </a:solidFill>
          <a:ln w="12700">
            <a:solidFill>
              <a:srgbClr val="1B3B5A"/>
            </a:solidFill>
            <a:prstDash val="solid"/>
          </a:ln>
        </p:spPr>
      </p:sp>
      <p:sp>
        <p:nvSpPr>
          <p:cNvPr id="18" name="Text 16"/>
          <p:cNvSpPr/>
          <p:nvPr/>
        </p:nvSpPr>
        <p:spPr>
          <a:xfrm>
            <a:off x="886968" y="5294376"/>
            <a:ext cx="3840480" cy="310896"/>
          </a:xfrm>
          <a:prstGeom prst="rect">
            <a:avLst/>
          </a:prstGeom>
          <a:noFill/>
          <a:ln/>
        </p:spPr>
        <p:txBody>
          <a:bodyPr wrap="square" lIns="0" tIns="0" rIns="0" bIns="0" rtlCol="0" anchor="ctr"/>
          <a:lstStyle/>
          <a:p>
            <a:pPr indent="0" marL="0">
              <a:buNone/>
            </a:pPr>
            <a:r>
              <a:rPr lang="en-US" sz="1450" b="1" dirty="0">
                <a:solidFill>
                  <a:srgbClr val="5FD6A6"/>
                </a:solidFill>
                <a:latin typeface="Calibri" pitchFamily="34" charset="0"/>
                <a:ea typeface="Calibri" pitchFamily="34" charset="-122"/>
                <a:cs typeface="Calibri" pitchFamily="34" charset="-120"/>
              </a:rPr>
              <a:t>Cannot see the house</a:t>
            </a:r>
            <a:endParaRPr lang="en-US" sz="1450" dirty="0"/>
          </a:p>
        </p:txBody>
      </p:sp>
      <p:sp>
        <p:nvSpPr>
          <p:cNvPr id="19" name="Text 17"/>
          <p:cNvSpPr/>
          <p:nvPr/>
        </p:nvSpPr>
        <p:spPr>
          <a:xfrm>
            <a:off x="886968" y="5605272"/>
            <a:ext cx="10241280" cy="292608"/>
          </a:xfrm>
          <a:prstGeom prst="rect">
            <a:avLst/>
          </a:prstGeom>
          <a:noFill/>
          <a:ln/>
        </p:spPr>
        <p:txBody>
          <a:bodyPr wrap="square" lIns="0" tIns="0" rIns="0" bIns="0" rtlCol="0" anchor="ctr"/>
          <a:lstStyle/>
          <a:p>
            <a:pPr indent="0" marL="0">
              <a:buNone/>
            </a:pPr>
            <a:r>
              <a:rPr lang="en-US" sz="1300" dirty="0">
                <a:solidFill>
                  <a:srgbClr val="CFE0F0"/>
                </a:solidFill>
                <a:latin typeface="Calibri" pitchFamily="34" charset="0"/>
                <a:ea typeface="Calibri" pitchFamily="34" charset="-122"/>
                <a:cs typeface="Calibri" pitchFamily="34" charset="-120"/>
              </a:rPr>
              <a:t>Condition is a 1-5 rating. It cannot see a new kitchen, a bad neighbour, or a rushed sale.</a:t>
            </a:r>
            <a:endParaRPr lang="en-US" sz="1300" dirty="0"/>
          </a:p>
        </p:txBody>
      </p:sp>
      <p:sp>
        <p:nvSpPr>
          <p:cNvPr id="20" name="Text 18"/>
          <p:cNvSpPr/>
          <p:nvPr/>
        </p:nvSpPr>
        <p:spPr>
          <a:xfrm>
            <a:off x="566928" y="6126480"/>
            <a:ext cx="11055096" cy="411480"/>
          </a:xfrm>
          <a:prstGeom prst="rect">
            <a:avLst/>
          </a:prstGeom>
          <a:noFill/>
          <a:ln/>
        </p:spPr>
        <p:txBody>
          <a:bodyPr wrap="square" lIns="0" tIns="0" rIns="0" bIns="0" rtlCol="0" anchor="ctr"/>
          <a:lstStyle/>
          <a:p>
            <a:pPr indent="0" marL="0">
              <a:buNone/>
            </a:pPr>
            <a:r>
              <a:rPr lang="en-US" sz="1400" i="1" dirty="0">
                <a:solidFill>
                  <a:srgbClr val="9FB4C7"/>
                </a:solidFill>
                <a:latin typeface="Calibri" pitchFamily="34" charset="0"/>
                <a:ea typeface="Calibri" pitchFamily="34" charset="-122"/>
                <a:cs typeface="Calibri" pitchFamily="34" charset="-120"/>
              </a:rPr>
              <a:t>Next: coordinates and building grade, a separate model for the top decile, and more than one season of data.</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F2740"/>
        </a:solidFill>
      </p:bgPr>
    </p:bg>
    <p:spTree>
      <p:nvGrpSpPr>
        <p:cNvPr id="1" name=""/>
        <p:cNvGrpSpPr/>
        <p:nvPr/>
      </p:nvGrpSpPr>
      <p:grpSpPr>
        <a:xfrm>
          <a:off x="0" y="0"/>
          <a:ext cx="0" cy="0"/>
          <a:chOff x="0" y="0"/>
          <a:chExt cx="0" cy="0"/>
        </a:xfrm>
      </p:grpSpPr>
      <p:sp>
        <p:nvSpPr>
          <p:cNvPr id="2" name="Shape 0"/>
          <p:cNvSpPr/>
          <p:nvPr/>
        </p:nvSpPr>
        <p:spPr>
          <a:xfrm>
            <a:off x="-54864" y="-54864"/>
            <a:ext cx="12298680" cy="6967728"/>
          </a:xfrm>
          <a:prstGeom prst="rect">
            <a:avLst/>
          </a:prstGeom>
          <a:solidFill>
            <a:srgbClr val="0F2740"/>
          </a:solidFill>
          <a:ln w="12700">
            <a:solidFill>
              <a:srgbClr val="0F2740"/>
            </a:solidFill>
            <a:prstDash val="solid"/>
          </a:ln>
        </p:spPr>
      </p:sp>
      <p:sp>
        <p:nvSpPr>
          <p:cNvPr id="3" name="Text 1"/>
          <p:cNvSpPr/>
          <p:nvPr/>
        </p:nvSpPr>
        <p:spPr>
          <a:xfrm>
            <a:off x="566928" y="1371600"/>
            <a:ext cx="7315200" cy="8229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Thank you</a:t>
            </a:r>
            <a:endParaRPr lang="en-US" sz="4000" dirty="0"/>
          </a:p>
        </p:txBody>
      </p:sp>
      <p:sp>
        <p:nvSpPr>
          <p:cNvPr id="4" name="Text 2"/>
          <p:cNvSpPr/>
          <p:nvPr/>
        </p:nvSpPr>
        <p:spPr>
          <a:xfrm>
            <a:off x="566928" y="2240280"/>
            <a:ext cx="8229600" cy="411480"/>
          </a:xfrm>
          <a:prstGeom prst="rect">
            <a:avLst/>
          </a:prstGeom>
          <a:noFill/>
          <a:ln/>
        </p:spPr>
        <p:txBody>
          <a:bodyPr wrap="square" lIns="0" tIns="0" rIns="0" bIns="0" rtlCol="0" anchor="ctr"/>
          <a:lstStyle/>
          <a:p>
            <a:pPr indent="0" marL="0">
              <a:buNone/>
            </a:pPr>
            <a:r>
              <a:rPr lang="en-US" sz="1700" dirty="0">
                <a:solidFill>
                  <a:srgbClr val="CFE0F0"/>
                </a:solidFill>
                <a:latin typeface="Calibri" pitchFamily="34" charset="0"/>
                <a:ea typeface="Calibri" pitchFamily="34" charset="-122"/>
                <a:cs typeface="Calibri" pitchFamily="34" charset="-120"/>
              </a:rPr>
              <a:t>Questions welcome — including the hard ones.</a:t>
            </a:r>
            <a:endParaRPr lang="en-US" sz="1700" dirty="0"/>
          </a:p>
        </p:txBody>
      </p:sp>
      <p:sp>
        <p:nvSpPr>
          <p:cNvPr id="5" name="Shape 3"/>
          <p:cNvSpPr/>
          <p:nvPr/>
        </p:nvSpPr>
        <p:spPr>
          <a:xfrm>
            <a:off x="566928" y="3154680"/>
            <a:ext cx="7863840" cy="694944"/>
          </a:xfrm>
          <a:prstGeom prst="roundRect">
            <a:avLst>
              <a:gd name="adj" fmla="val 10526"/>
            </a:avLst>
          </a:prstGeom>
          <a:solidFill>
            <a:srgbClr val="1B3B5A"/>
          </a:solidFill>
          <a:ln w="12700">
            <a:solidFill>
              <a:srgbClr val="1B3B5A"/>
            </a:solidFill>
            <a:prstDash val="solid"/>
          </a:ln>
        </p:spPr>
      </p:sp>
      <p:sp>
        <p:nvSpPr>
          <p:cNvPr id="6" name="Text 4"/>
          <p:cNvSpPr/>
          <p:nvPr/>
        </p:nvSpPr>
        <p:spPr>
          <a:xfrm>
            <a:off x="859536" y="3209544"/>
            <a:ext cx="2743200" cy="274320"/>
          </a:xfrm>
          <a:prstGeom prst="rect">
            <a:avLst/>
          </a:prstGeom>
          <a:noFill/>
          <a:ln/>
        </p:spPr>
        <p:txBody>
          <a:bodyPr wrap="square" lIns="0" tIns="0" rIns="0" bIns="0" rtlCol="0" anchor="ctr"/>
          <a:lstStyle/>
          <a:p>
            <a:pPr indent="0" marL="0">
              <a:buNone/>
            </a:pPr>
            <a:r>
              <a:rPr lang="en-US" sz="1300" b="1" dirty="0">
                <a:solidFill>
                  <a:srgbClr val="5FD6A6"/>
                </a:solidFill>
                <a:latin typeface="Calibri" pitchFamily="34" charset="0"/>
                <a:ea typeface="Calibri" pitchFamily="34" charset="-122"/>
                <a:cs typeface="Calibri" pitchFamily="34" charset="-120"/>
              </a:rPr>
              <a:t>Live app</a:t>
            </a:r>
            <a:endParaRPr lang="en-US" sz="1300" dirty="0"/>
          </a:p>
        </p:txBody>
      </p:sp>
      <p:sp>
        <p:nvSpPr>
          <p:cNvPr id="7" name="Text 5"/>
          <p:cNvSpPr/>
          <p:nvPr/>
        </p:nvSpPr>
        <p:spPr>
          <a:xfrm>
            <a:off x="859536" y="3493008"/>
            <a:ext cx="7315200" cy="292608"/>
          </a:xfrm>
          <a:prstGeom prst="rect">
            <a:avLst/>
          </a:prstGeom>
          <a:noFill/>
          <a:ln/>
        </p:spPr>
        <p:txBody>
          <a:bodyPr wrap="square" lIns="0" tIns="0" rIns="0" bIns="0" rtlCol="0" anchor="ctr"/>
          <a:lstStyle/>
          <a:p>
            <a:pPr indent="0" marL="0">
              <a:buNone/>
            </a:pPr>
            <a:r>
              <a:rPr lang="en-US" sz="1300" dirty="0">
                <a:solidFill>
                  <a:srgbClr val="CFE0F0"/>
                </a:solidFill>
                <a:latin typeface="Calibri" pitchFamily="34" charset="0"/>
                <a:ea typeface="Calibri" pitchFamily="34" charset="-122"/>
                <a:cs typeface="Calibri" pitchFamily="34" charset="-120"/>
              </a:rPr>
              <a:t>https://&lt;your-app&gt;.streamlit.app</a:t>
            </a:r>
            <a:endParaRPr lang="en-US" sz="1300" dirty="0"/>
          </a:p>
        </p:txBody>
      </p:sp>
      <p:sp>
        <p:nvSpPr>
          <p:cNvPr id="8" name="Shape 6"/>
          <p:cNvSpPr/>
          <p:nvPr/>
        </p:nvSpPr>
        <p:spPr>
          <a:xfrm>
            <a:off x="566928" y="4050792"/>
            <a:ext cx="7863840" cy="694944"/>
          </a:xfrm>
          <a:prstGeom prst="roundRect">
            <a:avLst>
              <a:gd name="adj" fmla="val 10526"/>
            </a:avLst>
          </a:prstGeom>
          <a:solidFill>
            <a:srgbClr val="1B3B5A"/>
          </a:solidFill>
          <a:ln w="12700">
            <a:solidFill>
              <a:srgbClr val="1B3B5A"/>
            </a:solidFill>
            <a:prstDash val="solid"/>
          </a:ln>
        </p:spPr>
      </p:sp>
      <p:sp>
        <p:nvSpPr>
          <p:cNvPr id="9" name="Text 7"/>
          <p:cNvSpPr/>
          <p:nvPr/>
        </p:nvSpPr>
        <p:spPr>
          <a:xfrm>
            <a:off x="859536" y="4105656"/>
            <a:ext cx="2743200" cy="274320"/>
          </a:xfrm>
          <a:prstGeom prst="rect">
            <a:avLst/>
          </a:prstGeom>
          <a:noFill/>
          <a:ln/>
        </p:spPr>
        <p:txBody>
          <a:bodyPr wrap="square" lIns="0" tIns="0" rIns="0" bIns="0" rtlCol="0" anchor="ctr"/>
          <a:lstStyle/>
          <a:p>
            <a:pPr indent="0" marL="0">
              <a:buNone/>
            </a:pPr>
            <a:r>
              <a:rPr lang="en-US" sz="1300" b="1" dirty="0">
                <a:solidFill>
                  <a:srgbClr val="5FD6A6"/>
                </a:solidFill>
                <a:latin typeface="Calibri" pitchFamily="34" charset="0"/>
                <a:ea typeface="Calibri" pitchFamily="34" charset="-122"/>
                <a:cs typeface="Calibri" pitchFamily="34" charset="-120"/>
              </a:rPr>
              <a:t>Code</a:t>
            </a:r>
            <a:endParaRPr lang="en-US" sz="1300" dirty="0"/>
          </a:p>
        </p:txBody>
      </p:sp>
      <p:sp>
        <p:nvSpPr>
          <p:cNvPr id="10" name="Text 8"/>
          <p:cNvSpPr/>
          <p:nvPr/>
        </p:nvSpPr>
        <p:spPr>
          <a:xfrm>
            <a:off x="859536" y="4389120"/>
            <a:ext cx="7315200" cy="292608"/>
          </a:xfrm>
          <a:prstGeom prst="rect">
            <a:avLst/>
          </a:prstGeom>
          <a:noFill/>
          <a:ln/>
        </p:spPr>
        <p:txBody>
          <a:bodyPr wrap="square" lIns="0" tIns="0" rIns="0" bIns="0" rtlCol="0" anchor="ctr"/>
          <a:lstStyle/>
          <a:p>
            <a:pPr indent="0" marL="0">
              <a:buNone/>
            </a:pPr>
            <a:r>
              <a:rPr lang="en-US" sz="1300" dirty="0">
                <a:solidFill>
                  <a:srgbClr val="CFE0F0"/>
                </a:solidFill>
                <a:latin typeface="Calibri" pitchFamily="34" charset="0"/>
                <a:ea typeface="Calibri" pitchFamily="34" charset="-122"/>
                <a:cs typeface="Calibri" pitchFamily="34" charset="-120"/>
              </a:rPr>
              <a:t>https://github.com/&lt;your-username&gt;/real-estate-machine</a:t>
            </a:r>
            <a:endParaRPr lang="en-US" sz="1300" dirty="0"/>
          </a:p>
        </p:txBody>
      </p:sp>
      <p:sp>
        <p:nvSpPr>
          <p:cNvPr id="11" name="Shape 9"/>
          <p:cNvSpPr/>
          <p:nvPr/>
        </p:nvSpPr>
        <p:spPr>
          <a:xfrm>
            <a:off x="566928" y="4946904"/>
            <a:ext cx="7863840" cy="694944"/>
          </a:xfrm>
          <a:prstGeom prst="roundRect">
            <a:avLst>
              <a:gd name="adj" fmla="val 10526"/>
            </a:avLst>
          </a:prstGeom>
          <a:solidFill>
            <a:srgbClr val="1B3B5A"/>
          </a:solidFill>
          <a:ln w="12700">
            <a:solidFill>
              <a:srgbClr val="1B3B5A"/>
            </a:solidFill>
            <a:prstDash val="solid"/>
          </a:ln>
        </p:spPr>
      </p:sp>
      <p:sp>
        <p:nvSpPr>
          <p:cNvPr id="12" name="Text 10"/>
          <p:cNvSpPr/>
          <p:nvPr/>
        </p:nvSpPr>
        <p:spPr>
          <a:xfrm>
            <a:off x="859536" y="5001768"/>
            <a:ext cx="2743200" cy="274320"/>
          </a:xfrm>
          <a:prstGeom prst="rect">
            <a:avLst/>
          </a:prstGeom>
          <a:noFill/>
          <a:ln/>
        </p:spPr>
        <p:txBody>
          <a:bodyPr wrap="square" lIns="0" tIns="0" rIns="0" bIns="0" rtlCol="0" anchor="ctr"/>
          <a:lstStyle/>
          <a:p>
            <a:pPr indent="0" marL="0">
              <a:buNone/>
            </a:pPr>
            <a:r>
              <a:rPr lang="en-US" sz="1300" b="1" dirty="0">
                <a:solidFill>
                  <a:srgbClr val="5FD6A6"/>
                </a:solidFill>
                <a:latin typeface="Calibri" pitchFamily="34" charset="0"/>
                <a:ea typeface="Calibri" pitchFamily="34" charset="-122"/>
                <a:cs typeface="Calibri" pitchFamily="34" charset="-120"/>
              </a:rPr>
              <a:t>Kaggle notebook</a:t>
            </a:r>
            <a:endParaRPr lang="en-US" sz="1300" dirty="0"/>
          </a:p>
        </p:txBody>
      </p:sp>
      <p:sp>
        <p:nvSpPr>
          <p:cNvPr id="13" name="Text 11"/>
          <p:cNvSpPr/>
          <p:nvPr/>
        </p:nvSpPr>
        <p:spPr>
          <a:xfrm>
            <a:off x="859536" y="5285232"/>
            <a:ext cx="7315200" cy="292608"/>
          </a:xfrm>
          <a:prstGeom prst="rect">
            <a:avLst/>
          </a:prstGeom>
          <a:noFill/>
          <a:ln/>
        </p:spPr>
        <p:txBody>
          <a:bodyPr wrap="square" lIns="0" tIns="0" rIns="0" bIns="0" rtlCol="0" anchor="ctr"/>
          <a:lstStyle/>
          <a:p>
            <a:pPr indent="0" marL="0">
              <a:buNone/>
            </a:pPr>
            <a:r>
              <a:rPr lang="en-US" sz="1300" dirty="0">
                <a:solidFill>
                  <a:srgbClr val="CFE0F0"/>
                </a:solidFill>
                <a:latin typeface="Calibri" pitchFamily="34" charset="0"/>
                <a:ea typeface="Calibri" pitchFamily="34" charset="-122"/>
                <a:cs typeface="Calibri" pitchFamily="34" charset="-120"/>
              </a:rPr>
              <a:t>https://www.kaggle.com/code/&lt;your-username&gt;/real-estate-machine</a:t>
            </a:r>
            <a:endParaRPr lang="en-US" sz="1300" dirty="0"/>
          </a:p>
        </p:txBody>
      </p:sp>
      <p:sp>
        <p:nvSpPr>
          <p:cNvPr id="14" name="Shape 12"/>
          <p:cNvSpPr/>
          <p:nvPr/>
        </p:nvSpPr>
        <p:spPr>
          <a:xfrm>
            <a:off x="8796528" y="3154680"/>
            <a:ext cx="2834640" cy="1325880"/>
          </a:xfrm>
          <a:prstGeom prst="roundRect">
            <a:avLst>
              <a:gd name="adj" fmla="val 5517"/>
            </a:avLst>
          </a:prstGeom>
          <a:solidFill>
            <a:srgbClr val="1B3B5A"/>
          </a:solidFill>
          <a:ln w="12700">
            <a:solidFill>
              <a:srgbClr val="1B3B5A"/>
            </a:solidFill>
            <a:prstDash val="solid"/>
          </a:ln>
        </p:spPr>
      </p:sp>
      <p:sp>
        <p:nvSpPr>
          <p:cNvPr id="15" name="Text 13"/>
          <p:cNvSpPr/>
          <p:nvPr/>
        </p:nvSpPr>
        <p:spPr>
          <a:xfrm>
            <a:off x="9052560" y="3209544"/>
            <a:ext cx="2331720" cy="274320"/>
          </a:xfrm>
          <a:prstGeom prst="rect">
            <a:avLst/>
          </a:prstGeom>
          <a:noFill/>
          <a:ln/>
        </p:spPr>
        <p:txBody>
          <a:bodyPr wrap="square" lIns="0" tIns="0" rIns="0" bIns="0" rtlCol="0" anchor="ctr"/>
          <a:lstStyle/>
          <a:p>
            <a:pPr indent="0" marL="0">
              <a:buNone/>
            </a:pPr>
            <a:r>
              <a:rPr lang="en-US" sz="1200" b="1" dirty="0">
                <a:solidFill>
                  <a:srgbClr val="5FD6A6"/>
                </a:solidFill>
                <a:latin typeface="Calibri" pitchFamily="34" charset="0"/>
                <a:ea typeface="Calibri" pitchFamily="34" charset="-122"/>
                <a:cs typeface="Calibri" pitchFamily="34" charset="-120"/>
              </a:rPr>
              <a:t>The one-line summary</a:t>
            </a:r>
            <a:endParaRPr lang="en-US" sz="1200" dirty="0"/>
          </a:p>
        </p:txBody>
      </p:sp>
      <p:sp>
        <p:nvSpPr>
          <p:cNvPr id="16" name="Text 14"/>
          <p:cNvSpPr/>
          <p:nvPr/>
        </p:nvSpPr>
        <p:spPr>
          <a:xfrm>
            <a:off x="9052560" y="3511296"/>
            <a:ext cx="2331720" cy="91440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10.5% median error, an honest range around every number, and a written reason for each one.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Real Estate Machine</dc:title>
  <dc:subject>PptxGenJS Presentation</dc:subject>
  <dc:creator>Esraa Maamoun</dc:creator>
  <cp:lastModifiedBy>Esraa Maamoun</cp:lastModifiedBy>
  <cp:revision>1</cp:revision>
  <dcterms:created xsi:type="dcterms:W3CDTF">2026-08-20T09:40:23Z</dcterms:created>
  <dcterms:modified xsi:type="dcterms:W3CDTF">2026-08-20T09:40:23Z</dcterms:modified>
</cp:coreProperties>
</file>